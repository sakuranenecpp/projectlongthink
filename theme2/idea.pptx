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289" r:id="rId3"/>
    <p:sldId id="284" r:id="rId4"/>
    <p:sldId id="272" r:id="rId5"/>
    <p:sldId id="258" r:id="rId6"/>
    <p:sldId id="263" r:id="rId7"/>
    <p:sldId id="264" r:id="rId8"/>
    <p:sldId id="267" r:id="rId9"/>
    <p:sldId id="270" r:id="rId10"/>
    <p:sldId id="265" r:id="rId11"/>
    <p:sldId id="278" r:id="rId12"/>
    <p:sldId id="279" r:id="rId13"/>
    <p:sldId id="273" r:id="rId14"/>
    <p:sldId id="275" r:id="rId15"/>
    <p:sldId id="280" r:id="rId16"/>
    <p:sldId id="285" r:id="rId17"/>
    <p:sldId id="286" r:id="rId18"/>
    <p:sldId id="290" r:id="rId19"/>
    <p:sldId id="282"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6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82" autoAdjust="0"/>
    <p:restoredTop sz="94660"/>
  </p:normalViewPr>
  <p:slideViewPr>
    <p:cSldViewPr snapToGrid="0">
      <p:cViewPr varScale="1">
        <p:scale>
          <a:sx n="76" d="100"/>
          <a:sy n="76" d="100"/>
        </p:scale>
        <p:origin x="1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D4F98B-F0E6-44C0-9AB4-90953A7276AC}" type="datetimeFigureOut">
              <a:rPr kumimoji="1" lang="ja-JP" altLang="en-US" smtClean="0"/>
              <a:t>2026/2/26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AF9A5D-8C23-4C2B-910D-3625DD419D76}" type="slidenum">
              <a:rPr kumimoji="1" lang="ja-JP" altLang="en-US" smtClean="0"/>
              <a:t>‹#›</a:t>
            </a:fld>
            <a:endParaRPr kumimoji="1" lang="ja-JP" altLang="en-US"/>
          </a:p>
        </p:txBody>
      </p:sp>
    </p:spTree>
    <p:extLst>
      <p:ext uri="{BB962C8B-B14F-4D97-AF65-F5344CB8AC3E}">
        <p14:creationId xmlns:p14="http://schemas.microsoft.com/office/powerpoint/2010/main" val="350536867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ゆっくりはっきり！</a:t>
            </a:r>
          </a:p>
        </p:txBody>
      </p:sp>
      <p:sp>
        <p:nvSpPr>
          <p:cNvPr id="4" name="スライド番号プレースホルダー 3"/>
          <p:cNvSpPr>
            <a:spLocks noGrp="1"/>
          </p:cNvSpPr>
          <p:nvPr>
            <p:ph type="sldNum" sz="quarter" idx="5"/>
          </p:nvPr>
        </p:nvSpPr>
        <p:spPr/>
        <p:txBody>
          <a:bodyPr/>
          <a:lstStyle/>
          <a:p>
            <a:fld id="{02F6C13D-C0B7-4F56-918E-A8BA969DCAD9}" type="slidenum">
              <a:rPr kumimoji="1" lang="ja-JP" altLang="en-US" smtClean="0"/>
              <a:t>1</a:t>
            </a:fld>
            <a:endParaRPr kumimoji="1" lang="ja-JP" altLang="en-US"/>
          </a:p>
        </p:txBody>
      </p:sp>
    </p:spTree>
    <p:extLst>
      <p:ext uri="{BB962C8B-B14F-4D97-AF65-F5344CB8AC3E}">
        <p14:creationId xmlns:p14="http://schemas.microsoft.com/office/powerpoint/2010/main" val="42878820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4AF9A5D-8C23-4C2B-910D-3625DD419D76}" type="slidenum">
              <a:rPr kumimoji="1" lang="ja-JP" altLang="en-US" smtClean="0"/>
              <a:t>8</a:t>
            </a:fld>
            <a:endParaRPr kumimoji="1" lang="ja-JP" altLang="en-US"/>
          </a:p>
        </p:txBody>
      </p:sp>
    </p:spTree>
    <p:extLst>
      <p:ext uri="{BB962C8B-B14F-4D97-AF65-F5344CB8AC3E}">
        <p14:creationId xmlns:p14="http://schemas.microsoft.com/office/powerpoint/2010/main" val="1185026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138B9-EA8F-E965-B1C1-50672F7B722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7A833E7-D45A-25CA-385C-0C84007E30A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D21932F-FF8A-E0B9-767E-77E179030A2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B8DFA5B-EF0F-9952-62CC-C0166ED4FAE8}"/>
              </a:ext>
            </a:extLst>
          </p:cNvPr>
          <p:cNvSpPr>
            <a:spLocks noGrp="1"/>
          </p:cNvSpPr>
          <p:nvPr>
            <p:ph type="sldNum" sz="quarter" idx="5"/>
          </p:nvPr>
        </p:nvSpPr>
        <p:spPr/>
        <p:txBody>
          <a:bodyPr/>
          <a:lstStyle/>
          <a:p>
            <a:fld id="{E4AF9A5D-8C23-4C2B-910D-3625DD419D76}" type="slidenum">
              <a:rPr kumimoji="1" lang="ja-JP" altLang="en-US" smtClean="0"/>
              <a:t>9</a:t>
            </a:fld>
            <a:endParaRPr kumimoji="1" lang="ja-JP" altLang="en-US"/>
          </a:p>
        </p:txBody>
      </p:sp>
    </p:spTree>
    <p:extLst>
      <p:ext uri="{BB962C8B-B14F-4D97-AF65-F5344CB8AC3E}">
        <p14:creationId xmlns:p14="http://schemas.microsoft.com/office/powerpoint/2010/main" val="4111761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215E59-DA36-6BCB-B93C-247D2BBE03D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35327C6-25E0-706D-E9AF-26C64C0CE9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19B859C-D522-7812-A2FA-795DF2EC88F8}"/>
              </a:ext>
            </a:extLst>
          </p:cNvPr>
          <p:cNvSpPr>
            <a:spLocks noGrp="1"/>
          </p:cNvSpPr>
          <p:nvPr>
            <p:ph type="dt" sz="half" idx="10"/>
          </p:nvPr>
        </p:nvSpPr>
        <p:spPr/>
        <p:txBody>
          <a:bodyPr/>
          <a:lstStyle/>
          <a:p>
            <a:fld id="{9F8F9044-9659-4826-B034-1BE7FDA79FDF}"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C87B5186-5742-8DB2-1668-4CBC77BA9BD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9CF3BE8-5BA8-1AA8-9A25-B43B182F8D42}"/>
              </a:ext>
            </a:extLst>
          </p:cNvPr>
          <p:cNvSpPr>
            <a:spLocks noGrp="1"/>
          </p:cNvSpPr>
          <p:nvPr>
            <p:ph type="sldNum" sz="quarter" idx="12"/>
          </p:nvPr>
        </p:nvSpPr>
        <p:spPr/>
        <p:txBody>
          <a:bodyPr/>
          <a:lstStyle/>
          <a:p>
            <a:fld id="{1A0009A6-F022-4223-9DF7-6FCE4C9E6AF0}" type="slidenum">
              <a:rPr kumimoji="1" lang="ja-JP" altLang="en-US" smtClean="0"/>
              <a:t>‹#›</a:t>
            </a:fld>
            <a:endParaRPr kumimoji="1" lang="ja-JP" altLang="en-US"/>
          </a:p>
        </p:txBody>
      </p:sp>
    </p:spTree>
    <p:extLst>
      <p:ext uri="{BB962C8B-B14F-4D97-AF65-F5344CB8AC3E}">
        <p14:creationId xmlns:p14="http://schemas.microsoft.com/office/powerpoint/2010/main" val="1386630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D70567-F448-5B75-8937-F4E20B517BF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7623C29-DB81-CF78-EBF3-956D51BF4FC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FDA8715-F7BB-3073-2E95-9B3DF0ABAB8F}"/>
              </a:ext>
            </a:extLst>
          </p:cNvPr>
          <p:cNvSpPr>
            <a:spLocks noGrp="1"/>
          </p:cNvSpPr>
          <p:nvPr>
            <p:ph type="dt" sz="half" idx="10"/>
          </p:nvPr>
        </p:nvSpPr>
        <p:spPr/>
        <p:txBody>
          <a:bodyPr/>
          <a:lstStyle/>
          <a:p>
            <a:fld id="{4C28A8B7-1A4B-459D-81DC-B340C0A43BC8}"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D36C7590-BF1F-BAE8-767A-8FCF2FE5B36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B2D1553-FDA1-85BD-0970-E420559643F4}"/>
              </a:ext>
            </a:extLst>
          </p:cNvPr>
          <p:cNvSpPr>
            <a:spLocks noGrp="1"/>
          </p:cNvSpPr>
          <p:nvPr>
            <p:ph type="sldNum" sz="quarter" idx="12"/>
          </p:nvPr>
        </p:nvSpPr>
        <p:spPr/>
        <p:txBody>
          <a:bodyPr/>
          <a:lstStyle/>
          <a:p>
            <a:fld id="{1A0009A6-F022-4223-9DF7-6FCE4C9E6AF0}" type="slidenum">
              <a:rPr kumimoji="1" lang="ja-JP" altLang="en-US" smtClean="0"/>
              <a:t>‹#›</a:t>
            </a:fld>
            <a:endParaRPr kumimoji="1" lang="ja-JP" altLang="en-US"/>
          </a:p>
        </p:txBody>
      </p:sp>
    </p:spTree>
    <p:extLst>
      <p:ext uri="{BB962C8B-B14F-4D97-AF65-F5344CB8AC3E}">
        <p14:creationId xmlns:p14="http://schemas.microsoft.com/office/powerpoint/2010/main" val="4203385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AD29B1-B11C-1BD2-210D-290697AFBD4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8CA4C62-FBE9-005F-81B9-6F139EE0D7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F42199C-5FBE-F95D-F41B-98FFF9E411CD}"/>
              </a:ext>
            </a:extLst>
          </p:cNvPr>
          <p:cNvSpPr>
            <a:spLocks noGrp="1"/>
          </p:cNvSpPr>
          <p:nvPr>
            <p:ph type="dt" sz="half" idx="10"/>
          </p:nvPr>
        </p:nvSpPr>
        <p:spPr/>
        <p:txBody>
          <a:bodyPr/>
          <a:lstStyle/>
          <a:p>
            <a:fld id="{6E4F5742-0FB6-412E-8FDF-35C32A8EA76D}"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F4E8D809-9289-F1C7-AD57-9C5067617B5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F18AB18-7FE8-2DB4-4488-BAFC3E4C2856}"/>
              </a:ext>
            </a:extLst>
          </p:cNvPr>
          <p:cNvSpPr>
            <a:spLocks noGrp="1"/>
          </p:cNvSpPr>
          <p:nvPr>
            <p:ph type="sldNum" sz="quarter" idx="12"/>
          </p:nvPr>
        </p:nvSpPr>
        <p:spPr/>
        <p:txBody>
          <a:bodyPr/>
          <a:lstStyle/>
          <a:p>
            <a:fld id="{1A0009A6-F022-4223-9DF7-6FCE4C9E6AF0}" type="slidenum">
              <a:rPr kumimoji="1" lang="ja-JP" altLang="en-US" smtClean="0"/>
              <a:t>‹#›</a:t>
            </a:fld>
            <a:endParaRPr kumimoji="1" lang="ja-JP" altLang="en-US"/>
          </a:p>
        </p:txBody>
      </p:sp>
    </p:spTree>
    <p:extLst>
      <p:ext uri="{BB962C8B-B14F-4D97-AF65-F5344CB8AC3E}">
        <p14:creationId xmlns:p14="http://schemas.microsoft.com/office/powerpoint/2010/main" val="3491694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66E2A9-82E4-C5A2-7000-A2E5B679187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8B0EC07-33D8-E22B-F165-B633F1E977C8}"/>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CDE7ED6-7EBA-4718-6C00-FA0BFD50C6A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B175CF2-000E-B70C-3816-BDA77695BB4A}"/>
              </a:ext>
            </a:extLst>
          </p:cNvPr>
          <p:cNvSpPr>
            <a:spLocks noGrp="1"/>
          </p:cNvSpPr>
          <p:nvPr>
            <p:ph type="dt" sz="half" idx="10"/>
          </p:nvPr>
        </p:nvSpPr>
        <p:spPr/>
        <p:txBody>
          <a:bodyPr/>
          <a:lstStyle/>
          <a:p>
            <a:fld id="{DB891585-76FC-4DA8-A1C5-DBDF3760F534}"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3CF03C71-6FBD-97FD-6E60-999010BD400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B4F3A9D-15DF-E644-B3ED-A18AB72BF13F}"/>
              </a:ext>
            </a:extLst>
          </p:cNvPr>
          <p:cNvSpPr>
            <a:spLocks noGrp="1"/>
          </p:cNvSpPr>
          <p:nvPr>
            <p:ph type="sldNum" sz="quarter" idx="12"/>
          </p:nvPr>
        </p:nvSpPr>
        <p:spPr/>
        <p:txBody>
          <a:bodyPr/>
          <a:lstStyle/>
          <a:p>
            <a:fld id="{1A0009A6-F022-4223-9DF7-6FCE4C9E6AF0}" type="slidenum">
              <a:rPr kumimoji="1" lang="ja-JP" altLang="en-US" smtClean="0"/>
              <a:t>‹#›</a:t>
            </a:fld>
            <a:endParaRPr kumimoji="1" lang="ja-JP" altLang="en-US"/>
          </a:p>
        </p:txBody>
      </p:sp>
    </p:spTree>
    <p:extLst>
      <p:ext uri="{BB962C8B-B14F-4D97-AF65-F5344CB8AC3E}">
        <p14:creationId xmlns:p14="http://schemas.microsoft.com/office/powerpoint/2010/main" val="4046639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2BB242-F6C6-BB6E-4226-00FD49BB155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AD9E31A-7185-8FEC-808F-B9321D00EF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06B3555-A9D3-AB8A-2B86-38566E6E1802}"/>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5217D3B-9ADB-362F-7F23-5683AFCFD6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52D2FF5-3CB1-9DAC-FC75-47B9BB9B2E3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D38E4A1-D3C5-7295-921C-E23E8D9775DB}"/>
              </a:ext>
            </a:extLst>
          </p:cNvPr>
          <p:cNvSpPr>
            <a:spLocks noGrp="1"/>
          </p:cNvSpPr>
          <p:nvPr>
            <p:ph type="dt" sz="half" idx="10"/>
          </p:nvPr>
        </p:nvSpPr>
        <p:spPr/>
        <p:txBody>
          <a:bodyPr/>
          <a:lstStyle/>
          <a:p>
            <a:fld id="{A3DC4A2F-21F1-4004-B579-F0EB4FE467E6}" type="datetime1">
              <a:rPr kumimoji="1" lang="ja-JP" altLang="en-US" smtClean="0"/>
              <a:t>2026/2/26</a:t>
            </a:fld>
            <a:endParaRPr kumimoji="1" lang="ja-JP" altLang="en-US"/>
          </a:p>
        </p:txBody>
      </p:sp>
      <p:sp>
        <p:nvSpPr>
          <p:cNvPr id="8" name="フッター プレースホルダー 7">
            <a:extLst>
              <a:ext uri="{FF2B5EF4-FFF2-40B4-BE49-F238E27FC236}">
                <a16:creationId xmlns:a16="http://schemas.microsoft.com/office/drawing/2014/main" id="{4C0A64B4-F155-7484-0068-D4A20BC85E1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2A0F136-B40A-801B-D48E-4781F6F25E7F}"/>
              </a:ext>
            </a:extLst>
          </p:cNvPr>
          <p:cNvSpPr>
            <a:spLocks noGrp="1"/>
          </p:cNvSpPr>
          <p:nvPr>
            <p:ph type="sldNum" sz="quarter" idx="12"/>
          </p:nvPr>
        </p:nvSpPr>
        <p:spPr/>
        <p:txBody>
          <a:bodyPr/>
          <a:lstStyle/>
          <a:p>
            <a:fld id="{1A0009A6-F022-4223-9DF7-6FCE4C9E6AF0}" type="slidenum">
              <a:rPr kumimoji="1" lang="ja-JP" altLang="en-US" smtClean="0"/>
              <a:t>‹#›</a:t>
            </a:fld>
            <a:endParaRPr kumimoji="1" lang="ja-JP" altLang="en-US"/>
          </a:p>
        </p:txBody>
      </p:sp>
    </p:spTree>
    <p:extLst>
      <p:ext uri="{BB962C8B-B14F-4D97-AF65-F5344CB8AC3E}">
        <p14:creationId xmlns:p14="http://schemas.microsoft.com/office/powerpoint/2010/main" val="1458509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CAD376-9F06-9670-BD6B-18C213A995CD}"/>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56AB548-9CCC-BD1D-4A49-D571C6109278}"/>
              </a:ext>
            </a:extLst>
          </p:cNvPr>
          <p:cNvSpPr>
            <a:spLocks noGrp="1"/>
          </p:cNvSpPr>
          <p:nvPr>
            <p:ph type="dt" sz="half" idx="10"/>
          </p:nvPr>
        </p:nvSpPr>
        <p:spPr/>
        <p:txBody>
          <a:bodyPr/>
          <a:lstStyle/>
          <a:p>
            <a:fld id="{66E00DF8-0E5D-425F-A31C-1B991362BB43}" type="datetime1">
              <a:rPr kumimoji="1" lang="ja-JP" altLang="en-US" smtClean="0"/>
              <a:t>2026/2/26</a:t>
            </a:fld>
            <a:endParaRPr kumimoji="1" lang="ja-JP" altLang="en-US"/>
          </a:p>
        </p:txBody>
      </p:sp>
      <p:sp>
        <p:nvSpPr>
          <p:cNvPr id="4" name="フッター プレースホルダー 3">
            <a:extLst>
              <a:ext uri="{FF2B5EF4-FFF2-40B4-BE49-F238E27FC236}">
                <a16:creationId xmlns:a16="http://schemas.microsoft.com/office/drawing/2014/main" id="{34D757D9-91C5-2065-62B9-D04EFD21FA7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E086F2D-0AA3-AB12-C3E9-6DA5E148470B}"/>
              </a:ext>
            </a:extLst>
          </p:cNvPr>
          <p:cNvSpPr>
            <a:spLocks noGrp="1"/>
          </p:cNvSpPr>
          <p:nvPr>
            <p:ph type="sldNum" sz="quarter" idx="12"/>
          </p:nvPr>
        </p:nvSpPr>
        <p:spPr/>
        <p:txBody>
          <a:bodyPr/>
          <a:lstStyle/>
          <a:p>
            <a:fld id="{1A0009A6-F022-4223-9DF7-6FCE4C9E6AF0}" type="slidenum">
              <a:rPr kumimoji="1" lang="ja-JP" altLang="en-US" smtClean="0"/>
              <a:t>‹#›</a:t>
            </a:fld>
            <a:endParaRPr kumimoji="1" lang="ja-JP" altLang="en-US"/>
          </a:p>
        </p:txBody>
      </p:sp>
    </p:spTree>
    <p:extLst>
      <p:ext uri="{BB962C8B-B14F-4D97-AF65-F5344CB8AC3E}">
        <p14:creationId xmlns:p14="http://schemas.microsoft.com/office/powerpoint/2010/main" val="2245421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9FE912F-D575-7B72-0A2D-F43E12B8D7BC}"/>
              </a:ext>
            </a:extLst>
          </p:cNvPr>
          <p:cNvSpPr>
            <a:spLocks noGrp="1"/>
          </p:cNvSpPr>
          <p:nvPr>
            <p:ph type="dt" sz="half" idx="10"/>
          </p:nvPr>
        </p:nvSpPr>
        <p:spPr/>
        <p:txBody>
          <a:bodyPr/>
          <a:lstStyle/>
          <a:p>
            <a:fld id="{18FC71DF-821F-454D-A260-7BAB6E452792}" type="datetime1">
              <a:rPr kumimoji="1" lang="ja-JP" altLang="en-US" smtClean="0"/>
              <a:t>2026/2/26</a:t>
            </a:fld>
            <a:endParaRPr kumimoji="1" lang="ja-JP" altLang="en-US"/>
          </a:p>
        </p:txBody>
      </p:sp>
      <p:sp>
        <p:nvSpPr>
          <p:cNvPr id="3" name="フッター プレースホルダー 2">
            <a:extLst>
              <a:ext uri="{FF2B5EF4-FFF2-40B4-BE49-F238E27FC236}">
                <a16:creationId xmlns:a16="http://schemas.microsoft.com/office/drawing/2014/main" id="{D56536B2-9BF3-97AC-FF80-9F427A4D1A2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CC75CC9-4924-8DF4-859C-7BD4FCE1C500}"/>
              </a:ext>
            </a:extLst>
          </p:cNvPr>
          <p:cNvSpPr>
            <a:spLocks noGrp="1"/>
          </p:cNvSpPr>
          <p:nvPr>
            <p:ph type="sldNum" sz="quarter" idx="12"/>
          </p:nvPr>
        </p:nvSpPr>
        <p:spPr/>
        <p:txBody>
          <a:bodyPr/>
          <a:lstStyle/>
          <a:p>
            <a:fld id="{1A0009A6-F022-4223-9DF7-6FCE4C9E6AF0}" type="slidenum">
              <a:rPr kumimoji="1" lang="ja-JP" altLang="en-US" smtClean="0"/>
              <a:t>‹#›</a:t>
            </a:fld>
            <a:endParaRPr kumimoji="1" lang="ja-JP" altLang="en-US"/>
          </a:p>
        </p:txBody>
      </p:sp>
    </p:spTree>
    <p:extLst>
      <p:ext uri="{BB962C8B-B14F-4D97-AF65-F5344CB8AC3E}">
        <p14:creationId xmlns:p14="http://schemas.microsoft.com/office/powerpoint/2010/main" val="386100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2B46C4-E43F-B51C-4D6E-C38C23C4D96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683A123-7CBA-9371-6849-00747C26EA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68696BE-0ADD-A6A8-49FA-611030EE44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DCC28C8-7E3B-B4A4-7DB9-8562D3C347DA}"/>
              </a:ext>
            </a:extLst>
          </p:cNvPr>
          <p:cNvSpPr>
            <a:spLocks noGrp="1"/>
          </p:cNvSpPr>
          <p:nvPr>
            <p:ph type="dt" sz="half" idx="10"/>
          </p:nvPr>
        </p:nvSpPr>
        <p:spPr/>
        <p:txBody>
          <a:bodyPr/>
          <a:lstStyle/>
          <a:p>
            <a:fld id="{63EA8E63-F7A0-48AB-97B9-A2B9DC0141F0}"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20D50848-F42C-8A52-EA08-17428A61431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136C32D-2732-7FBD-8F06-B65F3744AE8F}"/>
              </a:ext>
            </a:extLst>
          </p:cNvPr>
          <p:cNvSpPr>
            <a:spLocks noGrp="1"/>
          </p:cNvSpPr>
          <p:nvPr>
            <p:ph type="sldNum" sz="quarter" idx="12"/>
          </p:nvPr>
        </p:nvSpPr>
        <p:spPr/>
        <p:txBody>
          <a:bodyPr/>
          <a:lstStyle/>
          <a:p>
            <a:fld id="{1A0009A6-F022-4223-9DF7-6FCE4C9E6AF0}" type="slidenum">
              <a:rPr kumimoji="1" lang="ja-JP" altLang="en-US" smtClean="0"/>
              <a:t>‹#›</a:t>
            </a:fld>
            <a:endParaRPr kumimoji="1" lang="ja-JP" altLang="en-US"/>
          </a:p>
        </p:txBody>
      </p:sp>
    </p:spTree>
    <p:extLst>
      <p:ext uri="{BB962C8B-B14F-4D97-AF65-F5344CB8AC3E}">
        <p14:creationId xmlns:p14="http://schemas.microsoft.com/office/powerpoint/2010/main" val="3167620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B19B39-42A4-4241-ECE0-36B53A708CC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5BFDF9E6-8F3A-4BDC-63CC-5A2C4571DA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0B0AFC8-5A30-8DEC-E9D0-2BC2782675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989234F-EF33-F443-547A-8DC50D16849D}"/>
              </a:ext>
            </a:extLst>
          </p:cNvPr>
          <p:cNvSpPr>
            <a:spLocks noGrp="1"/>
          </p:cNvSpPr>
          <p:nvPr>
            <p:ph type="dt" sz="half" idx="10"/>
          </p:nvPr>
        </p:nvSpPr>
        <p:spPr/>
        <p:txBody>
          <a:bodyPr/>
          <a:lstStyle/>
          <a:p>
            <a:fld id="{57343184-20C0-4E8F-951E-38A3B9CB9BC5}"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4046E7FC-99D0-3025-3CDF-9EE31EC8401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94E678E-691B-9E2A-0807-0083E90B2129}"/>
              </a:ext>
            </a:extLst>
          </p:cNvPr>
          <p:cNvSpPr>
            <a:spLocks noGrp="1"/>
          </p:cNvSpPr>
          <p:nvPr>
            <p:ph type="sldNum" sz="quarter" idx="12"/>
          </p:nvPr>
        </p:nvSpPr>
        <p:spPr/>
        <p:txBody>
          <a:bodyPr/>
          <a:lstStyle/>
          <a:p>
            <a:fld id="{1A0009A6-F022-4223-9DF7-6FCE4C9E6AF0}" type="slidenum">
              <a:rPr kumimoji="1" lang="ja-JP" altLang="en-US" smtClean="0"/>
              <a:t>‹#›</a:t>
            </a:fld>
            <a:endParaRPr kumimoji="1" lang="ja-JP" altLang="en-US"/>
          </a:p>
        </p:txBody>
      </p:sp>
    </p:spTree>
    <p:extLst>
      <p:ext uri="{BB962C8B-B14F-4D97-AF65-F5344CB8AC3E}">
        <p14:creationId xmlns:p14="http://schemas.microsoft.com/office/powerpoint/2010/main" val="1230386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5CC2CE-D0F4-5BE0-E163-B29D2F827CE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C0C9A31-17A4-54EA-CC80-82A49902CB2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8A35E71-5ED7-4627-DC0B-0834BE115F12}"/>
              </a:ext>
            </a:extLst>
          </p:cNvPr>
          <p:cNvSpPr>
            <a:spLocks noGrp="1"/>
          </p:cNvSpPr>
          <p:nvPr>
            <p:ph type="dt" sz="half" idx="10"/>
          </p:nvPr>
        </p:nvSpPr>
        <p:spPr/>
        <p:txBody>
          <a:bodyPr/>
          <a:lstStyle/>
          <a:p>
            <a:fld id="{1C47EBFC-2D90-44DF-8386-F02394AEC7FE}"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7A5D2B40-B62C-BDA5-68A5-E78B39BB4C7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70A34E7-AA7E-F9CD-5EF9-CC5587CF93C0}"/>
              </a:ext>
            </a:extLst>
          </p:cNvPr>
          <p:cNvSpPr>
            <a:spLocks noGrp="1"/>
          </p:cNvSpPr>
          <p:nvPr>
            <p:ph type="sldNum" sz="quarter" idx="12"/>
          </p:nvPr>
        </p:nvSpPr>
        <p:spPr/>
        <p:txBody>
          <a:bodyPr/>
          <a:lstStyle/>
          <a:p>
            <a:fld id="{1A0009A6-F022-4223-9DF7-6FCE4C9E6AF0}" type="slidenum">
              <a:rPr kumimoji="1" lang="ja-JP" altLang="en-US" smtClean="0"/>
              <a:t>‹#›</a:t>
            </a:fld>
            <a:endParaRPr kumimoji="1" lang="ja-JP" altLang="en-US"/>
          </a:p>
        </p:txBody>
      </p:sp>
    </p:spTree>
    <p:extLst>
      <p:ext uri="{BB962C8B-B14F-4D97-AF65-F5344CB8AC3E}">
        <p14:creationId xmlns:p14="http://schemas.microsoft.com/office/powerpoint/2010/main" val="360605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7C24A3B-3CD9-A8FF-25CA-5DEAB1B5E9E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8D5611C-B567-4DA1-55DC-A816C7E388B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F9F2260-96A5-A21D-6350-1EBF422A96C3}"/>
              </a:ext>
            </a:extLst>
          </p:cNvPr>
          <p:cNvSpPr>
            <a:spLocks noGrp="1"/>
          </p:cNvSpPr>
          <p:nvPr>
            <p:ph type="dt" sz="half" idx="10"/>
          </p:nvPr>
        </p:nvSpPr>
        <p:spPr/>
        <p:txBody>
          <a:bodyPr/>
          <a:lstStyle/>
          <a:p>
            <a:fld id="{831611F0-0817-49F6-98C7-791DF18890F6}"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79921DDE-5DDD-976D-88B7-DBC9F6F4275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13B04E8-194A-2B47-C8AC-F189E635AA85}"/>
              </a:ext>
            </a:extLst>
          </p:cNvPr>
          <p:cNvSpPr>
            <a:spLocks noGrp="1"/>
          </p:cNvSpPr>
          <p:nvPr>
            <p:ph type="sldNum" sz="quarter" idx="12"/>
          </p:nvPr>
        </p:nvSpPr>
        <p:spPr/>
        <p:txBody>
          <a:bodyPr/>
          <a:lstStyle/>
          <a:p>
            <a:fld id="{1A0009A6-F022-4223-9DF7-6FCE4C9E6AF0}" type="slidenum">
              <a:rPr kumimoji="1" lang="ja-JP" altLang="en-US" smtClean="0"/>
              <a:t>‹#›</a:t>
            </a:fld>
            <a:endParaRPr kumimoji="1" lang="ja-JP" altLang="en-US"/>
          </a:p>
        </p:txBody>
      </p:sp>
    </p:spTree>
    <p:extLst>
      <p:ext uri="{BB962C8B-B14F-4D97-AF65-F5344CB8AC3E}">
        <p14:creationId xmlns:p14="http://schemas.microsoft.com/office/powerpoint/2010/main" val="2278603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E3D2090-21BA-4B0E-87FA-08B06E3F44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AF4C604-9220-A1A4-DE96-75D6726552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FF0E83A-8321-2C0A-0621-1F1283A238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3F2ACF-24A3-468F-A630-8D11768CDA11}"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3C052786-37A9-E283-CC67-71D0A71B48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8ABDD74-AF0E-3B8D-1F34-C9E104F714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0009A6-F022-4223-9DF7-6FCE4C9E6AF0}" type="slidenum">
              <a:rPr kumimoji="1" lang="ja-JP" altLang="en-US" smtClean="0"/>
              <a:t>‹#›</a:t>
            </a:fld>
            <a:endParaRPr kumimoji="1" lang="ja-JP" altLang="en-US"/>
          </a:p>
        </p:txBody>
      </p:sp>
    </p:spTree>
    <p:extLst>
      <p:ext uri="{BB962C8B-B14F-4D97-AF65-F5344CB8AC3E}">
        <p14:creationId xmlns:p14="http://schemas.microsoft.com/office/powerpoint/2010/main" val="532920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110.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80.png"/><Relationship Id="rId4" Type="http://schemas.openxmlformats.org/officeDocument/2006/relationships/image" Target="../media/image17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3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150.png"/><Relationship Id="rId4" Type="http://schemas.openxmlformats.org/officeDocument/2006/relationships/image" Target="../media/image1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8.png"/><Relationship Id="rId7" Type="http://schemas.openxmlformats.org/officeDocument/2006/relationships/image" Target="../media/image34.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41.png"/><Relationship Id="rId3" Type="http://schemas.openxmlformats.org/officeDocument/2006/relationships/image" Target="../media/image46.png"/><Relationship Id="rId7" Type="http://schemas.openxmlformats.org/officeDocument/2006/relationships/image" Target="../media/image51.png"/><Relationship Id="rId12" Type="http://schemas.openxmlformats.org/officeDocument/2006/relationships/image" Target="../media/image40.png"/><Relationship Id="rId2" Type="http://schemas.openxmlformats.org/officeDocument/2006/relationships/image" Target="../media/image450.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38.png"/><Relationship Id="rId5" Type="http://schemas.openxmlformats.org/officeDocument/2006/relationships/image" Target="../media/image48.png"/><Relationship Id="rId10" Type="http://schemas.openxmlformats.org/officeDocument/2006/relationships/image" Target="../media/image37.png"/><Relationship Id="rId4" Type="http://schemas.openxmlformats.org/officeDocument/2006/relationships/image" Target="../media/image47.png"/><Relationship Id="rId9"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53A4C18F-C191-7F06-FB34-AE435A479674}"/>
              </a:ext>
            </a:extLst>
          </p:cNvPr>
          <p:cNvSpPr txBox="1"/>
          <p:nvPr/>
        </p:nvSpPr>
        <p:spPr>
          <a:xfrm>
            <a:off x="852881" y="2197398"/>
            <a:ext cx="10251346" cy="954107"/>
          </a:xfrm>
          <a:prstGeom prst="rect">
            <a:avLst/>
          </a:prstGeom>
          <a:noFill/>
        </p:spPr>
        <p:txBody>
          <a:bodyPr wrap="square" rtlCol="0">
            <a:spAutoFit/>
          </a:bodyPr>
          <a:lstStyle/>
          <a:p>
            <a:r>
              <a:rPr lang="ja-JP" altLang="en-US" sz="2800" b="1">
                <a:solidFill>
                  <a:schemeClr val="accent4">
                    <a:lumMod val="75000"/>
                  </a:schemeClr>
                </a:solidFill>
              </a:rPr>
              <a:t>耐量子マルチトラップドア動的メンバーシップ署名</a:t>
            </a:r>
            <a:r>
              <a:rPr lang="en-US" altLang="ja-JP" sz="2800" b="1">
                <a:solidFill>
                  <a:schemeClr val="accent4">
                    <a:lumMod val="75000"/>
                  </a:schemeClr>
                </a:solidFill>
              </a:rPr>
              <a:t>:</a:t>
            </a:r>
            <a:endParaRPr lang="en-US" altLang="ja-JP" sz="2800" b="1" dirty="0">
              <a:solidFill>
                <a:schemeClr val="accent4">
                  <a:lumMod val="75000"/>
                </a:schemeClr>
              </a:solidFill>
            </a:endParaRPr>
          </a:p>
          <a:p>
            <a:r>
              <a:rPr lang="ja-JP" altLang="en-US" sz="2800" b="1">
                <a:solidFill>
                  <a:schemeClr val="accent4">
                    <a:lumMod val="75000"/>
                  </a:schemeClr>
                </a:solidFill>
              </a:rPr>
              <a:t>「一卵性」</a:t>
            </a:r>
            <a:r>
              <a:rPr lang="en-US" altLang="ja-JP" sz="2800" b="1">
                <a:solidFill>
                  <a:schemeClr val="accent4">
                    <a:lumMod val="75000"/>
                  </a:schemeClr>
                </a:solidFill>
              </a:rPr>
              <a:t>UOV</a:t>
            </a:r>
          </a:p>
        </p:txBody>
      </p:sp>
      <p:sp>
        <p:nvSpPr>
          <p:cNvPr id="15" name="テキスト ボックス 14">
            <a:extLst>
              <a:ext uri="{FF2B5EF4-FFF2-40B4-BE49-F238E27FC236}">
                <a16:creationId xmlns:a16="http://schemas.microsoft.com/office/drawing/2014/main" id="{CC211AE3-06B7-84A0-5079-D708E439B0E4}"/>
              </a:ext>
            </a:extLst>
          </p:cNvPr>
          <p:cNvSpPr txBox="1"/>
          <p:nvPr/>
        </p:nvSpPr>
        <p:spPr>
          <a:xfrm>
            <a:off x="852881" y="3700576"/>
            <a:ext cx="5209563" cy="400110"/>
          </a:xfrm>
          <a:prstGeom prst="rect">
            <a:avLst/>
          </a:prstGeom>
          <a:noFill/>
        </p:spPr>
        <p:txBody>
          <a:bodyPr wrap="square" rtlCol="0">
            <a:spAutoFit/>
          </a:bodyPr>
          <a:lstStyle/>
          <a:p>
            <a:r>
              <a:rPr lang="ja-JP" altLang="en-US" sz="2000"/>
              <a:t>鈴木 俊博</a:t>
            </a:r>
            <a:endParaRPr lang="en-US" altLang="ja-JP" sz="2000"/>
          </a:p>
        </p:txBody>
      </p:sp>
    </p:spTree>
    <p:extLst>
      <p:ext uri="{BB962C8B-B14F-4D97-AF65-F5344CB8AC3E}">
        <p14:creationId xmlns:p14="http://schemas.microsoft.com/office/powerpoint/2010/main" val="2465357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434E166-C642-B4AB-61B6-55A242589252}"/>
              </a:ext>
            </a:extLst>
          </p:cNvPr>
          <p:cNvSpPr txBox="1"/>
          <p:nvPr/>
        </p:nvSpPr>
        <p:spPr>
          <a:xfrm>
            <a:off x="180000" y="180000"/>
            <a:ext cx="5558070" cy="584775"/>
          </a:xfrm>
          <a:prstGeom prst="rect">
            <a:avLst/>
          </a:prstGeom>
          <a:noFill/>
        </p:spPr>
        <p:txBody>
          <a:bodyPr wrap="square" rtlCol="0">
            <a:spAutoFit/>
          </a:bodyPr>
          <a:lstStyle/>
          <a:p>
            <a:r>
              <a:rPr lang="ja-JP" altLang="en-US" sz="3200" b="1">
                <a:solidFill>
                  <a:schemeClr val="accent4">
                    <a:lumMod val="75000"/>
                  </a:schemeClr>
                </a:solidFill>
              </a:rPr>
              <a:t>目次</a:t>
            </a:r>
            <a:endParaRPr lang="en-US" altLang="ja-JP" sz="3200" b="1" dirty="0">
              <a:solidFill>
                <a:schemeClr val="accent4">
                  <a:lumMod val="75000"/>
                </a:schemeClr>
              </a:solidFill>
            </a:endParaRPr>
          </a:p>
        </p:txBody>
      </p:sp>
      <p:sp>
        <p:nvSpPr>
          <p:cNvPr id="5" name="テキスト ボックス 4">
            <a:extLst>
              <a:ext uri="{FF2B5EF4-FFF2-40B4-BE49-F238E27FC236}">
                <a16:creationId xmlns:a16="http://schemas.microsoft.com/office/drawing/2014/main" id="{900CCEBB-DDF5-0EA4-710A-679DDCC2434E}"/>
              </a:ext>
            </a:extLst>
          </p:cNvPr>
          <p:cNvSpPr txBox="1"/>
          <p:nvPr/>
        </p:nvSpPr>
        <p:spPr>
          <a:xfrm>
            <a:off x="180000" y="1690062"/>
            <a:ext cx="6749306" cy="3477875"/>
          </a:xfrm>
          <a:prstGeom prst="rect">
            <a:avLst/>
          </a:prstGeom>
          <a:noFill/>
        </p:spPr>
        <p:txBody>
          <a:bodyPr wrap="square" rtlCol="0">
            <a:spAutoFit/>
          </a:bodyPr>
          <a:lstStyle/>
          <a:p>
            <a:pPr marL="342900" indent="-342900">
              <a:buFont typeface="+mj-lt"/>
              <a:buAutoNum type="arabicPeriod"/>
            </a:pPr>
            <a:r>
              <a:rPr kumimoji="1" lang="en-US" altLang="ja-JP" sz="2000"/>
              <a:t>UOV</a:t>
            </a:r>
            <a:r>
              <a:rPr kumimoji="1" lang="ja-JP" altLang="en-US" sz="2000"/>
              <a:t>再考</a:t>
            </a:r>
            <a:endParaRPr kumimoji="1" lang="en-US" altLang="ja-JP" sz="2000"/>
          </a:p>
          <a:p>
            <a:pPr marL="742950" lvl="1" indent="-285750">
              <a:buFont typeface="Arial" panose="020B0604020202020204" pitchFamily="34" charset="0"/>
              <a:buChar char="•"/>
            </a:pPr>
            <a:r>
              <a:rPr kumimoji="1" lang="ja-JP" altLang="en-US" sz="2000"/>
              <a:t>放物線の決定</a:t>
            </a:r>
            <a:endParaRPr kumimoji="1" lang="en-US" altLang="ja-JP" sz="2000"/>
          </a:p>
          <a:p>
            <a:pPr marL="742950" lvl="1" indent="-285750">
              <a:buFont typeface="Arial" panose="020B0604020202020204" pitchFamily="34" charset="0"/>
              <a:buChar char="•"/>
            </a:pPr>
            <a:r>
              <a:rPr lang="en-US" altLang="ja-JP" sz="2000"/>
              <a:t>UOV</a:t>
            </a:r>
            <a:r>
              <a:rPr lang="ja-JP" altLang="en-US" sz="2000"/>
              <a:t>の鍵生成</a:t>
            </a:r>
            <a:endParaRPr kumimoji="1" lang="en-US" altLang="ja-JP" sz="2000"/>
          </a:p>
          <a:p>
            <a:pPr marL="342900" indent="-342900">
              <a:buFont typeface="+mj-lt"/>
              <a:buAutoNum type="arabicPeriod"/>
            </a:pPr>
            <a:r>
              <a:rPr lang="en-US" altLang="ja-JP" sz="2000"/>
              <a:t>MZ-UOV</a:t>
            </a:r>
          </a:p>
          <a:p>
            <a:pPr marL="800100" lvl="1" indent="-342900">
              <a:buFont typeface="Arial" panose="020B0604020202020204" pitchFamily="34" charset="0"/>
              <a:buChar char="•"/>
            </a:pPr>
            <a:r>
              <a:rPr lang="ja-JP" altLang="en-US" sz="2000"/>
              <a:t>鍵生成</a:t>
            </a:r>
            <a:endParaRPr lang="en-US" altLang="ja-JP" sz="2000"/>
          </a:p>
          <a:p>
            <a:pPr marL="800100" lvl="1" indent="-342900">
              <a:buFont typeface="Arial" panose="020B0604020202020204" pitchFamily="34" charset="0"/>
              <a:buChar char="•"/>
            </a:pPr>
            <a:r>
              <a:rPr lang="ja-JP" altLang="en-US" sz="2000"/>
              <a:t>署名・検証</a:t>
            </a:r>
            <a:endParaRPr lang="en-US" altLang="ja-JP" sz="2000"/>
          </a:p>
          <a:p>
            <a:pPr marL="800100" lvl="1" indent="-342900">
              <a:buFont typeface="Arial" panose="020B0604020202020204" pitchFamily="34" charset="0"/>
              <a:buChar char="•"/>
            </a:pPr>
            <a:r>
              <a:rPr lang="ja-JP" altLang="en-US" sz="2000"/>
              <a:t>公開鍵の更新</a:t>
            </a:r>
            <a:endParaRPr lang="en-US" altLang="ja-JP" sz="2000"/>
          </a:p>
          <a:p>
            <a:pPr marL="342900" indent="-342900">
              <a:buFont typeface="+mj-lt"/>
              <a:buAutoNum type="arabicPeriod"/>
            </a:pPr>
            <a:r>
              <a:rPr kumimoji="1" lang="ja-JP" altLang="en-US" sz="2000"/>
              <a:t>応用例</a:t>
            </a:r>
            <a:endParaRPr kumimoji="1" lang="en-US" altLang="ja-JP" sz="2000"/>
          </a:p>
          <a:p>
            <a:pPr marL="800100" lvl="1" indent="-342900">
              <a:buFont typeface="Arial" panose="020B0604020202020204" pitchFamily="34" charset="0"/>
              <a:buChar char="•"/>
            </a:pPr>
            <a:r>
              <a:rPr lang="ja-JP" altLang="en-US" sz="2000"/>
              <a:t>集合的な人格としての署名</a:t>
            </a:r>
            <a:endParaRPr lang="en-US" altLang="ja-JP" sz="2000"/>
          </a:p>
          <a:p>
            <a:pPr marL="800100" lvl="1" indent="-342900">
              <a:buFont typeface="Arial" panose="020B0604020202020204" pitchFamily="34" charset="0"/>
              <a:buChar char="•"/>
            </a:pPr>
            <a:r>
              <a:rPr kumimoji="1" lang="ja-JP" altLang="en-US" sz="2000"/>
              <a:t>スペアキー・プロキシ署名・タイムスタンプ</a:t>
            </a:r>
            <a:endParaRPr kumimoji="1" lang="en-US" altLang="ja-JP" sz="2000"/>
          </a:p>
          <a:p>
            <a:pPr marL="342900" indent="-342900">
              <a:buFont typeface="+mj-lt"/>
              <a:buAutoNum type="arabicPeriod"/>
            </a:pPr>
            <a:r>
              <a:rPr lang="ja-JP" altLang="en-US" sz="2000"/>
              <a:t>まとめ</a:t>
            </a:r>
            <a:endParaRPr kumimoji="1" lang="ja-JP" altLang="en-US" sz="2000"/>
          </a:p>
        </p:txBody>
      </p:sp>
    </p:spTree>
    <p:extLst>
      <p:ext uri="{BB962C8B-B14F-4D97-AF65-F5344CB8AC3E}">
        <p14:creationId xmlns:p14="http://schemas.microsoft.com/office/powerpoint/2010/main" val="3097171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テキスト ボックス 17">
            <a:extLst>
              <a:ext uri="{FF2B5EF4-FFF2-40B4-BE49-F238E27FC236}">
                <a16:creationId xmlns:a16="http://schemas.microsoft.com/office/drawing/2014/main" id="{D1CD2B34-D86D-042E-74C3-095D69590D33}"/>
              </a:ext>
            </a:extLst>
          </p:cNvPr>
          <p:cNvSpPr txBox="1"/>
          <p:nvPr/>
        </p:nvSpPr>
        <p:spPr>
          <a:xfrm>
            <a:off x="180000" y="180000"/>
            <a:ext cx="5558070" cy="584775"/>
          </a:xfrm>
          <a:prstGeom prst="rect">
            <a:avLst/>
          </a:prstGeom>
          <a:noFill/>
        </p:spPr>
        <p:txBody>
          <a:bodyPr wrap="square" rtlCol="0">
            <a:spAutoFit/>
          </a:bodyPr>
          <a:lstStyle/>
          <a:p>
            <a:r>
              <a:rPr lang="en-US" altLang="ja-JP" sz="3200" b="1" dirty="0">
                <a:solidFill>
                  <a:schemeClr val="accent4">
                    <a:lumMod val="75000"/>
                  </a:schemeClr>
                </a:solidFill>
              </a:rPr>
              <a:t>0</a:t>
            </a:r>
            <a:r>
              <a:rPr lang="en-US" altLang="ja-JP" sz="3200" b="1">
                <a:solidFill>
                  <a:schemeClr val="accent4">
                    <a:lumMod val="75000"/>
                  </a:schemeClr>
                </a:solidFill>
              </a:rPr>
              <a:t>.</a:t>
            </a:r>
            <a:r>
              <a:rPr lang="ja-JP" altLang="en-US" sz="3200" b="1">
                <a:solidFill>
                  <a:schemeClr val="accent4">
                    <a:lumMod val="75000"/>
                  </a:schemeClr>
                </a:solidFill>
              </a:rPr>
              <a:t> 概要</a:t>
            </a:r>
            <a:endParaRPr lang="en-US" altLang="ja-JP" sz="3200" b="1" dirty="0">
              <a:solidFill>
                <a:schemeClr val="accent4">
                  <a:lumMod val="75000"/>
                </a:schemeClr>
              </a:solidFill>
            </a:endParaRPr>
          </a:p>
        </p:txBody>
      </p:sp>
      <p:sp>
        <p:nvSpPr>
          <p:cNvPr id="19" name="テキスト ボックス 18">
            <a:extLst>
              <a:ext uri="{FF2B5EF4-FFF2-40B4-BE49-F238E27FC236}">
                <a16:creationId xmlns:a16="http://schemas.microsoft.com/office/drawing/2014/main" id="{9E4A2FEC-48B4-AAEF-5B55-2133E744393A}"/>
              </a:ext>
            </a:extLst>
          </p:cNvPr>
          <p:cNvSpPr txBox="1"/>
          <p:nvPr/>
        </p:nvSpPr>
        <p:spPr>
          <a:xfrm>
            <a:off x="180000" y="764775"/>
            <a:ext cx="7227479" cy="461665"/>
          </a:xfrm>
          <a:prstGeom prst="rect">
            <a:avLst/>
          </a:prstGeom>
          <a:noFill/>
        </p:spPr>
        <p:txBody>
          <a:bodyPr wrap="square" rtlCol="0">
            <a:spAutoFit/>
          </a:bodyPr>
          <a:lstStyle/>
          <a:p>
            <a:r>
              <a:rPr lang="en-US" altLang="ja-JP" sz="2400" b="1">
                <a:solidFill>
                  <a:schemeClr val="accent4">
                    <a:lumMod val="75000"/>
                  </a:schemeClr>
                </a:solidFill>
              </a:rPr>
              <a:t>0</a:t>
            </a:r>
            <a:r>
              <a:rPr kumimoji="1" lang="en-US" altLang="ja-JP" sz="2400" b="1">
                <a:solidFill>
                  <a:schemeClr val="accent4">
                    <a:lumMod val="75000"/>
                  </a:schemeClr>
                </a:solidFill>
              </a:rPr>
              <a:t>-</a:t>
            </a:r>
            <a:r>
              <a:rPr lang="en-US" altLang="ja-JP" sz="2400" b="1">
                <a:solidFill>
                  <a:schemeClr val="accent4">
                    <a:lumMod val="75000"/>
                  </a:schemeClr>
                </a:solidFill>
              </a:rPr>
              <a:t>1</a:t>
            </a:r>
            <a:r>
              <a:rPr kumimoji="1" lang="en-US" altLang="ja-JP" sz="2400" b="1">
                <a:solidFill>
                  <a:schemeClr val="accent4">
                    <a:lumMod val="75000"/>
                  </a:schemeClr>
                </a:solidFill>
              </a:rPr>
              <a:t>. </a:t>
            </a:r>
            <a:r>
              <a:rPr kumimoji="1" lang="ja-JP" altLang="en-US" sz="2400" b="1">
                <a:solidFill>
                  <a:schemeClr val="accent4">
                    <a:lumMod val="75000"/>
                  </a:schemeClr>
                </a:solidFill>
              </a:rPr>
              <a:t>何ができるのか</a:t>
            </a:r>
            <a:endParaRPr kumimoji="1" lang="ja-JP" altLang="en-US" sz="2400" b="1" dirty="0">
              <a:solidFill>
                <a:schemeClr val="accent4">
                  <a:lumMod val="75000"/>
                </a:schemeClr>
              </a:solidFill>
            </a:endParaRPr>
          </a:p>
        </p:txBody>
      </p:sp>
      <p:sp>
        <p:nvSpPr>
          <p:cNvPr id="21" name="テキスト ボックス 20">
            <a:extLst>
              <a:ext uri="{FF2B5EF4-FFF2-40B4-BE49-F238E27FC236}">
                <a16:creationId xmlns:a16="http://schemas.microsoft.com/office/drawing/2014/main" id="{CDFACA7D-4D71-E2D4-711C-C60CC549389D}"/>
              </a:ext>
            </a:extLst>
          </p:cNvPr>
          <p:cNvSpPr txBox="1"/>
          <p:nvPr/>
        </p:nvSpPr>
        <p:spPr>
          <a:xfrm>
            <a:off x="264254" y="1483774"/>
            <a:ext cx="3247484" cy="400110"/>
          </a:xfrm>
          <a:prstGeom prst="rect">
            <a:avLst/>
          </a:prstGeom>
          <a:noFill/>
        </p:spPr>
        <p:txBody>
          <a:bodyPr wrap="square" rtlCol="0">
            <a:spAutoFit/>
          </a:bodyPr>
          <a:lstStyle/>
          <a:p>
            <a:r>
              <a:rPr kumimoji="1" lang="ja-JP" altLang="en-US" sz="2000">
                <a:solidFill>
                  <a:srgbClr val="FF76A0"/>
                </a:solidFill>
              </a:rPr>
              <a:t>▍</a:t>
            </a:r>
            <a:r>
              <a:rPr lang="ja-JP" altLang="en-US" sz="2000" b="1"/>
              <a:t>マルチトラップドア</a:t>
            </a:r>
            <a:r>
              <a:rPr lang="en-US" altLang="ja-JP" sz="2000" b="1"/>
              <a:t>(?)</a:t>
            </a:r>
            <a:endParaRPr kumimoji="1" lang="ja-JP" altLang="en-US" sz="2000" b="1" dirty="0"/>
          </a:p>
        </p:txBody>
      </p:sp>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7803E7DC-7EAA-41F0-7A16-983BB65BA8A7}"/>
                  </a:ext>
                </a:extLst>
              </p:cNvPr>
              <p:cNvSpPr txBox="1"/>
              <p:nvPr/>
            </p:nvSpPr>
            <p:spPr>
              <a:xfrm>
                <a:off x="180000" y="4134635"/>
                <a:ext cx="182041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m:t>
                      </m:r>
                    </m:oMath>
                  </m:oMathPara>
                </a14:m>
                <a:endParaRPr kumimoji="1" lang="ja-JP" altLang="en-US"/>
              </a:p>
            </p:txBody>
          </p:sp>
        </mc:Choice>
        <mc:Fallback xmlns="">
          <p:sp>
            <p:nvSpPr>
              <p:cNvPr id="35" name="テキスト ボックス 34">
                <a:extLst>
                  <a:ext uri="{FF2B5EF4-FFF2-40B4-BE49-F238E27FC236}">
                    <a16:creationId xmlns:a16="http://schemas.microsoft.com/office/drawing/2014/main" id="{7803E7DC-7EAA-41F0-7A16-983BB65BA8A7}"/>
                  </a:ext>
                </a:extLst>
              </p:cNvPr>
              <p:cNvSpPr txBox="1">
                <a:spLocks noRot="1" noChangeAspect="1" noMove="1" noResize="1" noEditPoints="1" noAdjustHandles="1" noChangeArrowheads="1" noChangeShapeType="1" noTextEdit="1"/>
              </p:cNvSpPr>
              <p:nvPr/>
            </p:nvSpPr>
            <p:spPr>
              <a:xfrm>
                <a:off x="180000" y="4134635"/>
                <a:ext cx="1820411" cy="369332"/>
              </a:xfrm>
              <a:prstGeom prst="rect">
                <a:avLst/>
              </a:prstGeom>
              <a:blipFill>
                <a:blip r:embed="rId2"/>
                <a:stretch>
                  <a:fillRect/>
                </a:stretch>
              </a:blipFill>
            </p:spPr>
            <p:txBody>
              <a:bodyPr/>
              <a:lstStyle/>
              <a:p>
                <a:r>
                  <a:rPr lang="ja-JP" altLang="en-US">
                    <a:noFill/>
                  </a:rPr>
                  <a:t> </a:t>
                </a:r>
              </a:p>
            </p:txBody>
          </p:sp>
        </mc:Fallback>
      </mc:AlternateContent>
      <p:sp>
        <p:nvSpPr>
          <p:cNvPr id="36" name="正方形/長方形 35">
            <a:extLst>
              <a:ext uri="{FF2B5EF4-FFF2-40B4-BE49-F238E27FC236}">
                <a16:creationId xmlns:a16="http://schemas.microsoft.com/office/drawing/2014/main" id="{8B179694-BCA5-38BB-5460-E8C736863F44}"/>
              </a:ext>
            </a:extLst>
          </p:cNvPr>
          <p:cNvSpPr/>
          <p:nvPr/>
        </p:nvSpPr>
        <p:spPr>
          <a:xfrm>
            <a:off x="377141" y="2187456"/>
            <a:ext cx="1417739" cy="2843868"/>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054CB3F2-BC0A-AAAC-B9DC-382B44E97590}"/>
                  </a:ext>
                </a:extLst>
              </p:cNvPr>
              <p:cNvSpPr txBox="1"/>
              <p:nvPr/>
            </p:nvSpPr>
            <p:spPr>
              <a:xfrm>
                <a:off x="452642" y="2594242"/>
                <a:ext cx="174491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𝑠𝑘</m:t>
                          </m:r>
                        </m:e>
                        <m:sub>
                          <m:r>
                            <a:rPr kumimoji="1" lang="en-US" altLang="ja-JP" b="0" i="1" smtClean="0">
                              <a:latin typeface="Cambria Math" panose="02040503050406030204" pitchFamily="18" charset="0"/>
                            </a:rPr>
                            <m:t>1</m:t>
                          </m:r>
                        </m:sub>
                      </m:sSub>
                    </m:oMath>
                  </m:oMathPara>
                </a14:m>
                <a:endParaRPr kumimoji="1" lang="ja-JP" altLang="en-US"/>
              </a:p>
            </p:txBody>
          </p:sp>
        </mc:Choice>
        <mc:Fallback xmlns="">
          <p:sp>
            <p:nvSpPr>
              <p:cNvPr id="37" name="テキスト ボックス 36">
                <a:extLst>
                  <a:ext uri="{FF2B5EF4-FFF2-40B4-BE49-F238E27FC236}">
                    <a16:creationId xmlns:a16="http://schemas.microsoft.com/office/drawing/2014/main" id="{054CB3F2-BC0A-AAAC-B9DC-382B44E97590}"/>
                  </a:ext>
                </a:extLst>
              </p:cNvPr>
              <p:cNvSpPr txBox="1">
                <a:spLocks noRot="1" noChangeAspect="1" noMove="1" noResize="1" noEditPoints="1" noAdjustHandles="1" noChangeArrowheads="1" noChangeShapeType="1" noTextEdit="1"/>
              </p:cNvSpPr>
              <p:nvPr/>
            </p:nvSpPr>
            <p:spPr>
              <a:xfrm>
                <a:off x="452642" y="2594242"/>
                <a:ext cx="1744910" cy="369332"/>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3" name="テキスト ボックス 42">
                <a:extLst>
                  <a:ext uri="{FF2B5EF4-FFF2-40B4-BE49-F238E27FC236}">
                    <a16:creationId xmlns:a16="http://schemas.microsoft.com/office/drawing/2014/main" id="{ECA6E641-A391-3B09-EA33-799360740BDB}"/>
                  </a:ext>
                </a:extLst>
              </p:cNvPr>
              <p:cNvSpPr txBox="1"/>
              <p:nvPr/>
            </p:nvSpPr>
            <p:spPr>
              <a:xfrm>
                <a:off x="452642" y="3131011"/>
                <a:ext cx="174491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𝑠𝑘</m:t>
                          </m:r>
                        </m:e>
                        <m:sub>
                          <m:r>
                            <a:rPr kumimoji="1" lang="en-US" altLang="ja-JP" b="0" i="1" smtClean="0">
                              <a:latin typeface="Cambria Math" panose="02040503050406030204" pitchFamily="18" charset="0"/>
                            </a:rPr>
                            <m:t>2</m:t>
                          </m:r>
                        </m:sub>
                      </m:sSub>
                    </m:oMath>
                  </m:oMathPara>
                </a14:m>
                <a:endParaRPr kumimoji="1" lang="ja-JP" altLang="en-US"/>
              </a:p>
            </p:txBody>
          </p:sp>
        </mc:Choice>
        <mc:Fallback xmlns="">
          <p:sp>
            <p:nvSpPr>
              <p:cNvPr id="43" name="テキスト ボックス 42">
                <a:extLst>
                  <a:ext uri="{FF2B5EF4-FFF2-40B4-BE49-F238E27FC236}">
                    <a16:creationId xmlns:a16="http://schemas.microsoft.com/office/drawing/2014/main" id="{ECA6E641-A391-3B09-EA33-799360740BDB}"/>
                  </a:ext>
                </a:extLst>
              </p:cNvPr>
              <p:cNvSpPr txBox="1">
                <a:spLocks noRot="1" noChangeAspect="1" noMove="1" noResize="1" noEditPoints="1" noAdjustHandles="1" noChangeArrowheads="1" noChangeShapeType="1" noTextEdit="1"/>
              </p:cNvSpPr>
              <p:nvPr/>
            </p:nvSpPr>
            <p:spPr>
              <a:xfrm>
                <a:off x="452642" y="3131011"/>
                <a:ext cx="1744910" cy="369332"/>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4" name="テキスト ボックス 43">
                <a:extLst>
                  <a:ext uri="{FF2B5EF4-FFF2-40B4-BE49-F238E27FC236}">
                    <a16:creationId xmlns:a16="http://schemas.microsoft.com/office/drawing/2014/main" id="{499C35F4-A7FC-F9F1-4895-B93422703E26}"/>
                  </a:ext>
                </a:extLst>
              </p:cNvPr>
              <p:cNvSpPr txBox="1"/>
              <p:nvPr/>
            </p:nvSpPr>
            <p:spPr>
              <a:xfrm>
                <a:off x="452642" y="3664726"/>
                <a:ext cx="174491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𝑠𝑘</m:t>
                          </m:r>
                        </m:e>
                        <m:sub>
                          <m:r>
                            <a:rPr kumimoji="1" lang="en-US" altLang="ja-JP" b="0" i="1" smtClean="0">
                              <a:latin typeface="Cambria Math" panose="02040503050406030204" pitchFamily="18" charset="0"/>
                            </a:rPr>
                            <m:t>3</m:t>
                          </m:r>
                        </m:sub>
                      </m:sSub>
                    </m:oMath>
                  </m:oMathPara>
                </a14:m>
                <a:endParaRPr kumimoji="1" lang="ja-JP" altLang="en-US"/>
              </a:p>
            </p:txBody>
          </p:sp>
        </mc:Choice>
        <mc:Fallback xmlns="">
          <p:sp>
            <p:nvSpPr>
              <p:cNvPr id="44" name="テキスト ボックス 43">
                <a:extLst>
                  <a:ext uri="{FF2B5EF4-FFF2-40B4-BE49-F238E27FC236}">
                    <a16:creationId xmlns:a16="http://schemas.microsoft.com/office/drawing/2014/main" id="{499C35F4-A7FC-F9F1-4895-B93422703E26}"/>
                  </a:ext>
                </a:extLst>
              </p:cNvPr>
              <p:cNvSpPr txBox="1">
                <a:spLocks noRot="1" noChangeAspect="1" noMove="1" noResize="1" noEditPoints="1" noAdjustHandles="1" noChangeArrowheads="1" noChangeShapeType="1" noTextEdit="1"/>
              </p:cNvSpPr>
              <p:nvPr/>
            </p:nvSpPr>
            <p:spPr>
              <a:xfrm>
                <a:off x="452642" y="3664726"/>
                <a:ext cx="1744910" cy="369332"/>
              </a:xfrm>
              <a:prstGeom prst="rect">
                <a:avLst/>
              </a:prstGeom>
              <a:blipFill>
                <a:blip r:embed="rId5"/>
                <a:stretch>
                  <a:fillRect/>
                </a:stretch>
              </a:blipFill>
            </p:spPr>
            <p:txBody>
              <a:bodyPr/>
              <a:lstStyle/>
              <a:p>
                <a:r>
                  <a:rPr lang="ja-JP" altLang="en-US">
                    <a:noFill/>
                  </a:rPr>
                  <a:t> </a:t>
                </a:r>
              </a:p>
            </p:txBody>
          </p:sp>
        </mc:Fallback>
      </mc:AlternateContent>
      <p:pic>
        <p:nvPicPr>
          <p:cNvPr id="52" name="Picture 2">
            <a:extLst>
              <a:ext uri="{FF2B5EF4-FFF2-40B4-BE49-F238E27FC236}">
                <a16:creationId xmlns:a16="http://schemas.microsoft.com/office/drawing/2014/main" id="{B1B53273-88D2-CE3A-DC28-FB021BE299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274" y="2948696"/>
            <a:ext cx="571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a:extLst>
              <a:ext uri="{FF2B5EF4-FFF2-40B4-BE49-F238E27FC236}">
                <a16:creationId xmlns:a16="http://schemas.microsoft.com/office/drawing/2014/main" id="{38559CF6-AD85-218C-09B2-C1ABF5A430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3867" y="2458393"/>
            <a:ext cx="571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a:extLst>
              <a:ext uri="{FF2B5EF4-FFF2-40B4-BE49-F238E27FC236}">
                <a16:creationId xmlns:a16="http://schemas.microsoft.com/office/drawing/2014/main" id="{33F1F2F3-FD51-3597-527D-31F3691203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642" y="3470719"/>
            <a:ext cx="571500" cy="5715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5" name="テキスト ボックス 54">
                <a:extLst>
                  <a:ext uri="{FF2B5EF4-FFF2-40B4-BE49-F238E27FC236}">
                    <a16:creationId xmlns:a16="http://schemas.microsoft.com/office/drawing/2014/main" id="{D8EB13A8-CA85-E5A8-2D3C-D351BEAAD160}"/>
                  </a:ext>
                </a:extLst>
              </p:cNvPr>
              <p:cNvSpPr txBox="1"/>
              <p:nvPr/>
            </p:nvSpPr>
            <p:spPr>
              <a:xfrm>
                <a:off x="1591447" y="4596383"/>
                <a:ext cx="81792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2000" b="0" i="1" smtClean="0">
                          <a:latin typeface="Cambria Math" panose="02040503050406030204" pitchFamily="18" charset="0"/>
                        </a:rPr>
                        <m:t>𝑝𝑘</m:t>
                      </m:r>
                    </m:oMath>
                  </m:oMathPara>
                </a14:m>
                <a:endParaRPr kumimoji="1" lang="ja-JP" altLang="en-US" sz="2000"/>
              </a:p>
            </p:txBody>
          </p:sp>
        </mc:Choice>
        <mc:Fallback xmlns="">
          <p:sp>
            <p:nvSpPr>
              <p:cNvPr id="55" name="テキスト ボックス 54">
                <a:extLst>
                  <a:ext uri="{FF2B5EF4-FFF2-40B4-BE49-F238E27FC236}">
                    <a16:creationId xmlns:a16="http://schemas.microsoft.com/office/drawing/2014/main" id="{D8EB13A8-CA85-E5A8-2D3C-D351BEAAD160}"/>
                  </a:ext>
                </a:extLst>
              </p:cNvPr>
              <p:cNvSpPr txBox="1">
                <a:spLocks noRot="1" noChangeAspect="1" noMove="1" noResize="1" noEditPoints="1" noAdjustHandles="1" noChangeArrowheads="1" noChangeShapeType="1" noTextEdit="1"/>
              </p:cNvSpPr>
              <p:nvPr/>
            </p:nvSpPr>
            <p:spPr>
              <a:xfrm>
                <a:off x="1591447" y="4596383"/>
                <a:ext cx="817927" cy="400110"/>
              </a:xfrm>
              <a:prstGeom prst="rect">
                <a:avLst/>
              </a:prstGeom>
              <a:blipFill>
                <a:blip r:embed="rId7"/>
                <a:stretch>
                  <a:fillRect b="-13636"/>
                </a:stretch>
              </a:blipFill>
            </p:spPr>
            <p:txBody>
              <a:bodyPr/>
              <a:lstStyle/>
              <a:p>
                <a:r>
                  <a:rPr lang="ja-JP" altLang="en-US">
                    <a:noFill/>
                  </a:rPr>
                  <a:t> </a:t>
                </a:r>
              </a:p>
            </p:txBody>
          </p:sp>
        </mc:Fallback>
      </mc:AlternateContent>
      <p:pic>
        <p:nvPicPr>
          <p:cNvPr id="56" name="Picture 8">
            <a:extLst>
              <a:ext uri="{FF2B5EF4-FFF2-40B4-BE49-F238E27FC236}">
                <a16:creationId xmlns:a16="http://schemas.microsoft.com/office/drawing/2014/main" id="{EFAD9912-47DC-C0F3-5F22-65AFA93EA74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11737" y="3322668"/>
            <a:ext cx="544761" cy="544761"/>
          </a:xfrm>
          <a:prstGeom prst="rect">
            <a:avLst/>
          </a:prstGeom>
          <a:noFill/>
          <a:extLst>
            <a:ext uri="{909E8E84-426E-40DD-AFC4-6F175D3DCCD1}">
              <a14:hiddenFill xmlns:a14="http://schemas.microsoft.com/office/drawing/2010/main">
                <a:solidFill>
                  <a:srgbClr val="FFFFFF"/>
                </a:solidFill>
              </a14:hiddenFill>
            </a:ext>
          </a:extLst>
        </p:spPr>
      </p:pic>
      <p:cxnSp>
        <p:nvCxnSpPr>
          <p:cNvPr id="57" name="直線矢印コネクタ 56">
            <a:extLst>
              <a:ext uri="{FF2B5EF4-FFF2-40B4-BE49-F238E27FC236}">
                <a16:creationId xmlns:a16="http://schemas.microsoft.com/office/drawing/2014/main" id="{1735A04E-06DB-252C-0804-06E166E0ADAD}"/>
              </a:ext>
            </a:extLst>
          </p:cNvPr>
          <p:cNvCxnSpPr>
            <a:cxnSpLocks/>
          </p:cNvCxnSpPr>
          <p:nvPr/>
        </p:nvCxnSpPr>
        <p:spPr>
          <a:xfrm>
            <a:off x="2123725" y="3612550"/>
            <a:ext cx="122862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テキスト ボックス 57">
            <a:extLst>
              <a:ext uri="{FF2B5EF4-FFF2-40B4-BE49-F238E27FC236}">
                <a16:creationId xmlns:a16="http://schemas.microsoft.com/office/drawing/2014/main" id="{C02505BC-C17A-4E96-8762-39E6D11868CD}"/>
              </a:ext>
            </a:extLst>
          </p:cNvPr>
          <p:cNvSpPr txBox="1"/>
          <p:nvPr/>
        </p:nvSpPr>
        <p:spPr>
          <a:xfrm>
            <a:off x="1750483" y="3208746"/>
            <a:ext cx="1963024" cy="369332"/>
          </a:xfrm>
          <a:prstGeom prst="rect">
            <a:avLst/>
          </a:prstGeom>
          <a:noFill/>
        </p:spPr>
        <p:txBody>
          <a:bodyPr wrap="square" rtlCol="0">
            <a:spAutoFit/>
          </a:bodyPr>
          <a:lstStyle/>
          <a:p>
            <a:pPr algn="ctr"/>
            <a:r>
              <a:rPr kumimoji="1" lang="ja-JP" altLang="en-US"/>
              <a:t>署名</a:t>
            </a:r>
          </a:p>
        </p:txBody>
      </p:sp>
      <p:sp>
        <p:nvSpPr>
          <p:cNvPr id="61" name="テキスト ボックス 60">
            <a:extLst>
              <a:ext uri="{FF2B5EF4-FFF2-40B4-BE49-F238E27FC236}">
                <a16:creationId xmlns:a16="http://schemas.microsoft.com/office/drawing/2014/main" id="{E36AC379-420F-68CF-E383-FE3D5C14257A}"/>
              </a:ext>
            </a:extLst>
          </p:cNvPr>
          <p:cNvSpPr txBox="1"/>
          <p:nvPr/>
        </p:nvSpPr>
        <p:spPr>
          <a:xfrm>
            <a:off x="264254" y="5438110"/>
            <a:ext cx="5381538" cy="646331"/>
          </a:xfrm>
          <a:prstGeom prst="rect">
            <a:avLst/>
          </a:prstGeom>
          <a:noFill/>
        </p:spPr>
        <p:txBody>
          <a:bodyPr wrap="square" rtlCol="0">
            <a:spAutoFit/>
          </a:bodyPr>
          <a:lstStyle/>
          <a:p>
            <a:r>
              <a:rPr kumimoji="1" lang="ja-JP" altLang="en-US"/>
              <a:t>誰かが署名したら</a:t>
            </a:r>
            <a:r>
              <a:rPr kumimoji="1" lang="en-US" altLang="ja-JP"/>
              <a:t>, </a:t>
            </a:r>
            <a:r>
              <a:rPr kumimoji="1" lang="ja-JP" altLang="en-US"/>
              <a:t>メンバーの誰かしらが署名したことのみ検証でき</a:t>
            </a:r>
            <a:r>
              <a:rPr kumimoji="1" lang="en-US" altLang="ja-JP"/>
              <a:t>, </a:t>
            </a:r>
            <a:r>
              <a:rPr kumimoji="1" lang="ja-JP" altLang="en-US"/>
              <a:t>誰が署名したかはわからない</a:t>
            </a:r>
            <a:r>
              <a:rPr kumimoji="1" lang="en-US" altLang="ja-JP"/>
              <a:t>.</a:t>
            </a:r>
          </a:p>
        </p:txBody>
      </p:sp>
      <p:sp>
        <p:nvSpPr>
          <p:cNvPr id="63" name="テキスト ボックス 62">
            <a:extLst>
              <a:ext uri="{FF2B5EF4-FFF2-40B4-BE49-F238E27FC236}">
                <a16:creationId xmlns:a16="http://schemas.microsoft.com/office/drawing/2014/main" id="{8E354CF4-E6B8-B8E3-C44E-8AE91A0DA538}"/>
              </a:ext>
            </a:extLst>
          </p:cNvPr>
          <p:cNvSpPr txBox="1"/>
          <p:nvPr/>
        </p:nvSpPr>
        <p:spPr>
          <a:xfrm>
            <a:off x="6546210" y="1483774"/>
            <a:ext cx="3247484" cy="400110"/>
          </a:xfrm>
          <a:prstGeom prst="rect">
            <a:avLst/>
          </a:prstGeom>
          <a:noFill/>
        </p:spPr>
        <p:txBody>
          <a:bodyPr wrap="square" rtlCol="0">
            <a:spAutoFit/>
          </a:bodyPr>
          <a:lstStyle/>
          <a:p>
            <a:r>
              <a:rPr kumimoji="1" lang="ja-JP" altLang="en-US" sz="2000">
                <a:solidFill>
                  <a:srgbClr val="FF76A0"/>
                </a:solidFill>
              </a:rPr>
              <a:t>▍</a:t>
            </a:r>
            <a:r>
              <a:rPr lang="ja-JP" altLang="en-US" sz="2000" b="1"/>
              <a:t>動的メンバーシップ</a:t>
            </a:r>
            <a:endParaRPr kumimoji="1" lang="ja-JP" altLang="en-US" sz="2000" b="1" dirty="0"/>
          </a:p>
        </p:txBody>
      </p:sp>
      <p:sp>
        <p:nvSpPr>
          <p:cNvPr id="65" name="正方形/長方形 64">
            <a:extLst>
              <a:ext uri="{FF2B5EF4-FFF2-40B4-BE49-F238E27FC236}">
                <a16:creationId xmlns:a16="http://schemas.microsoft.com/office/drawing/2014/main" id="{E1B6E557-3ECC-E380-B6AD-7D8C208074E5}"/>
              </a:ext>
            </a:extLst>
          </p:cNvPr>
          <p:cNvSpPr/>
          <p:nvPr/>
        </p:nvSpPr>
        <p:spPr>
          <a:xfrm>
            <a:off x="8231860" y="2190616"/>
            <a:ext cx="1417739" cy="2843868"/>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66" name="テキスト ボックス 65">
                <a:extLst>
                  <a:ext uri="{FF2B5EF4-FFF2-40B4-BE49-F238E27FC236}">
                    <a16:creationId xmlns:a16="http://schemas.microsoft.com/office/drawing/2014/main" id="{B67F5D0C-8759-DC53-62F3-F901AA362216}"/>
                  </a:ext>
                </a:extLst>
              </p:cNvPr>
              <p:cNvSpPr txBox="1"/>
              <p:nvPr/>
            </p:nvSpPr>
            <p:spPr>
              <a:xfrm>
                <a:off x="8307361" y="2597402"/>
                <a:ext cx="174491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𝑠𝑘</m:t>
                          </m:r>
                        </m:e>
                        <m:sub>
                          <m:r>
                            <a:rPr kumimoji="1" lang="en-US" altLang="ja-JP" b="0" i="1" smtClean="0">
                              <a:latin typeface="Cambria Math" panose="02040503050406030204" pitchFamily="18" charset="0"/>
                            </a:rPr>
                            <m:t>1</m:t>
                          </m:r>
                        </m:sub>
                      </m:sSub>
                    </m:oMath>
                  </m:oMathPara>
                </a14:m>
                <a:endParaRPr kumimoji="1" lang="ja-JP" altLang="en-US"/>
              </a:p>
            </p:txBody>
          </p:sp>
        </mc:Choice>
        <mc:Fallback xmlns="">
          <p:sp>
            <p:nvSpPr>
              <p:cNvPr id="66" name="テキスト ボックス 65">
                <a:extLst>
                  <a:ext uri="{FF2B5EF4-FFF2-40B4-BE49-F238E27FC236}">
                    <a16:creationId xmlns:a16="http://schemas.microsoft.com/office/drawing/2014/main" id="{B67F5D0C-8759-DC53-62F3-F901AA362216}"/>
                  </a:ext>
                </a:extLst>
              </p:cNvPr>
              <p:cNvSpPr txBox="1">
                <a:spLocks noRot="1" noChangeAspect="1" noMove="1" noResize="1" noEditPoints="1" noAdjustHandles="1" noChangeArrowheads="1" noChangeShapeType="1" noTextEdit="1"/>
              </p:cNvSpPr>
              <p:nvPr/>
            </p:nvSpPr>
            <p:spPr>
              <a:xfrm>
                <a:off x="8307361" y="2597402"/>
                <a:ext cx="1744910" cy="369332"/>
              </a:xfrm>
              <a:prstGeom prst="rect">
                <a:avLst/>
              </a:prstGeom>
              <a:blipFill>
                <a:blip r:embed="rId9"/>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7" name="テキスト ボックス 66">
                <a:extLst>
                  <a:ext uri="{FF2B5EF4-FFF2-40B4-BE49-F238E27FC236}">
                    <a16:creationId xmlns:a16="http://schemas.microsoft.com/office/drawing/2014/main" id="{B3ACA3C8-AB33-7C88-71FD-773965AA237B}"/>
                  </a:ext>
                </a:extLst>
              </p:cNvPr>
              <p:cNvSpPr txBox="1"/>
              <p:nvPr/>
            </p:nvSpPr>
            <p:spPr>
              <a:xfrm>
                <a:off x="8307361" y="3134171"/>
                <a:ext cx="174491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𝑠𝑘</m:t>
                          </m:r>
                        </m:e>
                        <m:sub>
                          <m:r>
                            <a:rPr kumimoji="1" lang="en-US" altLang="ja-JP" b="0" i="1" smtClean="0">
                              <a:latin typeface="Cambria Math" panose="02040503050406030204" pitchFamily="18" charset="0"/>
                            </a:rPr>
                            <m:t>2</m:t>
                          </m:r>
                        </m:sub>
                      </m:sSub>
                    </m:oMath>
                  </m:oMathPara>
                </a14:m>
                <a:endParaRPr kumimoji="1" lang="ja-JP" altLang="en-US"/>
              </a:p>
            </p:txBody>
          </p:sp>
        </mc:Choice>
        <mc:Fallback xmlns="">
          <p:sp>
            <p:nvSpPr>
              <p:cNvPr id="67" name="テキスト ボックス 66">
                <a:extLst>
                  <a:ext uri="{FF2B5EF4-FFF2-40B4-BE49-F238E27FC236}">
                    <a16:creationId xmlns:a16="http://schemas.microsoft.com/office/drawing/2014/main" id="{B3ACA3C8-AB33-7C88-71FD-773965AA237B}"/>
                  </a:ext>
                </a:extLst>
              </p:cNvPr>
              <p:cNvSpPr txBox="1">
                <a:spLocks noRot="1" noChangeAspect="1" noMove="1" noResize="1" noEditPoints="1" noAdjustHandles="1" noChangeArrowheads="1" noChangeShapeType="1" noTextEdit="1"/>
              </p:cNvSpPr>
              <p:nvPr/>
            </p:nvSpPr>
            <p:spPr>
              <a:xfrm>
                <a:off x="8307361" y="3134171"/>
                <a:ext cx="1744910" cy="369332"/>
              </a:xfrm>
              <a:prstGeom prst="rect">
                <a:avLst/>
              </a:prstGeom>
              <a:blipFill>
                <a:blip r:embed="rId10"/>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8" name="テキスト ボックス 67">
                <a:extLst>
                  <a:ext uri="{FF2B5EF4-FFF2-40B4-BE49-F238E27FC236}">
                    <a16:creationId xmlns:a16="http://schemas.microsoft.com/office/drawing/2014/main" id="{8F31821B-1A40-1B80-36B3-B7F5EA5962C7}"/>
                  </a:ext>
                </a:extLst>
              </p:cNvPr>
              <p:cNvSpPr txBox="1"/>
              <p:nvPr/>
            </p:nvSpPr>
            <p:spPr>
              <a:xfrm>
                <a:off x="9878984" y="3723741"/>
                <a:ext cx="174491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𝑠𝑘</m:t>
                          </m:r>
                        </m:e>
                        <m:sub>
                          <m:r>
                            <a:rPr kumimoji="1" lang="en-US" altLang="ja-JP" b="0" i="1" smtClean="0">
                              <a:latin typeface="Cambria Math" panose="02040503050406030204" pitchFamily="18" charset="0"/>
                            </a:rPr>
                            <m:t>3</m:t>
                          </m:r>
                        </m:sub>
                      </m:sSub>
                    </m:oMath>
                  </m:oMathPara>
                </a14:m>
                <a:endParaRPr kumimoji="1" lang="ja-JP" altLang="en-US"/>
              </a:p>
            </p:txBody>
          </p:sp>
        </mc:Choice>
        <mc:Fallback xmlns="">
          <p:sp>
            <p:nvSpPr>
              <p:cNvPr id="68" name="テキスト ボックス 67">
                <a:extLst>
                  <a:ext uri="{FF2B5EF4-FFF2-40B4-BE49-F238E27FC236}">
                    <a16:creationId xmlns:a16="http://schemas.microsoft.com/office/drawing/2014/main" id="{8F31821B-1A40-1B80-36B3-B7F5EA5962C7}"/>
                  </a:ext>
                </a:extLst>
              </p:cNvPr>
              <p:cNvSpPr txBox="1">
                <a:spLocks noRot="1" noChangeAspect="1" noMove="1" noResize="1" noEditPoints="1" noAdjustHandles="1" noChangeArrowheads="1" noChangeShapeType="1" noTextEdit="1"/>
              </p:cNvSpPr>
              <p:nvPr/>
            </p:nvSpPr>
            <p:spPr>
              <a:xfrm>
                <a:off x="9878984" y="3723741"/>
                <a:ext cx="1744910" cy="369332"/>
              </a:xfrm>
              <a:prstGeom prst="rect">
                <a:avLst/>
              </a:prstGeom>
              <a:blipFill>
                <a:blip r:embed="rId11"/>
                <a:stretch>
                  <a:fillRect/>
                </a:stretch>
              </a:blipFill>
            </p:spPr>
            <p:txBody>
              <a:bodyPr/>
              <a:lstStyle/>
              <a:p>
                <a:r>
                  <a:rPr lang="ja-JP" altLang="en-US">
                    <a:noFill/>
                  </a:rPr>
                  <a:t> </a:t>
                </a:r>
              </a:p>
            </p:txBody>
          </p:sp>
        </mc:Fallback>
      </mc:AlternateContent>
      <p:pic>
        <p:nvPicPr>
          <p:cNvPr id="69" name="Picture 2">
            <a:extLst>
              <a:ext uri="{FF2B5EF4-FFF2-40B4-BE49-F238E27FC236}">
                <a16:creationId xmlns:a16="http://schemas.microsoft.com/office/drawing/2014/main" id="{6265C394-616C-0EB5-073D-6E65976B00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2993" y="2951856"/>
            <a:ext cx="571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
            <a:extLst>
              <a:ext uri="{FF2B5EF4-FFF2-40B4-BE49-F238E27FC236}">
                <a16:creationId xmlns:a16="http://schemas.microsoft.com/office/drawing/2014/main" id="{FC487E4F-03BB-04E0-7D61-49CD795CCF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8586" y="2461553"/>
            <a:ext cx="571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2">
            <a:extLst>
              <a:ext uri="{FF2B5EF4-FFF2-40B4-BE49-F238E27FC236}">
                <a16:creationId xmlns:a16="http://schemas.microsoft.com/office/drawing/2014/main" id="{0AA4F86A-3E63-AE7B-2B8D-B12753A7A34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78984" y="3529734"/>
            <a:ext cx="571500" cy="5715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2" name="テキスト ボックス 71">
                <a:extLst>
                  <a:ext uri="{FF2B5EF4-FFF2-40B4-BE49-F238E27FC236}">
                    <a16:creationId xmlns:a16="http://schemas.microsoft.com/office/drawing/2014/main" id="{D3ECAEDF-FA63-B9C9-0368-9CB256E12E4E}"/>
                  </a:ext>
                </a:extLst>
              </p:cNvPr>
              <p:cNvSpPr txBox="1"/>
              <p:nvPr/>
            </p:nvSpPr>
            <p:spPr>
              <a:xfrm>
                <a:off x="9446166" y="4599543"/>
                <a:ext cx="81792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2000" b="0" i="1" smtClean="0">
                          <a:latin typeface="Cambria Math" panose="02040503050406030204" pitchFamily="18" charset="0"/>
                        </a:rPr>
                        <m:t>𝑝𝑘</m:t>
                      </m:r>
                    </m:oMath>
                  </m:oMathPara>
                </a14:m>
                <a:endParaRPr kumimoji="1" lang="ja-JP" altLang="en-US" sz="2000"/>
              </a:p>
            </p:txBody>
          </p:sp>
        </mc:Choice>
        <mc:Fallback xmlns="">
          <p:sp>
            <p:nvSpPr>
              <p:cNvPr id="72" name="テキスト ボックス 71">
                <a:extLst>
                  <a:ext uri="{FF2B5EF4-FFF2-40B4-BE49-F238E27FC236}">
                    <a16:creationId xmlns:a16="http://schemas.microsoft.com/office/drawing/2014/main" id="{D3ECAEDF-FA63-B9C9-0368-9CB256E12E4E}"/>
                  </a:ext>
                </a:extLst>
              </p:cNvPr>
              <p:cNvSpPr txBox="1">
                <a:spLocks noRot="1" noChangeAspect="1" noMove="1" noResize="1" noEditPoints="1" noAdjustHandles="1" noChangeArrowheads="1" noChangeShapeType="1" noTextEdit="1"/>
              </p:cNvSpPr>
              <p:nvPr/>
            </p:nvSpPr>
            <p:spPr>
              <a:xfrm>
                <a:off x="9446166" y="4599543"/>
                <a:ext cx="817927" cy="400110"/>
              </a:xfrm>
              <a:prstGeom prst="rect">
                <a:avLst/>
              </a:prstGeom>
              <a:blipFill>
                <a:blip r:embed="rId12"/>
                <a:stretch>
                  <a:fillRect b="-1538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2" name="テキスト ボックス 81">
                <a:extLst>
                  <a:ext uri="{FF2B5EF4-FFF2-40B4-BE49-F238E27FC236}">
                    <a16:creationId xmlns:a16="http://schemas.microsoft.com/office/drawing/2014/main" id="{05493763-1FB6-9F42-55F1-74F196F4E53B}"/>
                  </a:ext>
                </a:extLst>
              </p:cNvPr>
              <p:cNvSpPr txBox="1"/>
              <p:nvPr/>
            </p:nvSpPr>
            <p:spPr>
              <a:xfrm>
                <a:off x="8437391" y="4174680"/>
                <a:ext cx="174491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𝑠𝑘</m:t>
                          </m:r>
                        </m:e>
                        <m:sub>
                          <m:r>
                            <m:rPr>
                              <m:sty m:val="p"/>
                            </m:rPr>
                            <a:rPr kumimoji="1" lang="en-US" altLang="ja-JP" b="0" i="0" smtClean="0">
                              <a:latin typeface="Cambria Math" panose="02040503050406030204" pitchFamily="18" charset="0"/>
                            </a:rPr>
                            <m:t>new</m:t>
                          </m:r>
                        </m:sub>
                      </m:sSub>
                    </m:oMath>
                  </m:oMathPara>
                </a14:m>
                <a:endParaRPr kumimoji="1" lang="ja-JP" altLang="en-US"/>
              </a:p>
            </p:txBody>
          </p:sp>
        </mc:Choice>
        <mc:Fallback xmlns="">
          <p:sp>
            <p:nvSpPr>
              <p:cNvPr id="82" name="テキスト ボックス 81">
                <a:extLst>
                  <a:ext uri="{FF2B5EF4-FFF2-40B4-BE49-F238E27FC236}">
                    <a16:creationId xmlns:a16="http://schemas.microsoft.com/office/drawing/2014/main" id="{05493763-1FB6-9F42-55F1-74F196F4E53B}"/>
                  </a:ext>
                </a:extLst>
              </p:cNvPr>
              <p:cNvSpPr txBox="1">
                <a:spLocks noRot="1" noChangeAspect="1" noMove="1" noResize="1" noEditPoints="1" noAdjustHandles="1" noChangeArrowheads="1" noChangeShapeType="1" noTextEdit="1"/>
              </p:cNvSpPr>
              <p:nvPr/>
            </p:nvSpPr>
            <p:spPr>
              <a:xfrm>
                <a:off x="8437391" y="4174680"/>
                <a:ext cx="1744910" cy="369332"/>
              </a:xfrm>
              <a:prstGeom prst="rect">
                <a:avLst/>
              </a:prstGeom>
              <a:blipFill>
                <a:blip r:embed="rId13"/>
                <a:stretch>
                  <a:fillRect/>
                </a:stretch>
              </a:blipFill>
            </p:spPr>
            <p:txBody>
              <a:bodyPr/>
              <a:lstStyle/>
              <a:p>
                <a:r>
                  <a:rPr lang="ja-JP" altLang="en-US">
                    <a:noFill/>
                  </a:rPr>
                  <a:t> </a:t>
                </a:r>
              </a:p>
            </p:txBody>
          </p:sp>
        </mc:Fallback>
      </mc:AlternateContent>
      <p:pic>
        <p:nvPicPr>
          <p:cNvPr id="83" name="Picture 2">
            <a:extLst>
              <a:ext uri="{FF2B5EF4-FFF2-40B4-BE49-F238E27FC236}">
                <a16:creationId xmlns:a16="http://schemas.microsoft.com/office/drawing/2014/main" id="{6E25760F-BFDF-0D0B-7EBE-A365ABBD2A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7361" y="4013659"/>
            <a:ext cx="571500" cy="571500"/>
          </a:xfrm>
          <a:prstGeom prst="rect">
            <a:avLst/>
          </a:prstGeom>
          <a:noFill/>
          <a:extLst>
            <a:ext uri="{909E8E84-426E-40DD-AFC4-6F175D3DCCD1}">
              <a14:hiddenFill xmlns:a14="http://schemas.microsoft.com/office/drawing/2010/main">
                <a:solidFill>
                  <a:srgbClr val="FFFFFF"/>
                </a:solidFill>
              </a14:hiddenFill>
            </a:ext>
          </a:extLst>
        </p:spPr>
      </p:pic>
      <p:sp>
        <p:nvSpPr>
          <p:cNvPr id="84" name="楕円 83">
            <a:extLst>
              <a:ext uri="{FF2B5EF4-FFF2-40B4-BE49-F238E27FC236}">
                <a16:creationId xmlns:a16="http://schemas.microsoft.com/office/drawing/2014/main" id="{C884D531-B236-E9B6-F465-E94C95C407C4}"/>
              </a:ext>
            </a:extLst>
          </p:cNvPr>
          <p:cNvSpPr>
            <a:spLocks noChangeAspect="1"/>
          </p:cNvSpPr>
          <p:nvPr/>
        </p:nvSpPr>
        <p:spPr>
          <a:xfrm>
            <a:off x="8521280" y="3706645"/>
            <a:ext cx="226503" cy="22650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6" name="直線矢印コネクタ 85">
            <a:extLst>
              <a:ext uri="{FF2B5EF4-FFF2-40B4-BE49-F238E27FC236}">
                <a16:creationId xmlns:a16="http://schemas.microsoft.com/office/drawing/2014/main" id="{5333A7D8-27DB-E633-B149-CAB4ACF8C381}"/>
              </a:ext>
            </a:extLst>
          </p:cNvPr>
          <p:cNvCxnSpPr>
            <a:cxnSpLocks/>
          </p:cNvCxnSpPr>
          <p:nvPr/>
        </p:nvCxnSpPr>
        <p:spPr>
          <a:xfrm>
            <a:off x="8634532" y="3819897"/>
            <a:ext cx="130448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0" name="楕円 89">
            <a:extLst>
              <a:ext uri="{FF2B5EF4-FFF2-40B4-BE49-F238E27FC236}">
                <a16:creationId xmlns:a16="http://schemas.microsoft.com/office/drawing/2014/main" id="{87D4368E-F395-3C50-E285-E39FFABB9A1A}"/>
              </a:ext>
            </a:extLst>
          </p:cNvPr>
          <p:cNvSpPr>
            <a:spLocks noChangeAspect="1"/>
          </p:cNvSpPr>
          <p:nvPr/>
        </p:nvSpPr>
        <p:spPr>
          <a:xfrm>
            <a:off x="7558025" y="4175659"/>
            <a:ext cx="226503" cy="22650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1" name="直線矢印コネクタ 90">
            <a:extLst>
              <a:ext uri="{FF2B5EF4-FFF2-40B4-BE49-F238E27FC236}">
                <a16:creationId xmlns:a16="http://schemas.microsoft.com/office/drawing/2014/main" id="{C8422ACB-77EB-1916-4285-73BAA1BBF142}"/>
              </a:ext>
            </a:extLst>
          </p:cNvPr>
          <p:cNvCxnSpPr>
            <a:cxnSpLocks/>
          </p:cNvCxnSpPr>
          <p:nvPr/>
        </p:nvCxnSpPr>
        <p:spPr>
          <a:xfrm>
            <a:off x="7671277" y="4288911"/>
            <a:ext cx="72688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3" name="テキスト ボックス 92">
            <a:extLst>
              <a:ext uri="{FF2B5EF4-FFF2-40B4-BE49-F238E27FC236}">
                <a16:creationId xmlns:a16="http://schemas.microsoft.com/office/drawing/2014/main" id="{1D6585C6-4FE6-BD26-962E-3DDA88F6FBE9}"/>
              </a:ext>
            </a:extLst>
          </p:cNvPr>
          <p:cNvSpPr txBox="1"/>
          <p:nvPr/>
        </p:nvSpPr>
        <p:spPr>
          <a:xfrm>
            <a:off x="6630099" y="5473354"/>
            <a:ext cx="3618988" cy="369332"/>
          </a:xfrm>
          <a:prstGeom prst="rect">
            <a:avLst/>
          </a:prstGeom>
          <a:noFill/>
        </p:spPr>
        <p:txBody>
          <a:bodyPr wrap="square" rtlCol="0">
            <a:spAutoFit/>
          </a:bodyPr>
          <a:lstStyle/>
          <a:p>
            <a:r>
              <a:rPr kumimoji="1" lang="ja-JP" altLang="en-US"/>
              <a:t>メンバーの追加と除外ができる</a:t>
            </a:r>
            <a:r>
              <a:rPr kumimoji="1" lang="en-US" altLang="ja-JP"/>
              <a:t>.</a:t>
            </a:r>
            <a:endParaRPr kumimoji="1" lang="ja-JP" altLang="en-US"/>
          </a:p>
        </p:txBody>
      </p:sp>
    </p:spTree>
    <p:extLst>
      <p:ext uri="{BB962C8B-B14F-4D97-AF65-F5344CB8AC3E}">
        <p14:creationId xmlns:p14="http://schemas.microsoft.com/office/powerpoint/2010/main" val="3120343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6EBC395-A196-F242-4385-0DA1AB318B3B}"/>
              </a:ext>
            </a:extLst>
          </p:cNvPr>
          <p:cNvSpPr txBox="1"/>
          <p:nvPr/>
        </p:nvSpPr>
        <p:spPr>
          <a:xfrm>
            <a:off x="180000" y="180000"/>
            <a:ext cx="5558070" cy="584775"/>
          </a:xfrm>
          <a:prstGeom prst="rect">
            <a:avLst/>
          </a:prstGeom>
          <a:noFill/>
        </p:spPr>
        <p:txBody>
          <a:bodyPr wrap="square" rtlCol="0">
            <a:spAutoFit/>
          </a:bodyPr>
          <a:lstStyle/>
          <a:p>
            <a:r>
              <a:rPr lang="en-US" altLang="ja-JP" sz="3200" b="1" dirty="0">
                <a:solidFill>
                  <a:schemeClr val="accent4">
                    <a:lumMod val="75000"/>
                  </a:schemeClr>
                </a:solidFill>
              </a:rPr>
              <a:t>0</a:t>
            </a:r>
            <a:r>
              <a:rPr lang="en-US" altLang="ja-JP" sz="3200" b="1">
                <a:solidFill>
                  <a:schemeClr val="accent4">
                    <a:lumMod val="75000"/>
                  </a:schemeClr>
                </a:solidFill>
              </a:rPr>
              <a:t>.</a:t>
            </a:r>
            <a:r>
              <a:rPr lang="ja-JP" altLang="en-US" sz="3200" b="1">
                <a:solidFill>
                  <a:schemeClr val="accent4">
                    <a:lumMod val="75000"/>
                  </a:schemeClr>
                </a:solidFill>
              </a:rPr>
              <a:t> 概要</a:t>
            </a:r>
            <a:endParaRPr lang="en-US" altLang="ja-JP" sz="3200" b="1" dirty="0">
              <a:solidFill>
                <a:schemeClr val="accent4">
                  <a:lumMod val="75000"/>
                </a:schemeClr>
              </a:solidFill>
            </a:endParaRPr>
          </a:p>
        </p:txBody>
      </p:sp>
      <p:sp>
        <p:nvSpPr>
          <p:cNvPr id="5" name="楕円 4">
            <a:extLst>
              <a:ext uri="{FF2B5EF4-FFF2-40B4-BE49-F238E27FC236}">
                <a16:creationId xmlns:a16="http://schemas.microsoft.com/office/drawing/2014/main" id="{5908883D-9D3A-7782-DB75-8E2BE22730AA}"/>
              </a:ext>
            </a:extLst>
          </p:cNvPr>
          <p:cNvSpPr>
            <a:spLocks noChangeAspect="1"/>
          </p:cNvSpPr>
          <p:nvPr/>
        </p:nvSpPr>
        <p:spPr>
          <a:xfrm>
            <a:off x="948654" y="2425445"/>
            <a:ext cx="2325558" cy="2325558"/>
          </a:xfrm>
          <a:prstGeom prst="ellipse">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743557B5-E03D-9A0A-C31B-DCF9D0084613}"/>
              </a:ext>
            </a:extLst>
          </p:cNvPr>
          <p:cNvSpPr>
            <a:spLocks noChangeAspect="1"/>
          </p:cNvSpPr>
          <p:nvPr/>
        </p:nvSpPr>
        <p:spPr>
          <a:xfrm>
            <a:off x="1853599" y="3431592"/>
            <a:ext cx="626410" cy="62641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7" name="正方形/長方形 6">
                <a:extLst>
                  <a:ext uri="{FF2B5EF4-FFF2-40B4-BE49-F238E27FC236}">
                    <a16:creationId xmlns:a16="http://schemas.microsoft.com/office/drawing/2014/main" id="{46E196D5-2F4C-E774-14AA-7AFBB8136321}"/>
                  </a:ext>
                </a:extLst>
              </p:cNvPr>
              <p:cNvSpPr/>
              <p:nvPr/>
            </p:nvSpPr>
            <p:spPr>
              <a:xfrm>
                <a:off x="1116067" y="2550713"/>
                <a:ext cx="538731"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ja-JP" altLang="en-US" i="1" smtClean="0">
                          <a:solidFill>
                            <a:schemeClr val="tx1"/>
                          </a:solidFill>
                          <a:latin typeface="Cambria Math" panose="02040503050406030204" pitchFamily="18" charset="0"/>
                        </a:rPr>
                        <m:t>𝕍</m:t>
                      </m:r>
                      <m:r>
                        <a:rPr kumimoji="1" lang="en-US" altLang="ja-JP" b="0" i="1" smtClean="0">
                          <a:solidFill>
                            <a:schemeClr val="tx1"/>
                          </a:solidFill>
                          <a:latin typeface="Cambria Math" panose="02040503050406030204" pitchFamily="18" charset="0"/>
                        </a:rPr>
                        <m:t>(</m:t>
                      </m:r>
                      <m:r>
                        <a:rPr kumimoji="1" lang="en-US" altLang="ja-JP" b="0" i="1" smtClean="0">
                          <a:solidFill>
                            <a:schemeClr val="tx1"/>
                          </a:solidFill>
                          <a:latin typeface="Cambria Math" panose="02040503050406030204" pitchFamily="18" charset="0"/>
                        </a:rPr>
                        <m:t>𝑃</m:t>
                      </m:r>
                      <m:r>
                        <a:rPr kumimoji="1" lang="en-US" altLang="ja-JP" b="0" i="1" smtClean="0">
                          <a:solidFill>
                            <a:schemeClr val="tx1"/>
                          </a:solidFill>
                          <a:latin typeface="Cambria Math" panose="02040503050406030204" pitchFamily="18" charset="0"/>
                        </a:rPr>
                        <m:t>)</m:t>
                      </m:r>
                    </m:oMath>
                  </m:oMathPara>
                </a14:m>
                <a:endParaRPr kumimoji="1" lang="ja-JP" altLang="en-US"/>
              </a:p>
            </p:txBody>
          </p:sp>
        </mc:Choice>
        <mc:Fallback xmlns="">
          <p:sp>
            <p:nvSpPr>
              <p:cNvPr id="7" name="正方形/長方形 6">
                <a:extLst>
                  <a:ext uri="{FF2B5EF4-FFF2-40B4-BE49-F238E27FC236}">
                    <a16:creationId xmlns:a16="http://schemas.microsoft.com/office/drawing/2014/main" id="{46E196D5-2F4C-E774-14AA-7AFBB8136321}"/>
                  </a:ext>
                </a:extLst>
              </p:cNvPr>
              <p:cNvSpPr>
                <a:spLocks noRot="1" noChangeAspect="1" noMove="1" noResize="1" noEditPoints="1" noAdjustHandles="1" noChangeArrowheads="1" noChangeShapeType="1" noTextEdit="1"/>
              </p:cNvSpPr>
              <p:nvPr/>
            </p:nvSpPr>
            <p:spPr>
              <a:xfrm>
                <a:off x="1116067" y="2550713"/>
                <a:ext cx="538731" cy="365125"/>
              </a:xfrm>
              <a:prstGeom prst="rect">
                <a:avLst/>
              </a:prstGeom>
              <a:blipFill>
                <a:blip r:embed="rId2"/>
                <a:stretch>
                  <a:fillRect l="-17045" r="-11364" b="-15000"/>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正方形/長方形 7">
                <a:extLst>
                  <a:ext uri="{FF2B5EF4-FFF2-40B4-BE49-F238E27FC236}">
                    <a16:creationId xmlns:a16="http://schemas.microsoft.com/office/drawing/2014/main" id="{D2E1471D-32D8-E904-F304-486A84DB1AB6}"/>
                  </a:ext>
                </a:extLst>
              </p:cNvPr>
              <p:cNvSpPr/>
              <p:nvPr/>
            </p:nvSpPr>
            <p:spPr>
              <a:xfrm>
                <a:off x="1810384" y="3285341"/>
                <a:ext cx="297213"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ja-JP" altLang="en-US" sz="2000" b="0" i="1" smtClean="0">
                          <a:solidFill>
                            <a:schemeClr val="tx1"/>
                          </a:solidFill>
                          <a:latin typeface="Cambria Math" panose="02040503050406030204" pitchFamily="18" charset="0"/>
                        </a:rPr>
                        <m:t>𝒪</m:t>
                      </m:r>
                    </m:oMath>
                  </m:oMathPara>
                </a14:m>
                <a:endParaRPr kumimoji="1" lang="ja-JP" altLang="en-US" sz="2000"/>
              </a:p>
            </p:txBody>
          </p:sp>
        </mc:Choice>
        <mc:Fallback xmlns="">
          <p:sp>
            <p:nvSpPr>
              <p:cNvPr id="8" name="正方形/長方形 7">
                <a:extLst>
                  <a:ext uri="{FF2B5EF4-FFF2-40B4-BE49-F238E27FC236}">
                    <a16:creationId xmlns:a16="http://schemas.microsoft.com/office/drawing/2014/main" id="{D2E1471D-32D8-E904-F304-486A84DB1AB6}"/>
                  </a:ext>
                </a:extLst>
              </p:cNvPr>
              <p:cNvSpPr>
                <a:spLocks noRot="1" noChangeAspect="1" noMove="1" noResize="1" noEditPoints="1" noAdjustHandles="1" noChangeArrowheads="1" noChangeShapeType="1" noTextEdit="1"/>
              </p:cNvSpPr>
              <p:nvPr/>
            </p:nvSpPr>
            <p:spPr>
              <a:xfrm>
                <a:off x="1810384" y="3285341"/>
                <a:ext cx="297213" cy="365125"/>
              </a:xfrm>
              <a:prstGeom prst="rect">
                <a:avLst/>
              </a:prstGeom>
              <a:blipFill>
                <a:blip r:embed="rId3"/>
                <a:stretch>
                  <a:fillRect l="-22449"/>
                </a:stretch>
              </a:blipFill>
              <a:ln>
                <a:noFill/>
              </a:ln>
            </p:spPr>
            <p:txBody>
              <a:bodyPr/>
              <a:lstStyle/>
              <a:p>
                <a:r>
                  <a:rPr lang="ja-JP" altLang="en-US">
                    <a:noFill/>
                  </a:rPr>
                  <a:t> </a:t>
                </a:r>
              </a:p>
            </p:txBody>
          </p:sp>
        </mc:Fallback>
      </mc:AlternateContent>
      <p:sp>
        <p:nvSpPr>
          <p:cNvPr id="11" name="楕円 10">
            <a:extLst>
              <a:ext uri="{FF2B5EF4-FFF2-40B4-BE49-F238E27FC236}">
                <a16:creationId xmlns:a16="http://schemas.microsoft.com/office/drawing/2014/main" id="{FC29F5AD-5D35-D92A-38F4-B5AD2149D104}"/>
              </a:ext>
            </a:extLst>
          </p:cNvPr>
          <p:cNvSpPr>
            <a:spLocks noChangeAspect="1"/>
          </p:cNvSpPr>
          <p:nvPr/>
        </p:nvSpPr>
        <p:spPr>
          <a:xfrm>
            <a:off x="5981513" y="2460947"/>
            <a:ext cx="2325558" cy="2325558"/>
          </a:xfrm>
          <a:prstGeom prst="ellipse">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3007E16D-2D36-BB5B-DA4B-B3F7DD762277}"/>
              </a:ext>
            </a:extLst>
          </p:cNvPr>
          <p:cNvSpPr>
            <a:spLocks noChangeAspect="1"/>
          </p:cNvSpPr>
          <p:nvPr/>
        </p:nvSpPr>
        <p:spPr>
          <a:xfrm>
            <a:off x="6381973" y="3380284"/>
            <a:ext cx="611367" cy="61136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3" name="正方形/長方形 12">
                <a:extLst>
                  <a:ext uri="{FF2B5EF4-FFF2-40B4-BE49-F238E27FC236}">
                    <a16:creationId xmlns:a16="http://schemas.microsoft.com/office/drawing/2014/main" id="{F4A841CB-C255-0A1D-81AE-F2B90B73212B}"/>
                  </a:ext>
                </a:extLst>
              </p:cNvPr>
              <p:cNvSpPr/>
              <p:nvPr/>
            </p:nvSpPr>
            <p:spPr>
              <a:xfrm>
                <a:off x="6272661" y="2431422"/>
                <a:ext cx="538731"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ja-JP" altLang="en-US" i="1" smtClean="0">
                          <a:solidFill>
                            <a:schemeClr val="tx1"/>
                          </a:solidFill>
                          <a:latin typeface="Cambria Math" panose="02040503050406030204" pitchFamily="18" charset="0"/>
                        </a:rPr>
                        <m:t>𝕍</m:t>
                      </m:r>
                      <m:r>
                        <a:rPr kumimoji="1" lang="en-US" altLang="ja-JP" b="0" i="1" smtClean="0">
                          <a:solidFill>
                            <a:schemeClr val="tx1"/>
                          </a:solidFill>
                          <a:latin typeface="Cambria Math" panose="02040503050406030204" pitchFamily="18" charset="0"/>
                        </a:rPr>
                        <m:t>(</m:t>
                      </m:r>
                      <m:r>
                        <a:rPr kumimoji="1" lang="en-US" altLang="ja-JP" b="0" i="1" smtClean="0">
                          <a:solidFill>
                            <a:schemeClr val="tx1"/>
                          </a:solidFill>
                          <a:latin typeface="Cambria Math" panose="02040503050406030204" pitchFamily="18" charset="0"/>
                        </a:rPr>
                        <m:t>𝑃</m:t>
                      </m:r>
                      <m:r>
                        <a:rPr kumimoji="1" lang="en-US" altLang="ja-JP" b="0" i="1" smtClean="0">
                          <a:solidFill>
                            <a:schemeClr val="tx1"/>
                          </a:solidFill>
                          <a:latin typeface="Cambria Math" panose="02040503050406030204" pitchFamily="18" charset="0"/>
                        </a:rPr>
                        <m:t>)</m:t>
                      </m:r>
                    </m:oMath>
                  </m:oMathPara>
                </a14:m>
                <a:endParaRPr kumimoji="1" lang="ja-JP" altLang="en-US"/>
              </a:p>
            </p:txBody>
          </p:sp>
        </mc:Choice>
        <mc:Fallback xmlns="">
          <p:sp>
            <p:nvSpPr>
              <p:cNvPr id="13" name="正方形/長方形 12">
                <a:extLst>
                  <a:ext uri="{FF2B5EF4-FFF2-40B4-BE49-F238E27FC236}">
                    <a16:creationId xmlns:a16="http://schemas.microsoft.com/office/drawing/2014/main" id="{F4A841CB-C255-0A1D-81AE-F2B90B73212B}"/>
                  </a:ext>
                </a:extLst>
              </p:cNvPr>
              <p:cNvSpPr>
                <a:spLocks noRot="1" noChangeAspect="1" noMove="1" noResize="1" noEditPoints="1" noAdjustHandles="1" noChangeArrowheads="1" noChangeShapeType="1" noTextEdit="1"/>
              </p:cNvSpPr>
              <p:nvPr/>
            </p:nvSpPr>
            <p:spPr>
              <a:xfrm>
                <a:off x="6272661" y="2431422"/>
                <a:ext cx="538731" cy="365125"/>
              </a:xfrm>
              <a:prstGeom prst="rect">
                <a:avLst/>
              </a:prstGeom>
              <a:blipFill>
                <a:blip r:embed="rId4"/>
                <a:stretch>
                  <a:fillRect l="-17045" r="-11364" b="-13333"/>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正方形/長方形 13">
                <a:extLst>
                  <a:ext uri="{FF2B5EF4-FFF2-40B4-BE49-F238E27FC236}">
                    <a16:creationId xmlns:a16="http://schemas.microsoft.com/office/drawing/2014/main" id="{E08875B6-972C-9DF3-2C68-983FBF13C38D}"/>
                  </a:ext>
                </a:extLst>
              </p:cNvPr>
              <p:cNvSpPr/>
              <p:nvPr/>
            </p:nvSpPr>
            <p:spPr>
              <a:xfrm>
                <a:off x="6338759" y="3234034"/>
                <a:ext cx="297213"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kumimoji="1" lang="en-US" altLang="ja-JP" sz="2000" b="0" i="1" smtClean="0">
                              <a:solidFill>
                                <a:schemeClr val="tx1"/>
                              </a:solidFill>
                              <a:latin typeface="Cambria Math" panose="02040503050406030204" pitchFamily="18" charset="0"/>
                            </a:rPr>
                          </m:ctrlPr>
                        </m:sSubPr>
                        <m:e>
                          <m:r>
                            <a:rPr kumimoji="1" lang="ja-JP" altLang="en-US" sz="2000" b="0" i="1" smtClean="0">
                              <a:solidFill>
                                <a:schemeClr val="tx1"/>
                              </a:solidFill>
                              <a:latin typeface="Cambria Math" panose="02040503050406030204" pitchFamily="18" charset="0"/>
                            </a:rPr>
                            <m:t>𝒪</m:t>
                          </m:r>
                        </m:e>
                        <m:sub>
                          <m:r>
                            <a:rPr kumimoji="1" lang="en-US" altLang="ja-JP" sz="2000" b="0" i="1" smtClean="0">
                              <a:solidFill>
                                <a:schemeClr val="tx1"/>
                              </a:solidFill>
                              <a:latin typeface="Cambria Math" panose="02040503050406030204" pitchFamily="18" charset="0"/>
                            </a:rPr>
                            <m:t>1</m:t>
                          </m:r>
                        </m:sub>
                      </m:sSub>
                    </m:oMath>
                  </m:oMathPara>
                </a14:m>
                <a:endParaRPr kumimoji="1" lang="ja-JP" altLang="en-US" sz="2000"/>
              </a:p>
            </p:txBody>
          </p:sp>
        </mc:Choice>
        <mc:Fallback xmlns="">
          <p:sp>
            <p:nvSpPr>
              <p:cNvPr id="14" name="正方形/長方形 13">
                <a:extLst>
                  <a:ext uri="{FF2B5EF4-FFF2-40B4-BE49-F238E27FC236}">
                    <a16:creationId xmlns:a16="http://schemas.microsoft.com/office/drawing/2014/main" id="{E08875B6-972C-9DF3-2C68-983FBF13C38D}"/>
                  </a:ext>
                </a:extLst>
              </p:cNvPr>
              <p:cNvSpPr>
                <a:spLocks noRot="1" noChangeAspect="1" noMove="1" noResize="1" noEditPoints="1" noAdjustHandles="1" noChangeArrowheads="1" noChangeShapeType="1" noTextEdit="1"/>
              </p:cNvSpPr>
              <p:nvPr/>
            </p:nvSpPr>
            <p:spPr>
              <a:xfrm>
                <a:off x="6338759" y="3234034"/>
                <a:ext cx="297213" cy="365125"/>
              </a:xfrm>
              <a:prstGeom prst="rect">
                <a:avLst/>
              </a:prstGeom>
              <a:blipFill>
                <a:blip r:embed="rId5"/>
                <a:stretch>
                  <a:fillRect l="-38776" b="-5085"/>
                </a:stretch>
              </a:blipFill>
              <a:ln>
                <a:noFill/>
              </a:ln>
            </p:spPr>
            <p:txBody>
              <a:bodyPr/>
              <a:lstStyle/>
              <a:p>
                <a:r>
                  <a:rPr lang="ja-JP" altLang="en-US">
                    <a:noFill/>
                  </a:rPr>
                  <a:t> </a:t>
                </a:r>
              </a:p>
            </p:txBody>
          </p:sp>
        </mc:Fallback>
      </mc:AlternateContent>
      <p:sp>
        <p:nvSpPr>
          <p:cNvPr id="15" name="正方形/長方形 14">
            <a:extLst>
              <a:ext uri="{FF2B5EF4-FFF2-40B4-BE49-F238E27FC236}">
                <a16:creationId xmlns:a16="http://schemas.microsoft.com/office/drawing/2014/main" id="{D13DDA9C-A530-797F-A1E0-8BC3B5D5FC72}"/>
              </a:ext>
            </a:extLst>
          </p:cNvPr>
          <p:cNvSpPr>
            <a:spLocks noChangeAspect="1"/>
          </p:cNvSpPr>
          <p:nvPr/>
        </p:nvSpPr>
        <p:spPr>
          <a:xfrm>
            <a:off x="7322915" y="3623726"/>
            <a:ext cx="611367" cy="61136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正方形/長方形 15">
                <a:extLst>
                  <a:ext uri="{FF2B5EF4-FFF2-40B4-BE49-F238E27FC236}">
                    <a16:creationId xmlns:a16="http://schemas.microsoft.com/office/drawing/2014/main" id="{09AD4099-A2F3-9765-17E2-EFD6E0C5B650}"/>
                  </a:ext>
                </a:extLst>
              </p:cNvPr>
              <p:cNvSpPr/>
              <p:nvPr/>
            </p:nvSpPr>
            <p:spPr>
              <a:xfrm>
                <a:off x="7279701" y="3477476"/>
                <a:ext cx="297213"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kumimoji="1" lang="en-US" altLang="ja-JP" sz="2000" b="0" i="1" smtClean="0">
                              <a:solidFill>
                                <a:schemeClr val="tx1"/>
                              </a:solidFill>
                              <a:latin typeface="Cambria Math" panose="02040503050406030204" pitchFamily="18" charset="0"/>
                            </a:rPr>
                          </m:ctrlPr>
                        </m:sSubPr>
                        <m:e>
                          <m:r>
                            <a:rPr kumimoji="1" lang="ja-JP" altLang="en-US" sz="2000" b="0" i="1" smtClean="0">
                              <a:solidFill>
                                <a:schemeClr val="tx1"/>
                              </a:solidFill>
                              <a:latin typeface="Cambria Math" panose="02040503050406030204" pitchFamily="18" charset="0"/>
                            </a:rPr>
                            <m:t>𝒪</m:t>
                          </m:r>
                        </m:e>
                        <m:sub>
                          <m:r>
                            <a:rPr kumimoji="1" lang="en-US" altLang="ja-JP" sz="2000" b="0" i="1" smtClean="0">
                              <a:solidFill>
                                <a:schemeClr val="tx1"/>
                              </a:solidFill>
                              <a:latin typeface="Cambria Math" panose="02040503050406030204" pitchFamily="18" charset="0"/>
                            </a:rPr>
                            <m:t>2</m:t>
                          </m:r>
                        </m:sub>
                      </m:sSub>
                    </m:oMath>
                  </m:oMathPara>
                </a14:m>
                <a:endParaRPr kumimoji="1" lang="ja-JP" altLang="en-US" sz="2000"/>
              </a:p>
            </p:txBody>
          </p:sp>
        </mc:Choice>
        <mc:Fallback xmlns="">
          <p:sp>
            <p:nvSpPr>
              <p:cNvPr id="16" name="正方形/長方形 15">
                <a:extLst>
                  <a:ext uri="{FF2B5EF4-FFF2-40B4-BE49-F238E27FC236}">
                    <a16:creationId xmlns:a16="http://schemas.microsoft.com/office/drawing/2014/main" id="{09AD4099-A2F3-9765-17E2-EFD6E0C5B650}"/>
                  </a:ext>
                </a:extLst>
              </p:cNvPr>
              <p:cNvSpPr>
                <a:spLocks noRot="1" noChangeAspect="1" noMove="1" noResize="1" noEditPoints="1" noAdjustHandles="1" noChangeArrowheads="1" noChangeShapeType="1" noTextEdit="1"/>
              </p:cNvSpPr>
              <p:nvPr/>
            </p:nvSpPr>
            <p:spPr>
              <a:xfrm>
                <a:off x="7279701" y="3477476"/>
                <a:ext cx="297213" cy="365125"/>
              </a:xfrm>
              <a:prstGeom prst="rect">
                <a:avLst/>
              </a:prstGeom>
              <a:blipFill>
                <a:blip r:embed="rId6"/>
                <a:stretch>
                  <a:fillRect l="-38776" r="-2041" b="-5000"/>
                </a:stretch>
              </a:blipFill>
              <a:ln>
                <a:noFill/>
              </a:ln>
            </p:spPr>
            <p:txBody>
              <a:bodyPr/>
              <a:lstStyle/>
              <a:p>
                <a:r>
                  <a:rPr lang="ja-JP" altLang="en-US">
                    <a:noFill/>
                  </a:rPr>
                  <a:t> </a:t>
                </a:r>
              </a:p>
            </p:txBody>
          </p:sp>
        </mc:Fallback>
      </mc:AlternateContent>
      <p:sp>
        <p:nvSpPr>
          <p:cNvPr id="19" name="テキスト ボックス 18">
            <a:extLst>
              <a:ext uri="{FF2B5EF4-FFF2-40B4-BE49-F238E27FC236}">
                <a16:creationId xmlns:a16="http://schemas.microsoft.com/office/drawing/2014/main" id="{51E35778-37CF-8F18-A360-EE9F5FBBFF44}"/>
              </a:ext>
            </a:extLst>
          </p:cNvPr>
          <p:cNvSpPr txBox="1"/>
          <p:nvPr/>
        </p:nvSpPr>
        <p:spPr>
          <a:xfrm>
            <a:off x="180000" y="5415845"/>
            <a:ext cx="9026554" cy="1200329"/>
          </a:xfrm>
          <a:prstGeom prst="rect">
            <a:avLst/>
          </a:prstGeom>
          <a:noFill/>
        </p:spPr>
        <p:txBody>
          <a:bodyPr wrap="square" rtlCol="0">
            <a:spAutoFit/>
          </a:bodyPr>
          <a:lstStyle/>
          <a:p>
            <a:r>
              <a:rPr kumimoji="1" lang="en-US" altLang="ja-JP"/>
              <a:t>UOV</a:t>
            </a:r>
            <a:r>
              <a:rPr kumimoji="1" lang="ja-JP" altLang="en-US"/>
              <a:t>の公開鍵に埋め込まれている部分空間は</a:t>
            </a:r>
            <a:r>
              <a:rPr kumimoji="1" lang="en-US" altLang="ja-JP"/>
              <a:t>, </a:t>
            </a:r>
            <a:r>
              <a:rPr lang="en-US" altLang="ja-JP"/>
              <a:t>2</a:t>
            </a:r>
            <a:r>
              <a:rPr lang="ja-JP" altLang="en-US"/>
              <a:t>個以上埋め込められないのだろうか</a:t>
            </a:r>
            <a:r>
              <a:rPr lang="en-US" altLang="ja-JP"/>
              <a:t>?</a:t>
            </a:r>
          </a:p>
          <a:p>
            <a:pPr marL="285750" indent="-285750">
              <a:buFont typeface="Arial" panose="020B0604020202020204" pitchFamily="34" charset="0"/>
              <a:buChar char="•"/>
            </a:pPr>
            <a:r>
              <a:rPr lang="ja-JP" altLang="en-US"/>
              <a:t>最大で何個の部分空間を埋め込める</a:t>
            </a:r>
            <a:r>
              <a:rPr lang="en-US" altLang="ja-JP"/>
              <a:t>?</a:t>
            </a:r>
          </a:p>
          <a:p>
            <a:pPr marL="285750" indent="-285750">
              <a:buFont typeface="Arial" panose="020B0604020202020204" pitchFamily="34" charset="0"/>
              <a:buChar char="•"/>
            </a:pPr>
            <a:r>
              <a:rPr lang="ja-JP" altLang="en-US"/>
              <a:t>どうやって埋め込む</a:t>
            </a:r>
            <a:r>
              <a:rPr lang="en-US" altLang="ja-JP"/>
              <a:t>?</a:t>
            </a:r>
          </a:p>
          <a:p>
            <a:pPr marL="285750" indent="-285750">
              <a:buFont typeface="Arial" panose="020B0604020202020204" pitchFamily="34" charset="0"/>
              <a:buChar char="•"/>
            </a:pPr>
            <a:r>
              <a:rPr lang="ja-JP" altLang="en-US" b="1"/>
              <a:t>何の役に立つ</a:t>
            </a:r>
            <a:r>
              <a:rPr lang="en-US" altLang="ja-JP" b="1"/>
              <a:t>?</a:t>
            </a:r>
          </a:p>
        </p:txBody>
      </p:sp>
      <p:sp>
        <p:nvSpPr>
          <p:cNvPr id="2" name="テキスト ボックス 1">
            <a:extLst>
              <a:ext uri="{FF2B5EF4-FFF2-40B4-BE49-F238E27FC236}">
                <a16:creationId xmlns:a16="http://schemas.microsoft.com/office/drawing/2014/main" id="{D42355FD-0368-7894-0D97-D9DFD7D236D5}"/>
              </a:ext>
            </a:extLst>
          </p:cNvPr>
          <p:cNvSpPr txBox="1"/>
          <p:nvPr/>
        </p:nvSpPr>
        <p:spPr>
          <a:xfrm>
            <a:off x="180000" y="764775"/>
            <a:ext cx="7227479" cy="461665"/>
          </a:xfrm>
          <a:prstGeom prst="rect">
            <a:avLst/>
          </a:prstGeom>
          <a:noFill/>
        </p:spPr>
        <p:txBody>
          <a:bodyPr wrap="square" rtlCol="0">
            <a:spAutoFit/>
          </a:bodyPr>
          <a:lstStyle/>
          <a:p>
            <a:r>
              <a:rPr lang="en-US" altLang="ja-JP" sz="2400" b="1">
                <a:solidFill>
                  <a:schemeClr val="accent4">
                    <a:lumMod val="75000"/>
                  </a:schemeClr>
                </a:solidFill>
              </a:rPr>
              <a:t>0</a:t>
            </a:r>
            <a:r>
              <a:rPr kumimoji="1" lang="en-US" altLang="ja-JP" sz="2400" b="1">
                <a:solidFill>
                  <a:schemeClr val="accent4">
                    <a:lumMod val="75000"/>
                  </a:schemeClr>
                </a:solidFill>
              </a:rPr>
              <a:t>-2. </a:t>
            </a:r>
            <a:r>
              <a:rPr lang="ja-JP" altLang="en-US" sz="2400" b="1">
                <a:solidFill>
                  <a:schemeClr val="accent4">
                    <a:lumMod val="75000"/>
                  </a:schemeClr>
                </a:solidFill>
              </a:rPr>
              <a:t>アイデア</a:t>
            </a:r>
            <a:endParaRPr kumimoji="1" lang="ja-JP" altLang="en-US" sz="2400" b="1" dirty="0">
              <a:solidFill>
                <a:schemeClr val="accent4">
                  <a:lumMod val="75000"/>
                </a:schemeClr>
              </a:solidFill>
            </a:endParaRPr>
          </a:p>
        </p:txBody>
      </p:sp>
      <p:sp>
        <p:nvSpPr>
          <p:cNvPr id="3" name="テキスト ボックス 2">
            <a:extLst>
              <a:ext uri="{FF2B5EF4-FFF2-40B4-BE49-F238E27FC236}">
                <a16:creationId xmlns:a16="http://schemas.microsoft.com/office/drawing/2014/main" id="{637201FB-8ADA-721A-CB25-4D3CE55CD883}"/>
              </a:ext>
            </a:extLst>
          </p:cNvPr>
          <p:cNvSpPr txBox="1"/>
          <p:nvPr/>
        </p:nvSpPr>
        <p:spPr>
          <a:xfrm>
            <a:off x="180000" y="1593825"/>
            <a:ext cx="4115163" cy="400110"/>
          </a:xfrm>
          <a:prstGeom prst="rect">
            <a:avLst/>
          </a:prstGeom>
          <a:noFill/>
        </p:spPr>
        <p:txBody>
          <a:bodyPr wrap="square" rtlCol="0">
            <a:spAutoFit/>
          </a:bodyPr>
          <a:lstStyle/>
          <a:p>
            <a:r>
              <a:rPr kumimoji="1" lang="ja-JP" altLang="en-US" sz="2000">
                <a:solidFill>
                  <a:schemeClr val="accent4">
                    <a:lumMod val="75000"/>
                  </a:schemeClr>
                </a:solidFill>
              </a:rPr>
              <a:t>▍</a:t>
            </a:r>
            <a:r>
              <a:rPr lang="en-US" altLang="ja-JP" sz="2000" b="1"/>
              <a:t>UOV</a:t>
            </a:r>
            <a:endParaRPr kumimoji="1" lang="ja-JP" altLang="en-US" sz="2000" b="1" dirty="0"/>
          </a:p>
        </p:txBody>
      </p:sp>
      <p:sp>
        <p:nvSpPr>
          <p:cNvPr id="18" name="テキスト ボックス 17">
            <a:extLst>
              <a:ext uri="{FF2B5EF4-FFF2-40B4-BE49-F238E27FC236}">
                <a16:creationId xmlns:a16="http://schemas.microsoft.com/office/drawing/2014/main" id="{FB65987B-C756-AA49-1381-7DFF7CB71F30}"/>
              </a:ext>
            </a:extLst>
          </p:cNvPr>
          <p:cNvSpPr txBox="1"/>
          <p:nvPr/>
        </p:nvSpPr>
        <p:spPr>
          <a:xfrm>
            <a:off x="5461233" y="1593742"/>
            <a:ext cx="4115163" cy="400110"/>
          </a:xfrm>
          <a:prstGeom prst="rect">
            <a:avLst/>
          </a:prstGeom>
          <a:noFill/>
        </p:spPr>
        <p:txBody>
          <a:bodyPr wrap="square" rtlCol="0">
            <a:spAutoFit/>
          </a:bodyPr>
          <a:lstStyle/>
          <a:p>
            <a:r>
              <a:rPr kumimoji="1" lang="ja-JP" altLang="en-US" sz="2000">
                <a:solidFill>
                  <a:srgbClr val="FF76A0"/>
                </a:solidFill>
              </a:rPr>
              <a:t>▍</a:t>
            </a:r>
            <a:r>
              <a:rPr lang="en-US" altLang="ja-JP" sz="2000" b="1"/>
              <a:t>Monozygotic-UOV</a:t>
            </a:r>
            <a:endParaRPr kumimoji="1" lang="ja-JP" altLang="en-US" sz="2000" b="1" dirty="0"/>
          </a:p>
        </p:txBody>
      </p:sp>
      <p:sp>
        <p:nvSpPr>
          <p:cNvPr id="20" name="テキスト ボックス 19">
            <a:extLst>
              <a:ext uri="{FF2B5EF4-FFF2-40B4-BE49-F238E27FC236}">
                <a16:creationId xmlns:a16="http://schemas.microsoft.com/office/drawing/2014/main" id="{4DE9E69B-5C1B-4D0D-FA6B-FF7AC6E0E8BD}"/>
              </a:ext>
            </a:extLst>
          </p:cNvPr>
          <p:cNvSpPr txBox="1"/>
          <p:nvPr/>
        </p:nvSpPr>
        <p:spPr>
          <a:xfrm>
            <a:off x="5668419" y="1984413"/>
            <a:ext cx="3816990" cy="369332"/>
          </a:xfrm>
          <a:prstGeom prst="rect">
            <a:avLst/>
          </a:prstGeom>
          <a:noFill/>
        </p:spPr>
        <p:txBody>
          <a:bodyPr wrap="square" rtlCol="0">
            <a:spAutoFit/>
          </a:bodyPr>
          <a:lstStyle/>
          <a:p>
            <a:r>
              <a:rPr kumimoji="1" lang="en-US" altLang="ja-JP"/>
              <a:t>(MZ-UOV, </a:t>
            </a:r>
            <a:r>
              <a:rPr kumimoji="1" lang="ja-JP" altLang="en-US"/>
              <a:t>一卵性</a:t>
            </a:r>
            <a:r>
              <a:rPr kumimoji="1" lang="en-US" altLang="ja-JP"/>
              <a:t>UOV)</a:t>
            </a:r>
            <a:endParaRPr kumimoji="1" lang="ja-JP" altLang="en-US"/>
          </a:p>
        </p:txBody>
      </p:sp>
    </p:spTree>
    <p:extLst>
      <p:ext uri="{BB962C8B-B14F-4D97-AF65-F5344CB8AC3E}">
        <p14:creationId xmlns:p14="http://schemas.microsoft.com/office/powerpoint/2010/main" val="2175569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A029AFD-81C0-A16B-B1DF-6DC832EC3A78}"/>
              </a:ext>
            </a:extLst>
          </p:cNvPr>
          <p:cNvSpPr txBox="1"/>
          <p:nvPr/>
        </p:nvSpPr>
        <p:spPr>
          <a:xfrm>
            <a:off x="180000" y="180000"/>
            <a:ext cx="5558070" cy="584775"/>
          </a:xfrm>
          <a:prstGeom prst="rect">
            <a:avLst/>
          </a:prstGeom>
          <a:noFill/>
        </p:spPr>
        <p:txBody>
          <a:bodyPr wrap="square" rtlCol="0">
            <a:spAutoFit/>
          </a:bodyPr>
          <a:lstStyle/>
          <a:p>
            <a:r>
              <a:rPr lang="en-US" altLang="ja-JP" sz="3200" b="1" dirty="0">
                <a:solidFill>
                  <a:schemeClr val="accent4">
                    <a:lumMod val="75000"/>
                  </a:schemeClr>
                </a:solidFill>
              </a:rPr>
              <a:t>1</a:t>
            </a:r>
            <a:r>
              <a:rPr lang="en-US" altLang="ja-JP" sz="3200" b="1">
                <a:solidFill>
                  <a:schemeClr val="accent4">
                    <a:lumMod val="75000"/>
                  </a:schemeClr>
                </a:solidFill>
              </a:rPr>
              <a:t>.</a:t>
            </a:r>
            <a:r>
              <a:rPr lang="ja-JP" altLang="en-US" sz="3200" b="1">
                <a:solidFill>
                  <a:schemeClr val="accent4">
                    <a:lumMod val="75000"/>
                  </a:schemeClr>
                </a:solidFill>
              </a:rPr>
              <a:t> </a:t>
            </a:r>
            <a:r>
              <a:rPr lang="en-US" altLang="ja-JP" sz="3200" b="1">
                <a:solidFill>
                  <a:schemeClr val="accent4">
                    <a:lumMod val="75000"/>
                  </a:schemeClr>
                </a:solidFill>
              </a:rPr>
              <a:t>UOV</a:t>
            </a:r>
            <a:r>
              <a:rPr lang="ja-JP" altLang="en-US" sz="3200" b="1">
                <a:solidFill>
                  <a:schemeClr val="accent4">
                    <a:lumMod val="75000"/>
                  </a:schemeClr>
                </a:solidFill>
              </a:rPr>
              <a:t>再考</a:t>
            </a:r>
            <a:endParaRPr lang="en-US" altLang="ja-JP" sz="3200" b="1" dirty="0">
              <a:solidFill>
                <a:schemeClr val="accent4">
                  <a:lumMod val="75000"/>
                </a:schemeClr>
              </a:solidFill>
            </a:endParaRPr>
          </a:p>
        </p:txBody>
      </p:sp>
      <p:sp>
        <p:nvSpPr>
          <p:cNvPr id="5" name="テキスト ボックス 4">
            <a:extLst>
              <a:ext uri="{FF2B5EF4-FFF2-40B4-BE49-F238E27FC236}">
                <a16:creationId xmlns:a16="http://schemas.microsoft.com/office/drawing/2014/main" id="{3DE6F755-D56C-ACA3-B03D-C4BC51116659}"/>
              </a:ext>
            </a:extLst>
          </p:cNvPr>
          <p:cNvSpPr txBox="1"/>
          <p:nvPr/>
        </p:nvSpPr>
        <p:spPr>
          <a:xfrm>
            <a:off x="180000" y="764775"/>
            <a:ext cx="7227479" cy="461665"/>
          </a:xfrm>
          <a:prstGeom prst="rect">
            <a:avLst/>
          </a:prstGeom>
          <a:noFill/>
        </p:spPr>
        <p:txBody>
          <a:bodyPr wrap="square" rtlCol="0">
            <a:spAutoFit/>
          </a:bodyPr>
          <a:lstStyle/>
          <a:p>
            <a:r>
              <a:rPr kumimoji="1" lang="en-US" altLang="ja-JP" sz="2400" b="1" dirty="0">
                <a:solidFill>
                  <a:schemeClr val="accent4">
                    <a:lumMod val="75000"/>
                  </a:schemeClr>
                </a:solidFill>
              </a:rPr>
              <a:t>1</a:t>
            </a:r>
            <a:r>
              <a:rPr kumimoji="1" lang="en-US" altLang="ja-JP" sz="2400" b="1">
                <a:solidFill>
                  <a:schemeClr val="accent4">
                    <a:lumMod val="75000"/>
                  </a:schemeClr>
                </a:solidFill>
              </a:rPr>
              <a:t>-1. </a:t>
            </a:r>
            <a:r>
              <a:rPr kumimoji="1" lang="ja-JP" altLang="en-US" sz="2400" b="1">
                <a:solidFill>
                  <a:schemeClr val="accent4">
                    <a:lumMod val="75000"/>
                  </a:schemeClr>
                </a:solidFill>
              </a:rPr>
              <a:t>放物線の決定</a:t>
            </a:r>
            <a:endParaRPr kumimoji="1" lang="ja-JP" altLang="en-US" sz="2400" b="1" dirty="0">
              <a:solidFill>
                <a:schemeClr val="accent4">
                  <a:lumMod val="75000"/>
                </a:schemeClr>
              </a:solidFill>
            </a:endParaRPr>
          </a:p>
        </p:txBody>
      </p:sp>
      <p:sp>
        <p:nvSpPr>
          <p:cNvPr id="6" name="テキスト ボックス 5">
            <a:extLst>
              <a:ext uri="{FF2B5EF4-FFF2-40B4-BE49-F238E27FC236}">
                <a16:creationId xmlns:a16="http://schemas.microsoft.com/office/drawing/2014/main" id="{D9131715-DB44-9C2A-9E44-266C8C7E4764}"/>
              </a:ext>
            </a:extLst>
          </p:cNvPr>
          <p:cNvSpPr txBox="1"/>
          <p:nvPr/>
        </p:nvSpPr>
        <p:spPr>
          <a:xfrm>
            <a:off x="180000" y="1498884"/>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問題</a:t>
            </a:r>
            <a:r>
              <a:rPr lang="en-US" altLang="ja-JP" sz="2000" b="1"/>
              <a:t>: </a:t>
            </a:r>
            <a:r>
              <a:rPr lang="ja-JP" altLang="en-US" sz="2000" b="1"/>
              <a:t>放物線の決定</a:t>
            </a:r>
            <a:endParaRPr kumimoji="1" lang="ja-JP" altLang="en-US" sz="2000" b="1" dirty="0"/>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789D8C71-677C-4960-E8E1-658B3AA0CB07}"/>
                  </a:ext>
                </a:extLst>
              </p:cNvPr>
              <p:cNvSpPr txBox="1"/>
              <p:nvPr/>
            </p:nvSpPr>
            <p:spPr>
              <a:xfrm>
                <a:off x="180000" y="2030136"/>
                <a:ext cx="11421974" cy="369332"/>
              </a:xfrm>
              <a:prstGeom prst="rect">
                <a:avLst/>
              </a:prstGeom>
              <a:noFill/>
            </p:spPr>
            <p:txBody>
              <a:bodyPr wrap="square" rtlCol="0">
                <a:spAutoFit/>
              </a:bodyPr>
              <a:lstStyle/>
              <a:p>
                <a14:m>
                  <m:oMath xmlns:m="http://schemas.openxmlformats.org/officeDocument/2006/math">
                    <m:r>
                      <a:rPr kumimoji="1" lang="en-US" altLang="ja-JP" b="0" i="1" smtClean="0">
                        <a:latin typeface="Cambria Math" panose="02040503050406030204" pitchFamily="18" charset="0"/>
                      </a:rPr>
                      <m:t>𝑥𝑦</m:t>
                    </m:r>
                  </m:oMath>
                </a14:m>
                <a:r>
                  <a:rPr kumimoji="1" lang="ja-JP" altLang="en-US"/>
                  <a:t> 平面上の </a:t>
                </a:r>
                <a14:m>
                  <m:oMath xmlns:m="http://schemas.openxmlformats.org/officeDocument/2006/math">
                    <m:r>
                      <a:rPr kumimoji="1" lang="en-US" altLang="ja-JP" b="0" i="1" smtClean="0">
                        <a:latin typeface="Cambria Math" panose="02040503050406030204" pitchFamily="18" charset="0"/>
                      </a:rPr>
                      <m:t>3</m:t>
                    </m:r>
                  </m:oMath>
                </a14:m>
                <a:r>
                  <a:rPr kumimoji="1" lang="ja-JP" altLang="en-US"/>
                  <a:t> 点 </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𝑃</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 </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𝑃</m:t>
                        </m:r>
                      </m:e>
                      <m:sub>
                        <m:r>
                          <a:rPr kumimoji="1" lang="en-US" altLang="ja-JP" b="0" i="1" smtClean="0">
                            <a:latin typeface="Cambria Math" panose="02040503050406030204" pitchFamily="18" charset="0"/>
                          </a:rPr>
                          <m:t>2</m:t>
                        </m:r>
                      </m:sub>
                    </m:sSub>
                    <m:r>
                      <a:rPr kumimoji="1" lang="en-US" altLang="ja-JP" b="0" i="1" smtClean="0">
                        <a:latin typeface="Cambria Math" panose="02040503050406030204" pitchFamily="18" charset="0"/>
                      </a:rPr>
                      <m:t>, </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𝑃</m:t>
                        </m:r>
                      </m:e>
                      <m:sub>
                        <m:r>
                          <a:rPr kumimoji="1" lang="en-US" altLang="ja-JP" b="0" i="1" smtClean="0">
                            <a:latin typeface="Cambria Math" panose="02040503050406030204" pitchFamily="18" charset="0"/>
                          </a:rPr>
                          <m:t>3</m:t>
                        </m:r>
                      </m:sub>
                    </m:sSub>
                  </m:oMath>
                </a14:m>
                <a:r>
                  <a:rPr kumimoji="1" lang="ja-JP" altLang="en-US"/>
                  <a:t> が与えられる</a:t>
                </a:r>
                <a:r>
                  <a:rPr kumimoji="1" lang="en-US" altLang="ja-JP"/>
                  <a:t>. </a:t>
                </a:r>
                <a:r>
                  <a:rPr kumimoji="1" lang="ja-JP" altLang="en-US"/>
                  <a:t>このとき</a:t>
                </a:r>
                <a:r>
                  <a:rPr kumimoji="1" lang="en-US" altLang="ja-JP"/>
                  <a:t>, </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𝑃</m:t>
                        </m:r>
                      </m:e>
                      <m:sub>
                        <m:r>
                          <a:rPr lang="en-US" altLang="ja-JP" i="1">
                            <a:latin typeface="Cambria Math" panose="02040503050406030204" pitchFamily="18" charset="0"/>
                          </a:rPr>
                          <m:t>1</m:t>
                        </m:r>
                      </m:sub>
                    </m:sSub>
                    <m:r>
                      <a:rPr lang="en-US" altLang="ja-JP" i="1">
                        <a:latin typeface="Cambria Math" panose="02040503050406030204" pitchFamily="18" charset="0"/>
                      </a:rPr>
                      <m:t>, </m:t>
                    </m:r>
                    <m:sSub>
                      <m:sSubPr>
                        <m:ctrlPr>
                          <a:rPr lang="en-US" altLang="ja-JP" i="1">
                            <a:latin typeface="Cambria Math" panose="02040503050406030204" pitchFamily="18" charset="0"/>
                          </a:rPr>
                        </m:ctrlPr>
                      </m:sSubPr>
                      <m:e>
                        <m:r>
                          <a:rPr lang="en-US" altLang="ja-JP" i="1">
                            <a:latin typeface="Cambria Math" panose="02040503050406030204" pitchFamily="18" charset="0"/>
                          </a:rPr>
                          <m:t>𝑃</m:t>
                        </m:r>
                      </m:e>
                      <m:sub>
                        <m:r>
                          <a:rPr lang="en-US" altLang="ja-JP" i="1">
                            <a:latin typeface="Cambria Math" panose="02040503050406030204" pitchFamily="18" charset="0"/>
                          </a:rPr>
                          <m:t>2</m:t>
                        </m:r>
                      </m:sub>
                    </m:sSub>
                    <m:r>
                      <a:rPr lang="en-US" altLang="ja-JP" i="1">
                        <a:latin typeface="Cambria Math" panose="02040503050406030204" pitchFamily="18" charset="0"/>
                      </a:rPr>
                      <m:t>, </m:t>
                    </m:r>
                    <m:sSub>
                      <m:sSubPr>
                        <m:ctrlPr>
                          <a:rPr lang="en-US" altLang="ja-JP" i="1">
                            <a:latin typeface="Cambria Math" panose="02040503050406030204" pitchFamily="18" charset="0"/>
                          </a:rPr>
                        </m:ctrlPr>
                      </m:sSubPr>
                      <m:e>
                        <m:r>
                          <a:rPr lang="en-US" altLang="ja-JP" i="1">
                            <a:latin typeface="Cambria Math" panose="02040503050406030204" pitchFamily="18" charset="0"/>
                          </a:rPr>
                          <m:t>𝑃</m:t>
                        </m:r>
                      </m:e>
                      <m:sub>
                        <m:r>
                          <a:rPr lang="en-US" altLang="ja-JP" i="1">
                            <a:latin typeface="Cambria Math" panose="02040503050406030204" pitchFamily="18" charset="0"/>
                          </a:rPr>
                          <m:t>3</m:t>
                        </m:r>
                      </m:sub>
                    </m:sSub>
                  </m:oMath>
                </a14:m>
                <a:r>
                  <a:rPr kumimoji="1" lang="ja-JP" altLang="en-US"/>
                  <a:t> をすべて通る放物線 </a:t>
                </a:r>
                <a14:m>
                  <m:oMath xmlns:m="http://schemas.openxmlformats.org/officeDocument/2006/math">
                    <m:r>
                      <a:rPr kumimoji="1" lang="en-US" altLang="ja-JP" b="0" i="1" smtClean="0">
                        <a:latin typeface="Cambria Math" panose="02040503050406030204" pitchFamily="18" charset="0"/>
                      </a:rPr>
                      <m:t>𝑦</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𝑎</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𝑥</m:t>
                        </m:r>
                      </m:e>
                      <m:sup>
                        <m:r>
                          <a:rPr kumimoji="1" lang="en-US" altLang="ja-JP" b="0" i="1" smtClean="0">
                            <a:latin typeface="Cambria Math" panose="02040503050406030204" pitchFamily="18" charset="0"/>
                          </a:rPr>
                          <m:t>2</m:t>
                        </m:r>
                      </m:sup>
                    </m:sSup>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𝑏𝑥</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𝑐</m:t>
                    </m:r>
                  </m:oMath>
                </a14:m>
                <a:r>
                  <a:rPr kumimoji="1" lang="ja-JP" altLang="en-US"/>
                  <a:t> を求めよ</a:t>
                </a:r>
                <a:r>
                  <a:rPr kumimoji="1" lang="en-US" altLang="ja-JP"/>
                  <a:t>.</a:t>
                </a:r>
                <a:endParaRPr kumimoji="1" lang="ja-JP" altLang="en-US"/>
              </a:p>
            </p:txBody>
          </p:sp>
        </mc:Choice>
        <mc:Fallback xmlns="">
          <p:sp>
            <p:nvSpPr>
              <p:cNvPr id="7" name="テキスト ボックス 6">
                <a:extLst>
                  <a:ext uri="{FF2B5EF4-FFF2-40B4-BE49-F238E27FC236}">
                    <a16:creationId xmlns:a16="http://schemas.microsoft.com/office/drawing/2014/main" id="{789D8C71-677C-4960-E8E1-658B3AA0CB07}"/>
                  </a:ext>
                </a:extLst>
              </p:cNvPr>
              <p:cNvSpPr txBox="1">
                <a:spLocks noRot="1" noChangeAspect="1" noMove="1" noResize="1" noEditPoints="1" noAdjustHandles="1" noChangeArrowheads="1" noChangeShapeType="1" noTextEdit="1"/>
              </p:cNvSpPr>
              <p:nvPr/>
            </p:nvSpPr>
            <p:spPr>
              <a:xfrm>
                <a:off x="180000" y="2030136"/>
                <a:ext cx="11421974" cy="369332"/>
              </a:xfrm>
              <a:prstGeom prst="rect">
                <a:avLst/>
              </a:prstGeom>
              <a:blipFill>
                <a:blip r:embed="rId2"/>
                <a:stretch>
                  <a:fillRect t="-6557" b="-26230"/>
                </a:stretch>
              </a:blipFill>
            </p:spPr>
            <p:txBody>
              <a:bodyPr/>
              <a:lstStyle/>
              <a:p>
                <a:r>
                  <a:rPr lang="ja-JP" altLang="en-US">
                    <a:noFill/>
                  </a:rPr>
                  <a:t> </a:t>
                </a:r>
              </a:p>
            </p:txBody>
          </p:sp>
        </mc:Fallback>
      </mc:AlternateContent>
      <p:sp>
        <p:nvSpPr>
          <p:cNvPr id="8" name="テキスト ボックス 7">
            <a:extLst>
              <a:ext uri="{FF2B5EF4-FFF2-40B4-BE49-F238E27FC236}">
                <a16:creationId xmlns:a16="http://schemas.microsoft.com/office/drawing/2014/main" id="{A5975541-8EFF-03E9-8F27-5E1CB3215B14}"/>
              </a:ext>
            </a:extLst>
          </p:cNvPr>
          <p:cNvSpPr txBox="1"/>
          <p:nvPr/>
        </p:nvSpPr>
        <p:spPr>
          <a:xfrm>
            <a:off x="180000" y="2803054"/>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解答</a:t>
            </a:r>
            <a:endParaRPr kumimoji="1" lang="ja-JP" altLang="en-US" sz="2000" b="1" dirty="0"/>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CDD8C1D9-100D-4956-9841-BF595D036EA4}"/>
                  </a:ext>
                </a:extLst>
              </p:cNvPr>
              <p:cNvSpPr txBox="1"/>
              <p:nvPr/>
            </p:nvSpPr>
            <p:spPr>
              <a:xfrm>
                <a:off x="180000" y="3327666"/>
                <a:ext cx="6920917" cy="1671996"/>
              </a:xfrm>
              <a:prstGeom prst="rect">
                <a:avLst/>
              </a:prstGeom>
              <a:noFill/>
            </p:spPr>
            <p:txBody>
              <a:bodyPr wrap="square" rtlCol="0">
                <a:spAutoFit/>
              </a:bodyPr>
              <a:lstStyle/>
              <a:p>
                <a14:m>
                  <m:oMath xmlns:m="http://schemas.openxmlformats.org/officeDocument/2006/math">
                    <m:r>
                      <a:rPr kumimoji="1" lang="en-US" altLang="ja-JP" b="0" i="1" smtClean="0">
                        <a:latin typeface="Cambria Math" panose="02040503050406030204" pitchFamily="18" charset="0"/>
                      </a:rPr>
                      <m:t>𝑓</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𝑦</m:t>
                        </m:r>
                      </m:e>
                    </m:d>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𝑦</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𝑎</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𝑥</m:t>
                        </m:r>
                      </m:e>
                      <m:sup>
                        <m:r>
                          <a:rPr kumimoji="1" lang="en-US" altLang="ja-JP" b="0" i="1" smtClean="0">
                            <a:latin typeface="Cambria Math" panose="02040503050406030204" pitchFamily="18" charset="0"/>
                          </a:rPr>
                          <m:t>2</m:t>
                        </m:r>
                      </m:sup>
                    </m:sSup>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𝑏𝑥</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𝑐</m:t>
                    </m:r>
                  </m:oMath>
                </a14:m>
                <a:r>
                  <a:rPr kumimoji="1" lang="ja-JP" altLang="en-US"/>
                  <a:t> とし</a:t>
                </a:r>
                <a:r>
                  <a:rPr kumimoji="1" lang="en-US" altLang="ja-JP"/>
                  <a:t>, </a:t>
                </a:r>
                <a14:m>
                  <m:oMath xmlns:m="http://schemas.openxmlformats.org/officeDocument/2006/math">
                    <m:r>
                      <a:rPr kumimoji="1" lang="en-US" altLang="ja-JP" b="0" i="1" smtClean="0">
                        <a:latin typeface="Cambria Math" panose="02040503050406030204" pitchFamily="18" charset="0"/>
                      </a:rPr>
                      <m:t>𝑎</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𝑐</m:t>
                    </m:r>
                  </m:oMath>
                </a14:m>
                <a:r>
                  <a:rPr lang="ja-JP" altLang="en-US"/>
                  <a:t> に関する線形</a:t>
                </a:r>
                <a:r>
                  <a:rPr kumimoji="1" lang="ja-JP" altLang="en-US"/>
                  <a:t>方程式</a:t>
                </a:r>
                <a:endParaRPr kumimoji="1" lang="en-US" altLang="ja-JP"/>
              </a:p>
              <a:p>
                <a:pPr/>
                <a14:m>
                  <m:oMathPara xmlns:m="http://schemas.openxmlformats.org/officeDocument/2006/math">
                    <m:oMathParaPr>
                      <m:jc m:val="centerGroup"/>
                    </m:oMathParaPr>
                    <m:oMath xmlns:m="http://schemas.openxmlformats.org/officeDocument/2006/math">
                      <m:d>
                        <m:dPr>
                          <m:begChr m:val="{"/>
                          <m:endChr m:val=""/>
                          <m:ctrlPr>
                            <a:rPr kumimoji="1" lang="en-US" altLang="ja-JP" i="1" smtClean="0">
                              <a:latin typeface="Cambria Math" panose="02040503050406030204" pitchFamily="18" charset="0"/>
                            </a:rPr>
                          </m:ctrlPr>
                        </m:dPr>
                        <m:e>
                          <m:eqArr>
                            <m:eqArrPr>
                              <m:ctrlPr>
                                <a:rPr kumimoji="1" lang="en-US" altLang="ja-JP" i="1" smtClean="0">
                                  <a:latin typeface="Cambria Math" panose="02040503050406030204" pitchFamily="18" charset="0"/>
                                </a:rPr>
                              </m:ctrlPr>
                            </m:eqArrPr>
                            <m:e>
                              <m:r>
                                <a:rPr kumimoji="1" lang="en-US" altLang="ja-JP" b="0" i="1" smtClean="0">
                                  <a:latin typeface="Cambria Math" panose="02040503050406030204" pitchFamily="18" charset="0"/>
                                </a:rPr>
                                <m:t>𝑓</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𝑃</m:t>
                                      </m:r>
                                    </m:e>
                                    <m:sub>
                                      <m:r>
                                        <a:rPr kumimoji="1" lang="en-US" altLang="ja-JP" b="0" i="1" smtClean="0">
                                          <a:latin typeface="Cambria Math" panose="02040503050406030204" pitchFamily="18" charset="0"/>
                                        </a:rPr>
                                        <m:t>1</m:t>
                                      </m:r>
                                    </m:sub>
                                  </m:sSub>
                                </m:e>
                              </m:d>
                              <m:r>
                                <a:rPr kumimoji="1" lang="en-US" altLang="ja-JP" b="0" i="1" smtClean="0">
                                  <a:latin typeface="Cambria Math" panose="02040503050406030204" pitchFamily="18" charset="0"/>
                                </a:rPr>
                                <m:t>=0</m:t>
                              </m:r>
                            </m:e>
                            <m:e>
                              <m:r>
                                <a:rPr kumimoji="1" lang="en-US" altLang="ja-JP" b="0" i="1" smtClean="0">
                                  <a:latin typeface="Cambria Math" panose="02040503050406030204" pitchFamily="18" charset="0"/>
                                </a:rPr>
                                <m:t>𝑓</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𝑃</m:t>
                                      </m:r>
                                    </m:e>
                                    <m:sub>
                                      <m:r>
                                        <a:rPr kumimoji="1" lang="en-US" altLang="ja-JP" b="0" i="1" smtClean="0">
                                          <a:latin typeface="Cambria Math" panose="02040503050406030204" pitchFamily="18" charset="0"/>
                                        </a:rPr>
                                        <m:t>2</m:t>
                                      </m:r>
                                    </m:sub>
                                  </m:sSub>
                                </m:e>
                              </m:d>
                              <m:r>
                                <a:rPr kumimoji="1" lang="en-US" altLang="ja-JP" b="0" i="1" smtClean="0">
                                  <a:latin typeface="Cambria Math" panose="02040503050406030204" pitchFamily="18" charset="0"/>
                                </a:rPr>
                                <m:t>=0</m:t>
                              </m:r>
                            </m:e>
                            <m:e>
                              <m:r>
                                <a:rPr kumimoji="1" lang="en-US" altLang="ja-JP" b="0" i="1" smtClean="0">
                                  <a:latin typeface="Cambria Math" panose="02040503050406030204" pitchFamily="18" charset="0"/>
                                </a:rPr>
                                <m:t>𝑓</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𝑃</m:t>
                                      </m:r>
                                    </m:e>
                                    <m:sub>
                                      <m:r>
                                        <a:rPr kumimoji="1" lang="en-US" altLang="ja-JP" b="0" i="1" smtClean="0">
                                          <a:latin typeface="Cambria Math" panose="02040503050406030204" pitchFamily="18" charset="0"/>
                                        </a:rPr>
                                        <m:t>3</m:t>
                                      </m:r>
                                    </m:sub>
                                  </m:sSub>
                                </m:e>
                              </m:d>
                              <m:r>
                                <a:rPr kumimoji="1" lang="en-US" altLang="ja-JP" b="0" i="1" smtClean="0">
                                  <a:latin typeface="Cambria Math" panose="02040503050406030204" pitchFamily="18" charset="0"/>
                                </a:rPr>
                                <m:t>=0</m:t>
                              </m:r>
                            </m:e>
                          </m:eqArr>
                        </m:e>
                      </m:d>
                    </m:oMath>
                  </m:oMathPara>
                </a14:m>
                <a:endParaRPr kumimoji="1" lang="en-US" altLang="ja-JP"/>
              </a:p>
              <a:p>
                <a:r>
                  <a:rPr lang="ja-JP" altLang="en-US"/>
                  <a:t>を解けばよい</a:t>
                </a:r>
                <a:r>
                  <a:rPr lang="en-US" altLang="ja-JP"/>
                  <a:t>.</a:t>
                </a:r>
                <a:endParaRPr kumimoji="1" lang="ja-JP" altLang="en-US"/>
              </a:p>
            </p:txBody>
          </p:sp>
        </mc:Choice>
        <mc:Fallback xmlns="">
          <p:sp>
            <p:nvSpPr>
              <p:cNvPr id="10" name="テキスト ボックス 9">
                <a:extLst>
                  <a:ext uri="{FF2B5EF4-FFF2-40B4-BE49-F238E27FC236}">
                    <a16:creationId xmlns:a16="http://schemas.microsoft.com/office/drawing/2014/main" id="{CDD8C1D9-100D-4956-9841-BF595D036EA4}"/>
                  </a:ext>
                </a:extLst>
              </p:cNvPr>
              <p:cNvSpPr txBox="1">
                <a:spLocks noRot="1" noChangeAspect="1" noMove="1" noResize="1" noEditPoints="1" noAdjustHandles="1" noChangeArrowheads="1" noChangeShapeType="1" noTextEdit="1"/>
              </p:cNvSpPr>
              <p:nvPr/>
            </p:nvSpPr>
            <p:spPr>
              <a:xfrm>
                <a:off x="180000" y="3327666"/>
                <a:ext cx="6920917" cy="1671996"/>
              </a:xfrm>
              <a:prstGeom prst="rect">
                <a:avLst/>
              </a:prstGeom>
              <a:blipFill>
                <a:blip r:embed="rId3"/>
                <a:stretch>
                  <a:fillRect l="-793" t="-1825" b="-5109"/>
                </a:stretch>
              </a:blipFill>
            </p:spPr>
            <p:txBody>
              <a:bodyPr/>
              <a:lstStyle/>
              <a:p>
                <a:r>
                  <a:rPr lang="ja-JP" altLang="en-US">
                    <a:noFill/>
                  </a:rPr>
                  <a:t> </a:t>
                </a:r>
              </a:p>
            </p:txBody>
          </p:sp>
        </mc:Fallback>
      </mc:AlternateContent>
      <p:pic>
        <p:nvPicPr>
          <p:cNvPr id="12" name="図 11" descr="グラフ, 散布図&#10;&#10;AI 生成コンテンツは誤りを含む可能性があります。">
            <a:extLst>
              <a:ext uri="{FF2B5EF4-FFF2-40B4-BE49-F238E27FC236}">
                <a16:creationId xmlns:a16="http://schemas.microsoft.com/office/drawing/2014/main" id="{D74DB429-E1A8-25B6-9495-57DF031696E5}"/>
              </a:ext>
            </a:extLst>
          </p:cNvPr>
          <p:cNvPicPr>
            <a:picLocks noChangeAspect="1"/>
          </p:cNvPicPr>
          <p:nvPr/>
        </p:nvPicPr>
        <p:blipFill>
          <a:blip r:embed="rId4"/>
          <a:stretch>
            <a:fillRect/>
          </a:stretch>
        </p:blipFill>
        <p:spPr>
          <a:xfrm>
            <a:off x="5306549" y="3942826"/>
            <a:ext cx="2813815" cy="2455941"/>
          </a:xfrm>
          <a:prstGeom prst="rect">
            <a:avLst/>
          </a:prstGeom>
        </p:spPr>
      </p:pic>
      <p:pic>
        <p:nvPicPr>
          <p:cNvPr id="14" name="図 13" descr="グラフ, 折れ線グラフ&#10;&#10;AI 生成コンテンツは誤りを含む可能性があります。">
            <a:extLst>
              <a:ext uri="{FF2B5EF4-FFF2-40B4-BE49-F238E27FC236}">
                <a16:creationId xmlns:a16="http://schemas.microsoft.com/office/drawing/2014/main" id="{AEE9FC72-F74E-F0ED-EC5F-3E69C473E9DE}"/>
              </a:ext>
            </a:extLst>
          </p:cNvPr>
          <p:cNvPicPr>
            <a:picLocks noChangeAspect="1"/>
          </p:cNvPicPr>
          <p:nvPr/>
        </p:nvPicPr>
        <p:blipFill>
          <a:blip r:embed="rId5"/>
          <a:stretch>
            <a:fillRect/>
          </a:stretch>
        </p:blipFill>
        <p:spPr>
          <a:xfrm>
            <a:off x="9199791" y="3942826"/>
            <a:ext cx="2502301" cy="2399467"/>
          </a:xfrm>
          <a:prstGeom prst="rect">
            <a:avLst/>
          </a:prstGeom>
        </p:spPr>
      </p:pic>
      <p:cxnSp>
        <p:nvCxnSpPr>
          <p:cNvPr id="16" name="直線矢印コネクタ 15">
            <a:extLst>
              <a:ext uri="{FF2B5EF4-FFF2-40B4-BE49-F238E27FC236}">
                <a16:creationId xmlns:a16="http://schemas.microsoft.com/office/drawing/2014/main" id="{06E06F29-EFEE-1D63-F2E1-50E297E2B681}"/>
              </a:ext>
            </a:extLst>
          </p:cNvPr>
          <p:cNvCxnSpPr/>
          <p:nvPr/>
        </p:nvCxnSpPr>
        <p:spPr>
          <a:xfrm>
            <a:off x="8405769" y="5254686"/>
            <a:ext cx="5704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1378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514A8-DF6D-32CA-E36B-EFAB27458DC6}"/>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15C1799-33AA-4206-7C56-EBF35B25AA2D}"/>
              </a:ext>
            </a:extLst>
          </p:cNvPr>
          <p:cNvSpPr txBox="1"/>
          <p:nvPr/>
        </p:nvSpPr>
        <p:spPr>
          <a:xfrm>
            <a:off x="180000" y="180000"/>
            <a:ext cx="5558070" cy="584775"/>
          </a:xfrm>
          <a:prstGeom prst="rect">
            <a:avLst/>
          </a:prstGeom>
          <a:noFill/>
        </p:spPr>
        <p:txBody>
          <a:bodyPr wrap="square" rtlCol="0">
            <a:spAutoFit/>
          </a:bodyPr>
          <a:lstStyle/>
          <a:p>
            <a:r>
              <a:rPr lang="en-US" altLang="ja-JP" sz="3200" b="1" dirty="0">
                <a:solidFill>
                  <a:schemeClr val="accent4">
                    <a:lumMod val="75000"/>
                  </a:schemeClr>
                </a:solidFill>
              </a:rPr>
              <a:t>1</a:t>
            </a:r>
            <a:r>
              <a:rPr lang="en-US" altLang="ja-JP" sz="3200" b="1">
                <a:solidFill>
                  <a:schemeClr val="accent4">
                    <a:lumMod val="75000"/>
                  </a:schemeClr>
                </a:solidFill>
              </a:rPr>
              <a:t>.</a:t>
            </a:r>
            <a:r>
              <a:rPr lang="ja-JP" altLang="en-US" sz="3200" b="1">
                <a:solidFill>
                  <a:schemeClr val="accent4">
                    <a:lumMod val="75000"/>
                  </a:schemeClr>
                </a:solidFill>
              </a:rPr>
              <a:t> </a:t>
            </a:r>
            <a:r>
              <a:rPr lang="en-US" altLang="ja-JP" sz="3200" b="1">
                <a:solidFill>
                  <a:schemeClr val="accent4">
                    <a:lumMod val="75000"/>
                  </a:schemeClr>
                </a:solidFill>
              </a:rPr>
              <a:t>UOV</a:t>
            </a:r>
            <a:r>
              <a:rPr lang="ja-JP" altLang="en-US" sz="3200" b="1">
                <a:solidFill>
                  <a:schemeClr val="accent4">
                    <a:lumMod val="75000"/>
                  </a:schemeClr>
                </a:solidFill>
              </a:rPr>
              <a:t>再考</a:t>
            </a:r>
            <a:endParaRPr lang="en-US" altLang="ja-JP" sz="3200" b="1" dirty="0">
              <a:solidFill>
                <a:schemeClr val="accent4">
                  <a:lumMod val="75000"/>
                </a:schemeClr>
              </a:solidFill>
            </a:endParaRPr>
          </a:p>
        </p:txBody>
      </p:sp>
      <p:sp>
        <p:nvSpPr>
          <p:cNvPr id="5" name="テキスト ボックス 4">
            <a:extLst>
              <a:ext uri="{FF2B5EF4-FFF2-40B4-BE49-F238E27FC236}">
                <a16:creationId xmlns:a16="http://schemas.microsoft.com/office/drawing/2014/main" id="{CED12E30-415E-DCD6-DDC7-DCE8F14CFFFA}"/>
              </a:ext>
            </a:extLst>
          </p:cNvPr>
          <p:cNvSpPr txBox="1"/>
          <p:nvPr/>
        </p:nvSpPr>
        <p:spPr>
          <a:xfrm>
            <a:off x="180000" y="764775"/>
            <a:ext cx="7227479" cy="461665"/>
          </a:xfrm>
          <a:prstGeom prst="rect">
            <a:avLst/>
          </a:prstGeom>
          <a:noFill/>
        </p:spPr>
        <p:txBody>
          <a:bodyPr wrap="square" rtlCol="0">
            <a:spAutoFit/>
          </a:bodyPr>
          <a:lstStyle/>
          <a:p>
            <a:r>
              <a:rPr kumimoji="1" lang="en-US" altLang="ja-JP" sz="2400" b="1">
                <a:solidFill>
                  <a:schemeClr val="accent4">
                    <a:lumMod val="75000"/>
                  </a:schemeClr>
                </a:solidFill>
              </a:rPr>
              <a:t>1-2. </a:t>
            </a:r>
            <a:r>
              <a:rPr kumimoji="1" lang="ja-JP" altLang="en-US" sz="2400" b="1">
                <a:solidFill>
                  <a:schemeClr val="accent4">
                    <a:lumMod val="75000"/>
                  </a:schemeClr>
                </a:solidFill>
              </a:rPr>
              <a:t>多すぎる</a:t>
            </a:r>
            <a:r>
              <a:rPr kumimoji="1" lang="en-US" altLang="ja-JP" sz="2400" b="1">
                <a:solidFill>
                  <a:schemeClr val="accent4">
                    <a:lumMod val="75000"/>
                  </a:schemeClr>
                </a:solidFill>
              </a:rPr>
              <a:t>/</a:t>
            </a:r>
            <a:r>
              <a:rPr kumimoji="1" lang="ja-JP" altLang="en-US" sz="2400" b="1">
                <a:solidFill>
                  <a:schemeClr val="accent4">
                    <a:lumMod val="75000"/>
                  </a:schemeClr>
                </a:solidFill>
              </a:rPr>
              <a:t>少なすぎるチェックポイント</a:t>
            </a:r>
            <a:endParaRPr kumimoji="1" lang="ja-JP" altLang="en-US" sz="2400" b="1" dirty="0">
              <a:solidFill>
                <a:schemeClr val="accent4">
                  <a:lumMod val="75000"/>
                </a:schemeClr>
              </a:solidFill>
            </a:endParaRPr>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7C9849CC-BF2C-0DAB-AF83-E1015D9FE0E6}"/>
                  </a:ext>
                </a:extLst>
              </p:cNvPr>
              <p:cNvSpPr txBox="1"/>
              <p:nvPr/>
            </p:nvSpPr>
            <p:spPr>
              <a:xfrm>
                <a:off x="180000" y="1498884"/>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14:m>
                  <m:oMath xmlns:m="http://schemas.openxmlformats.org/officeDocument/2006/math">
                    <m:r>
                      <a:rPr lang="en-US" altLang="ja-JP" sz="2000" b="1" i="1" smtClean="0">
                        <a:latin typeface="Cambria Math" panose="02040503050406030204" pitchFamily="18" charset="0"/>
                      </a:rPr>
                      <m:t>𝒌</m:t>
                    </m:r>
                  </m:oMath>
                </a14:m>
                <a:r>
                  <a:rPr lang="ja-JP" altLang="en-US" sz="2000" b="1"/>
                  <a:t> 個の点と放物線の決定</a:t>
                </a:r>
                <a:endParaRPr kumimoji="1" lang="ja-JP" altLang="en-US" sz="2000" b="1" dirty="0"/>
              </a:p>
            </p:txBody>
          </p:sp>
        </mc:Choice>
        <mc:Fallback xmlns="">
          <p:sp>
            <p:nvSpPr>
              <p:cNvPr id="6" name="テキスト ボックス 5">
                <a:extLst>
                  <a:ext uri="{FF2B5EF4-FFF2-40B4-BE49-F238E27FC236}">
                    <a16:creationId xmlns:a16="http://schemas.microsoft.com/office/drawing/2014/main" id="{7C9849CC-BF2C-0DAB-AF83-E1015D9FE0E6}"/>
                  </a:ext>
                </a:extLst>
              </p:cNvPr>
              <p:cNvSpPr txBox="1">
                <a:spLocks noRot="1" noChangeAspect="1" noMove="1" noResize="1" noEditPoints="1" noAdjustHandles="1" noChangeArrowheads="1" noChangeShapeType="1" noTextEdit="1"/>
              </p:cNvSpPr>
              <p:nvPr/>
            </p:nvSpPr>
            <p:spPr>
              <a:xfrm>
                <a:off x="180000" y="1498884"/>
                <a:ext cx="5558070" cy="400110"/>
              </a:xfrm>
              <a:prstGeom prst="rect">
                <a:avLst/>
              </a:prstGeom>
              <a:blipFill>
                <a:blip r:embed="rId2"/>
                <a:stretch>
                  <a:fillRect l="-1207" t="-7576" b="-2727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ABE07ED5-B13B-FE98-1A58-0C06FD443300}"/>
                  </a:ext>
                </a:extLst>
              </p:cNvPr>
              <p:cNvSpPr txBox="1"/>
              <p:nvPr/>
            </p:nvSpPr>
            <p:spPr>
              <a:xfrm>
                <a:off x="180000" y="2171438"/>
                <a:ext cx="10654018" cy="1477328"/>
              </a:xfrm>
              <a:prstGeom prst="rect">
                <a:avLst/>
              </a:prstGeom>
              <a:noFill/>
            </p:spPr>
            <p:txBody>
              <a:bodyPr wrap="square" rtlCol="0">
                <a:spAutoFit/>
              </a:bodyPr>
              <a:lstStyle/>
              <a:p>
                <a14:m>
                  <m:oMath xmlns:m="http://schemas.openxmlformats.org/officeDocument/2006/math">
                    <m:r>
                      <a:rPr kumimoji="1" lang="en-US" altLang="ja-JP" b="0" i="1" smtClean="0">
                        <a:latin typeface="Cambria Math" panose="02040503050406030204" pitchFamily="18" charset="0"/>
                      </a:rPr>
                      <m:t>𝑥𝑦</m:t>
                    </m:r>
                  </m:oMath>
                </a14:m>
                <a:r>
                  <a:rPr kumimoji="1" lang="ja-JP" altLang="en-US"/>
                  <a:t> 平面上の </a:t>
                </a:r>
                <a14:m>
                  <m:oMath xmlns:m="http://schemas.openxmlformats.org/officeDocument/2006/math">
                    <m:r>
                      <a:rPr kumimoji="1" lang="en-US" altLang="ja-JP" b="0" i="1" smtClean="0">
                        <a:latin typeface="Cambria Math" panose="02040503050406030204" pitchFamily="18" charset="0"/>
                      </a:rPr>
                      <m:t>𝑘</m:t>
                    </m:r>
                  </m:oMath>
                </a14:m>
                <a:r>
                  <a:rPr kumimoji="1" lang="ja-JP" altLang="en-US"/>
                  <a:t> 点 </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𝑃</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 ⋯, </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𝑃</m:t>
                        </m:r>
                      </m:e>
                      <m:sub>
                        <m:r>
                          <a:rPr kumimoji="1" lang="en-US" altLang="ja-JP" b="0" i="1" smtClean="0">
                            <a:latin typeface="Cambria Math" panose="02040503050406030204" pitchFamily="18" charset="0"/>
                          </a:rPr>
                          <m:t>𝑘</m:t>
                        </m:r>
                      </m:sub>
                    </m:sSub>
                  </m:oMath>
                </a14:m>
                <a:r>
                  <a:rPr kumimoji="1" lang="ja-JP" altLang="en-US"/>
                  <a:t> が与えられる</a:t>
                </a:r>
                <a:r>
                  <a:rPr kumimoji="1" lang="en-US" altLang="ja-JP"/>
                  <a:t>. </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𝑃</m:t>
                        </m:r>
                      </m:e>
                      <m:sub>
                        <m:r>
                          <a:rPr lang="en-US" altLang="ja-JP" i="1">
                            <a:latin typeface="Cambria Math" panose="02040503050406030204" pitchFamily="18" charset="0"/>
                          </a:rPr>
                          <m:t>1</m:t>
                        </m:r>
                      </m:sub>
                    </m:sSub>
                    <m:r>
                      <a:rPr lang="en-US" altLang="ja-JP" i="1">
                        <a:latin typeface="Cambria Math" panose="02040503050406030204" pitchFamily="18" charset="0"/>
                      </a:rPr>
                      <m:t>, ⋯, </m:t>
                    </m:r>
                    <m:sSub>
                      <m:sSubPr>
                        <m:ctrlPr>
                          <a:rPr lang="en-US" altLang="ja-JP" i="1">
                            <a:latin typeface="Cambria Math" panose="02040503050406030204" pitchFamily="18" charset="0"/>
                          </a:rPr>
                        </m:ctrlPr>
                      </m:sSubPr>
                      <m:e>
                        <m:r>
                          <a:rPr lang="en-US" altLang="ja-JP" i="1">
                            <a:latin typeface="Cambria Math" panose="02040503050406030204" pitchFamily="18" charset="0"/>
                          </a:rPr>
                          <m:t>𝑃</m:t>
                        </m:r>
                      </m:e>
                      <m:sub>
                        <m:r>
                          <a:rPr lang="en-US" altLang="ja-JP" i="1">
                            <a:latin typeface="Cambria Math" panose="02040503050406030204" pitchFamily="18" charset="0"/>
                          </a:rPr>
                          <m:t>𝑘</m:t>
                        </m:r>
                      </m:sub>
                    </m:sSub>
                  </m:oMath>
                </a14:m>
                <a:r>
                  <a:rPr kumimoji="1" lang="ja-JP" altLang="en-US"/>
                  <a:t> をすべて通る放物線を求めたい</a:t>
                </a:r>
                <a:r>
                  <a:rPr kumimoji="1" lang="en-US" altLang="ja-JP"/>
                  <a:t>.</a:t>
                </a:r>
                <a:r>
                  <a:rPr kumimoji="1" lang="ja-JP" altLang="en-US"/>
                  <a:t>このとき</a:t>
                </a:r>
                <a:r>
                  <a:rPr kumimoji="1" lang="en-US" altLang="ja-JP"/>
                  <a:t>,</a:t>
                </a:r>
              </a:p>
              <a:p>
                <a:endParaRPr kumimoji="1" lang="en-US" altLang="ja-JP"/>
              </a:p>
              <a:p>
                <a:pPr marL="285750" indent="-285750">
                  <a:buFont typeface="Arial" panose="020B0604020202020204" pitchFamily="34" charset="0"/>
                  <a:buChar char="•"/>
                </a:pPr>
                <a14:m>
                  <m:oMath xmlns:m="http://schemas.openxmlformats.org/officeDocument/2006/math">
                    <m:r>
                      <a:rPr kumimoji="1" lang="en-US" altLang="ja-JP" b="0" i="1" smtClean="0">
                        <a:latin typeface="Cambria Math" panose="02040503050406030204" pitchFamily="18" charset="0"/>
                      </a:rPr>
                      <m:t>𝑘</m:t>
                    </m:r>
                    <m:r>
                      <a:rPr kumimoji="1" lang="en-US" altLang="ja-JP" b="0" i="1" smtClean="0">
                        <a:latin typeface="Cambria Math" panose="02040503050406030204" pitchFamily="18" charset="0"/>
                      </a:rPr>
                      <m:t>=1, 2</m:t>
                    </m:r>
                  </m:oMath>
                </a14:m>
                <a:r>
                  <a:rPr kumimoji="1" lang="ja-JP" altLang="en-US"/>
                  <a:t> ならば</a:t>
                </a:r>
                <a:r>
                  <a:rPr kumimoji="1" lang="en-US" altLang="ja-JP"/>
                  <a:t>, </a:t>
                </a:r>
                <a:r>
                  <a:rPr lang="ja-JP" altLang="en-US"/>
                  <a:t>そのような放物線は無数に存在する</a:t>
                </a:r>
                <a:r>
                  <a:rPr lang="en-US" altLang="ja-JP"/>
                  <a:t>(</a:t>
                </a:r>
                <a:r>
                  <a:rPr lang="ja-JP" altLang="en-US"/>
                  <a:t>自由度がある</a:t>
                </a:r>
                <a:r>
                  <a:rPr lang="en-US" altLang="ja-JP"/>
                  <a:t>).</a:t>
                </a:r>
              </a:p>
              <a:p>
                <a:pPr marL="285750" indent="-285750">
                  <a:buFont typeface="Arial" panose="020B0604020202020204" pitchFamily="34" charset="0"/>
                  <a:buChar char="•"/>
                </a:pPr>
                <a14:m>
                  <m:oMath xmlns:m="http://schemas.openxmlformats.org/officeDocument/2006/math">
                    <m:r>
                      <a:rPr kumimoji="1" lang="en-US" altLang="ja-JP" b="0" i="1" smtClean="0">
                        <a:latin typeface="Cambria Math" panose="02040503050406030204" pitchFamily="18" charset="0"/>
                      </a:rPr>
                      <m:t>𝑘</m:t>
                    </m:r>
                    <m:r>
                      <a:rPr kumimoji="1" lang="en-US" altLang="ja-JP" b="0" i="1" smtClean="0">
                        <a:latin typeface="Cambria Math" panose="02040503050406030204" pitchFamily="18" charset="0"/>
                      </a:rPr>
                      <m:t>=3</m:t>
                    </m:r>
                  </m:oMath>
                </a14:m>
                <a:r>
                  <a:rPr kumimoji="1" lang="ja-JP" altLang="en-US"/>
                  <a:t> ならば</a:t>
                </a:r>
                <a:r>
                  <a:rPr kumimoji="1" lang="en-US" altLang="ja-JP"/>
                  <a:t>, </a:t>
                </a:r>
                <a:r>
                  <a:rPr kumimoji="1" lang="ja-JP" altLang="en-US"/>
                  <a:t>そのような放物線は一意に定まる</a:t>
                </a:r>
                <a:r>
                  <a:rPr kumimoji="1" lang="en-US" altLang="ja-JP"/>
                  <a:t>.</a:t>
                </a:r>
              </a:p>
              <a:p>
                <a:pPr marL="285750" indent="-285750">
                  <a:buFont typeface="Arial" panose="020B0604020202020204" pitchFamily="34" charset="0"/>
                  <a:buChar char="•"/>
                </a:pPr>
                <a14:m>
                  <m:oMath xmlns:m="http://schemas.openxmlformats.org/officeDocument/2006/math">
                    <m:r>
                      <a:rPr kumimoji="1" lang="en-US" altLang="ja-JP" b="0" i="1" smtClean="0">
                        <a:latin typeface="Cambria Math" panose="02040503050406030204" pitchFamily="18" charset="0"/>
                      </a:rPr>
                      <m:t>𝑘</m:t>
                    </m:r>
                    <m:r>
                      <a:rPr kumimoji="1" lang="en-US" altLang="ja-JP" b="0" i="1" smtClean="0">
                        <a:latin typeface="Cambria Math" panose="02040503050406030204" pitchFamily="18" charset="0"/>
                      </a:rPr>
                      <m:t>≥4</m:t>
                    </m:r>
                  </m:oMath>
                </a14:m>
                <a:r>
                  <a:rPr kumimoji="1" lang="ja-JP" altLang="en-US"/>
                  <a:t> ならば</a:t>
                </a:r>
                <a:r>
                  <a:rPr kumimoji="1" lang="en-US" altLang="ja-JP"/>
                  <a:t>, </a:t>
                </a:r>
                <a:r>
                  <a:rPr kumimoji="1" lang="ja-JP" altLang="en-US"/>
                  <a:t>そのような放物線はほとんどの場合で存在しない</a:t>
                </a:r>
                <a:r>
                  <a:rPr kumimoji="1" lang="en-US" altLang="ja-JP"/>
                  <a:t>.</a:t>
                </a:r>
                <a:endParaRPr kumimoji="1" lang="ja-JP" altLang="en-US"/>
              </a:p>
            </p:txBody>
          </p:sp>
        </mc:Choice>
        <mc:Fallback xmlns="">
          <p:sp>
            <p:nvSpPr>
              <p:cNvPr id="2" name="テキスト ボックス 1">
                <a:extLst>
                  <a:ext uri="{FF2B5EF4-FFF2-40B4-BE49-F238E27FC236}">
                    <a16:creationId xmlns:a16="http://schemas.microsoft.com/office/drawing/2014/main" id="{ABE07ED5-B13B-FE98-1A58-0C06FD443300}"/>
                  </a:ext>
                </a:extLst>
              </p:cNvPr>
              <p:cNvSpPr txBox="1">
                <a:spLocks noRot="1" noChangeAspect="1" noMove="1" noResize="1" noEditPoints="1" noAdjustHandles="1" noChangeArrowheads="1" noChangeShapeType="1" noTextEdit="1"/>
              </p:cNvSpPr>
              <p:nvPr/>
            </p:nvSpPr>
            <p:spPr>
              <a:xfrm>
                <a:off x="180000" y="2171438"/>
                <a:ext cx="10654018" cy="1477328"/>
              </a:xfrm>
              <a:prstGeom prst="rect">
                <a:avLst/>
              </a:prstGeom>
              <a:blipFill>
                <a:blip r:embed="rId3"/>
                <a:stretch>
                  <a:fillRect l="-401" t="-1646" b="-5761"/>
                </a:stretch>
              </a:blipFill>
            </p:spPr>
            <p:txBody>
              <a:bodyPr/>
              <a:lstStyle/>
              <a:p>
                <a:r>
                  <a:rPr lang="ja-JP" altLang="en-US">
                    <a:noFill/>
                  </a:rPr>
                  <a:t> </a:t>
                </a:r>
              </a:p>
            </p:txBody>
          </p:sp>
        </mc:Fallback>
      </mc:AlternateContent>
      <p:pic>
        <p:nvPicPr>
          <p:cNvPr id="9" name="図 8" descr="グラフ, 折れ線グラフ&#10;&#10;AI 生成コンテンツは誤りを含む可能性があります。">
            <a:extLst>
              <a:ext uri="{FF2B5EF4-FFF2-40B4-BE49-F238E27FC236}">
                <a16:creationId xmlns:a16="http://schemas.microsoft.com/office/drawing/2014/main" id="{A656D926-3F24-A801-B6A9-242FF023789C}"/>
              </a:ext>
            </a:extLst>
          </p:cNvPr>
          <p:cNvPicPr>
            <a:picLocks noChangeAspect="1"/>
          </p:cNvPicPr>
          <p:nvPr/>
        </p:nvPicPr>
        <p:blipFill>
          <a:blip r:embed="rId4"/>
          <a:stretch>
            <a:fillRect/>
          </a:stretch>
        </p:blipFill>
        <p:spPr>
          <a:xfrm>
            <a:off x="180000" y="3921210"/>
            <a:ext cx="2591410" cy="2461974"/>
          </a:xfrm>
          <a:prstGeom prst="rect">
            <a:avLst/>
          </a:prstGeom>
        </p:spPr>
      </p:pic>
    </p:spTree>
    <p:extLst>
      <p:ext uri="{BB962C8B-B14F-4D97-AF65-F5344CB8AC3E}">
        <p14:creationId xmlns:p14="http://schemas.microsoft.com/office/powerpoint/2010/main" val="362810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1E421-7E76-CF0B-2E75-45835C9A89CF}"/>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39995247-8024-B4F5-17E2-4E9220BAE972}"/>
              </a:ext>
            </a:extLst>
          </p:cNvPr>
          <p:cNvSpPr txBox="1"/>
          <p:nvPr/>
        </p:nvSpPr>
        <p:spPr>
          <a:xfrm>
            <a:off x="180000" y="180000"/>
            <a:ext cx="5558070" cy="584775"/>
          </a:xfrm>
          <a:prstGeom prst="rect">
            <a:avLst/>
          </a:prstGeom>
          <a:noFill/>
        </p:spPr>
        <p:txBody>
          <a:bodyPr wrap="square" rtlCol="0">
            <a:spAutoFit/>
          </a:bodyPr>
          <a:lstStyle/>
          <a:p>
            <a:r>
              <a:rPr lang="en-US" altLang="ja-JP" sz="3200" b="1" dirty="0">
                <a:solidFill>
                  <a:schemeClr val="accent4">
                    <a:lumMod val="75000"/>
                  </a:schemeClr>
                </a:solidFill>
              </a:rPr>
              <a:t>1</a:t>
            </a:r>
            <a:r>
              <a:rPr lang="en-US" altLang="ja-JP" sz="3200" b="1">
                <a:solidFill>
                  <a:schemeClr val="accent4">
                    <a:lumMod val="75000"/>
                  </a:schemeClr>
                </a:solidFill>
              </a:rPr>
              <a:t>.</a:t>
            </a:r>
            <a:r>
              <a:rPr lang="ja-JP" altLang="en-US" sz="3200" b="1">
                <a:solidFill>
                  <a:schemeClr val="accent4">
                    <a:lumMod val="75000"/>
                  </a:schemeClr>
                </a:solidFill>
              </a:rPr>
              <a:t> </a:t>
            </a:r>
            <a:r>
              <a:rPr lang="en-US" altLang="ja-JP" sz="3200" b="1">
                <a:solidFill>
                  <a:schemeClr val="accent4">
                    <a:lumMod val="75000"/>
                  </a:schemeClr>
                </a:solidFill>
              </a:rPr>
              <a:t>UOV</a:t>
            </a:r>
            <a:r>
              <a:rPr lang="ja-JP" altLang="en-US" sz="3200" b="1">
                <a:solidFill>
                  <a:schemeClr val="accent4">
                    <a:lumMod val="75000"/>
                  </a:schemeClr>
                </a:solidFill>
              </a:rPr>
              <a:t>再考</a:t>
            </a:r>
            <a:endParaRPr lang="en-US" altLang="ja-JP" sz="3200" b="1" dirty="0">
              <a:solidFill>
                <a:schemeClr val="accent4">
                  <a:lumMod val="75000"/>
                </a:schemeClr>
              </a:solidFill>
            </a:endParaRPr>
          </a:p>
        </p:txBody>
      </p:sp>
      <p:sp>
        <p:nvSpPr>
          <p:cNvPr id="5" name="テキスト ボックス 4">
            <a:extLst>
              <a:ext uri="{FF2B5EF4-FFF2-40B4-BE49-F238E27FC236}">
                <a16:creationId xmlns:a16="http://schemas.microsoft.com/office/drawing/2014/main" id="{B7E0E0BD-3DBB-19C0-C3BD-9E63811CBD67}"/>
              </a:ext>
            </a:extLst>
          </p:cNvPr>
          <p:cNvSpPr txBox="1"/>
          <p:nvPr/>
        </p:nvSpPr>
        <p:spPr>
          <a:xfrm>
            <a:off x="180000" y="764775"/>
            <a:ext cx="7227479" cy="461665"/>
          </a:xfrm>
          <a:prstGeom prst="rect">
            <a:avLst/>
          </a:prstGeom>
          <a:noFill/>
        </p:spPr>
        <p:txBody>
          <a:bodyPr wrap="square" rtlCol="0">
            <a:spAutoFit/>
          </a:bodyPr>
          <a:lstStyle/>
          <a:p>
            <a:r>
              <a:rPr kumimoji="1" lang="en-US" altLang="ja-JP" sz="2400" b="1">
                <a:solidFill>
                  <a:schemeClr val="accent4">
                    <a:lumMod val="75000"/>
                  </a:schemeClr>
                </a:solidFill>
              </a:rPr>
              <a:t>1-3. </a:t>
            </a:r>
            <a:r>
              <a:rPr lang="en-US" altLang="ja-JP" sz="2400" b="1">
                <a:solidFill>
                  <a:schemeClr val="accent4">
                    <a:lumMod val="75000"/>
                  </a:schemeClr>
                </a:solidFill>
              </a:rPr>
              <a:t>UOV</a:t>
            </a:r>
            <a:r>
              <a:rPr lang="ja-JP" altLang="en-US" sz="2400" b="1">
                <a:solidFill>
                  <a:schemeClr val="accent4">
                    <a:lumMod val="75000"/>
                  </a:schemeClr>
                </a:solidFill>
              </a:rPr>
              <a:t>の鍵生成</a:t>
            </a:r>
            <a:endParaRPr kumimoji="1" lang="ja-JP" altLang="en-US" sz="2400" b="1" dirty="0">
              <a:solidFill>
                <a:schemeClr val="accent4">
                  <a:lumMod val="75000"/>
                </a:schemeClr>
              </a:solidFill>
            </a:endParaRPr>
          </a:p>
        </p:txBody>
      </p:sp>
      <p:sp>
        <p:nvSpPr>
          <p:cNvPr id="6" name="テキスト ボックス 5">
            <a:extLst>
              <a:ext uri="{FF2B5EF4-FFF2-40B4-BE49-F238E27FC236}">
                <a16:creationId xmlns:a16="http://schemas.microsoft.com/office/drawing/2014/main" id="{590519DC-C17A-6E46-58D9-F449EA7C8178}"/>
              </a:ext>
            </a:extLst>
          </p:cNvPr>
          <p:cNvSpPr txBox="1"/>
          <p:nvPr/>
        </p:nvSpPr>
        <p:spPr>
          <a:xfrm>
            <a:off x="180000" y="1498884"/>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問題</a:t>
            </a:r>
            <a:r>
              <a:rPr lang="en-US" altLang="ja-JP" sz="2000" b="1"/>
              <a:t>: </a:t>
            </a:r>
            <a:r>
              <a:rPr lang="ja-JP" altLang="en-US" sz="2000" b="1"/>
              <a:t>二次錐の決定①</a:t>
            </a:r>
            <a:endParaRPr kumimoji="1" lang="ja-JP" altLang="en-US" sz="2000" b="1" dirty="0"/>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B33F49FB-C66D-4F19-81C0-901E0D7828BA}"/>
                  </a:ext>
                </a:extLst>
              </p:cNvPr>
              <p:cNvSpPr txBox="1"/>
              <p:nvPr/>
            </p:nvSpPr>
            <p:spPr>
              <a:xfrm>
                <a:off x="180000" y="1976064"/>
                <a:ext cx="10968969" cy="390748"/>
              </a:xfrm>
              <a:prstGeom prst="rect">
                <a:avLst/>
              </a:prstGeom>
              <a:noFill/>
            </p:spPr>
            <p:txBody>
              <a:bodyPr wrap="square" rtlCol="0">
                <a:spAutoFit/>
              </a:bodyPr>
              <a:lstStyle/>
              <a:p>
                <a14:m>
                  <m:oMath xmlns:m="http://schemas.openxmlformats.org/officeDocument/2006/math">
                    <m:sSubSup>
                      <m:sSubSupPr>
                        <m:ctrlPr>
                          <a:rPr kumimoji="1" lang="en-US" altLang="ja-JP" b="0" i="1" smtClean="0">
                            <a:latin typeface="Cambria Math" panose="02040503050406030204" pitchFamily="18" charset="0"/>
                          </a:rPr>
                        </m:ctrlPr>
                      </m:sSubSupPr>
                      <m:e>
                        <m:r>
                          <a:rPr kumimoji="1" lang="ja-JP" altLang="en-US" i="1" smtClean="0">
                            <a:latin typeface="Cambria Math" panose="02040503050406030204" pitchFamily="18" charset="0"/>
                          </a:rPr>
                          <m:t>𝔽</m:t>
                        </m:r>
                      </m:e>
                      <m:sub>
                        <m:r>
                          <a:rPr kumimoji="1" lang="en-US" altLang="ja-JP" b="0" i="1" smtClean="0">
                            <a:latin typeface="Cambria Math" panose="02040503050406030204" pitchFamily="18" charset="0"/>
                          </a:rPr>
                          <m:t>𝑞</m:t>
                        </m:r>
                      </m:sub>
                      <m:sup>
                        <m:r>
                          <a:rPr kumimoji="1" lang="en-US" altLang="ja-JP" b="0" i="1" smtClean="0">
                            <a:latin typeface="Cambria Math" panose="02040503050406030204" pitchFamily="18" charset="0"/>
                          </a:rPr>
                          <m:t>𝑛</m:t>
                        </m:r>
                      </m:sup>
                    </m:sSubSup>
                  </m:oMath>
                </a14:m>
                <a:r>
                  <a:rPr kumimoji="1" lang="ja-JP" altLang="en-US"/>
                  <a:t> 上の </a:t>
                </a:r>
                <a14:m>
                  <m:oMath xmlns:m="http://schemas.openxmlformats.org/officeDocument/2006/math">
                    <m:r>
                      <a:rPr kumimoji="1" lang="en-US" altLang="ja-JP" b="0" i="1" smtClean="0">
                        <a:latin typeface="Cambria Math" panose="02040503050406030204" pitchFamily="18" charset="0"/>
                      </a:rPr>
                      <m:t>1</m:t>
                    </m:r>
                  </m:oMath>
                </a14:m>
                <a:r>
                  <a:rPr kumimoji="1" lang="ja-JP" altLang="en-US"/>
                  <a:t> つの </a:t>
                </a:r>
                <a14:m>
                  <m:oMath xmlns:m="http://schemas.openxmlformats.org/officeDocument/2006/math">
                    <m:r>
                      <a:rPr kumimoji="1" lang="en-US" altLang="ja-JP" b="0" i="1" smtClean="0">
                        <a:latin typeface="Cambria Math" panose="02040503050406030204" pitchFamily="18" charset="0"/>
                      </a:rPr>
                      <m:t>𝑜</m:t>
                    </m:r>
                  </m:oMath>
                </a14:m>
                <a:r>
                  <a:rPr kumimoji="1" lang="ja-JP" altLang="en-US"/>
                  <a:t> 次部分空間 </a:t>
                </a:r>
                <a14:m>
                  <m:oMath xmlns:m="http://schemas.openxmlformats.org/officeDocument/2006/math">
                    <m:r>
                      <a:rPr kumimoji="1" lang="ja-JP" altLang="en-US" i="1" smtClean="0">
                        <a:latin typeface="Cambria Math" panose="02040503050406030204" pitchFamily="18" charset="0"/>
                      </a:rPr>
                      <m:t>𝒪</m:t>
                    </m:r>
                  </m:oMath>
                </a14:m>
                <a:r>
                  <a:rPr kumimoji="1" lang="ja-JP" altLang="en-US"/>
                  <a:t> が与えられる</a:t>
                </a:r>
                <a:r>
                  <a:rPr kumimoji="1" lang="en-US" altLang="ja-JP"/>
                  <a:t>. </a:t>
                </a:r>
                <a:r>
                  <a:rPr kumimoji="1" lang="ja-JP" altLang="en-US"/>
                  <a:t>このとき</a:t>
                </a:r>
                <a:r>
                  <a:rPr kumimoji="1" lang="en-US" altLang="ja-JP"/>
                  <a:t>, </a:t>
                </a:r>
                <a14:m>
                  <m:oMath xmlns:m="http://schemas.openxmlformats.org/officeDocument/2006/math">
                    <m:r>
                      <a:rPr kumimoji="1" lang="ja-JP" altLang="en-US" i="1" smtClean="0">
                        <a:latin typeface="Cambria Math" panose="02040503050406030204" pitchFamily="18" charset="0"/>
                      </a:rPr>
                      <m:t>𝒪</m:t>
                    </m:r>
                  </m:oMath>
                </a14:m>
                <a:r>
                  <a:rPr kumimoji="1" lang="ja-JP" altLang="en-US"/>
                  <a:t> を通るような二次錐 </a:t>
                </a:r>
                <a14:m>
                  <m:oMath xmlns:m="http://schemas.openxmlformats.org/officeDocument/2006/math">
                    <m:r>
                      <a:rPr kumimoji="1" lang="ja-JP" altLang="en-US" i="1" smtClean="0">
                        <a:latin typeface="Cambria Math" panose="02040503050406030204" pitchFamily="18" charset="0"/>
                      </a:rPr>
                      <m:t>𝒫</m:t>
                    </m:r>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ja-JP" altLang="en-US" b="0" i="1" smtClean="0">
                            <a:latin typeface="Cambria Math" panose="02040503050406030204" pitchFamily="18" charset="0"/>
                          </a:rPr>
                          <m:t>𝔽</m:t>
                        </m:r>
                      </m:e>
                      <m:sub>
                        <m:r>
                          <a:rPr kumimoji="1" lang="en-US" altLang="ja-JP" b="0" i="1" smtClean="0">
                            <a:latin typeface="Cambria Math" panose="02040503050406030204" pitchFamily="18" charset="0"/>
                          </a:rPr>
                          <m:t>𝑞</m:t>
                        </m:r>
                      </m:sub>
                    </m:sSub>
                    <m:sSubSup>
                      <m:sSubSupPr>
                        <m:ctrlPr>
                          <a:rPr kumimoji="1" lang="en-US" altLang="ja-JP" b="0" i="1" smtClean="0">
                            <a:latin typeface="Cambria Math" panose="02040503050406030204" pitchFamily="18" charset="0"/>
                          </a:rPr>
                        </m:ctrlPr>
                      </m:sSubSupPr>
                      <m:e>
                        <m:d>
                          <m:dPr>
                            <m:begChr m:val="["/>
                            <m:endChr m:val="]"/>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𝑥</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𝑛</m:t>
                                </m:r>
                              </m:e>
                            </m:d>
                          </m:e>
                        </m:d>
                      </m:e>
                      <m:sub>
                        <m:r>
                          <a:rPr kumimoji="1" lang="en-US" altLang="ja-JP" b="0" i="1" smtClean="0">
                            <a:latin typeface="Cambria Math" panose="02040503050406030204" pitchFamily="18" charset="0"/>
                          </a:rPr>
                          <m:t>2</m:t>
                        </m:r>
                      </m:sub>
                      <m:sup>
                        <m:r>
                          <a:rPr kumimoji="1" lang="en-US" altLang="ja-JP" b="0" i="1" smtClean="0">
                            <a:latin typeface="Cambria Math" panose="02040503050406030204" pitchFamily="18" charset="0"/>
                          </a:rPr>
                          <m:t>𝑚</m:t>
                        </m:r>
                      </m:sup>
                    </m:sSubSup>
                  </m:oMath>
                </a14:m>
                <a:r>
                  <a:rPr kumimoji="1" lang="ja-JP" altLang="en-US"/>
                  <a:t> を求</a:t>
                </a:r>
                <a:r>
                  <a:rPr lang="ja-JP" altLang="en-US"/>
                  <a:t>めよ</a:t>
                </a:r>
                <a:r>
                  <a:rPr lang="en-US" altLang="ja-JP"/>
                  <a:t>.</a:t>
                </a:r>
                <a:endParaRPr kumimoji="1" lang="ja-JP" altLang="en-US"/>
              </a:p>
            </p:txBody>
          </p:sp>
        </mc:Choice>
        <mc:Fallback xmlns="">
          <p:sp>
            <p:nvSpPr>
              <p:cNvPr id="2" name="テキスト ボックス 1">
                <a:extLst>
                  <a:ext uri="{FF2B5EF4-FFF2-40B4-BE49-F238E27FC236}">
                    <a16:creationId xmlns:a16="http://schemas.microsoft.com/office/drawing/2014/main" id="{B33F49FB-C66D-4F19-81C0-901E0D7828BA}"/>
                  </a:ext>
                </a:extLst>
              </p:cNvPr>
              <p:cNvSpPr txBox="1">
                <a:spLocks noRot="1" noChangeAspect="1" noMove="1" noResize="1" noEditPoints="1" noAdjustHandles="1" noChangeArrowheads="1" noChangeShapeType="1" noTextEdit="1"/>
              </p:cNvSpPr>
              <p:nvPr/>
            </p:nvSpPr>
            <p:spPr>
              <a:xfrm>
                <a:off x="180000" y="1976064"/>
                <a:ext cx="10968969" cy="390748"/>
              </a:xfrm>
              <a:prstGeom prst="rect">
                <a:avLst/>
              </a:prstGeom>
              <a:blipFill>
                <a:blip r:embed="rId2"/>
                <a:stretch>
                  <a:fillRect t="-4688" b="-21875"/>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B9AFDB42-B7E2-98BA-0DC1-DEAA62260F55}"/>
              </a:ext>
            </a:extLst>
          </p:cNvPr>
          <p:cNvSpPr txBox="1"/>
          <p:nvPr/>
        </p:nvSpPr>
        <p:spPr>
          <a:xfrm>
            <a:off x="179999" y="2713578"/>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解答</a:t>
            </a:r>
            <a:r>
              <a:rPr lang="en-US" altLang="ja-JP" sz="2000" b="1"/>
              <a:t>1: UOV</a:t>
            </a:r>
            <a:r>
              <a:rPr lang="ja-JP" altLang="en-US" sz="2000" b="1"/>
              <a:t>の鍵生成</a:t>
            </a:r>
            <a:endParaRPr kumimoji="1" lang="ja-JP" altLang="en-US" sz="2000" b="1" dirty="0"/>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3559D48A-6614-F477-BC6A-383B797B9289}"/>
                  </a:ext>
                </a:extLst>
              </p:cNvPr>
              <p:cNvSpPr txBox="1"/>
              <p:nvPr/>
            </p:nvSpPr>
            <p:spPr>
              <a:xfrm>
                <a:off x="179998" y="3155431"/>
                <a:ext cx="10968969" cy="646331"/>
              </a:xfrm>
              <a:prstGeom prst="rect">
                <a:avLst/>
              </a:prstGeom>
              <a:noFill/>
            </p:spPr>
            <p:txBody>
              <a:bodyPr wrap="square" rtlCol="0">
                <a:spAutoFit/>
              </a:bodyPr>
              <a:lstStyle/>
              <a:p>
                <a14:m>
                  <m:oMath xmlns:m="http://schemas.openxmlformats.org/officeDocument/2006/math">
                    <m:r>
                      <a:rPr kumimoji="1" lang="ja-JP" altLang="en-US" i="1" smtClean="0">
                        <a:latin typeface="Cambria Math" panose="02040503050406030204" pitchFamily="18" charset="0"/>
                      </a:rPr>
                      <m:t>𝒫</m:t>
                    </m:r>
                    <m:r>
                      <a:rPr kumimoji="1" lang="en-US" altLang="ja-JP" b="0" i="1" smtClean="0">
                        <a:latin typeface="Cambria Math" panose="02040503050406030204" pitchFamily="18" charset="0"/>
                      </a:rPr>
                      <m:t>, </m:t>
                    </m:r>
                    <m:r>
                      <a:rPr kumimoji="1" lang="ja-JP" altLang="en-US" b="0" i="1" smtClean="0">
                        <a:latin typeface="Cambria Math" panose="02040503050406030204" pitchFamily="18" charset="0"/>
                      </a:rPr>
                      <m:t>𝒪</m:t>
                    </m:r>
                  </m:oMath>
                </a14:m>
                <a:r>
                  <a:rPr kumimoji="1" lang="ja-JP" altLang="en-US"/>
                  <a:t> をそれぞれ</a:t>
                </a:r>
                <a:r>
                  <a:rPr lang="en-US" altLang="ja-JP"/>
                  <a:t> </a:t>
                </a:r>
                <a14:m>
                  <m:oMath xmlns:m="http://schemas.openxmlformats.org/officeDocument/2006/math">
                    <m:func>
                      <m:funcPr>
                        <m:ctrlPr>
                          <a:rPr lang="en-US" altLang="ja-JP" i="1" smtClean="0">
                            <a:latin typeface="Cambria Math" panose="02040503050406030204" pitchFamily="18" charset="0"/>
                          </a:rPr>
                        </m:ctrlPr>
                      </m:funcPr>
                      <m:fName>
                        <m:r>
                          <m:rPr>
                            <m:sty m:val="p"/>
                          </m:rPr>
                          <a:rPr lang="en-US" altLang="ja-JP" b="0" i="0" smtClean="0">
                            <a:latin typeface="Cambria Math" panose="02040503050406030204" pitchFamily="18" charset="0"/>
                          </a:rPr>
                          <m:t>UOV</m:t>
                        </m:r>
                      </m:fName>
                      <m:e>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𝑞</m:t>
                            </m:r>
                            <m:r>
                              <a:rPr lang="en-US" altLang="ja-JP" b="0" i="1" smtClean="0">
                                <a:latin typeface="Cambria Math" panose="02040503050406030204" pitchFamily="18" charset="0"/>
                              </a:rPr>
                              <m:t>, </m:t>
                            </m:r>
                            <m:r>
                              <a:rPr lang="en-US" altLang="ja-JP" b="0" i="1" smtClean="0">
                                <a:latin typeface="Cambria Math" panose="02040503050406030204" pitchFamily="18" charset="0"/>
                              </a:rPr>
                              <m:t>𝑛</m:t>
                            </m:r>
                            <m:r>
                              <a:rPr lang="en-US" altLang="ja-JP" b="0" i="1" smtClean="0">
                                <a:latin typeface="Cambria Math" panose="02040503050406030204" pitchFamily="18" charset="0"/>
                              </a:rPr>
                              <m:t>, </m:t>
                            </m:r>
                            <m:r>
                              <a:rPr lang="en-US" altLang="ja-JP" b="0" i="1" smtClean="0">
                                <a:latin typeface="Cambria Math" panose="02040503050406030204" pitchFamily="18" charset="0"/>
                              </a:rPr>
                              <m:t>𝑚</m:t>
                            </m:r>
                            <m:r>
                              <a:rPr lang="en-US" altLang="ja-JP" b="0" i="1" smtClean="0">
                                <a:latin typeface="Cambria Math" panose="02040503050406030204" pitchFamily="18" charset="0"/>
                              </a:rPr>
                              <m:t>, </m:t>
                            </m:r>
                            <m:r>
                              <a:rPr lang="en-US" altLang="ja-JP" b="0" i="1" smtClean="0">
                                <a:latin typeface="Cambria Math" panose="02040503050406030204" pitchFamily="18" charset="0"/>
                              </a:rPr>
                              <m:t>𝑜</m:t>
                            </m:r>
                          </m:e>
                        </m:d>
                      </m:e>
                    </m:func>
                  </m:oMath>
                </a14:m>
                <a:r>
                  <a:rPr kumimoji="1" lang="ja-JP" altLang="en-US"/>
                  <a:t> の公開鍵</a:t>
                </a:r>
                <a:r>
                  <a:rPr kumimoji="1" lang="en-US" altLang="ja-JP"/>
                  <a:t>, </a:t>
                </a:r>
                <a:r>
                  <a:rPr kumimoji="1" lang="ja-JP" altLang="en-US"/>
                  <a:t>秘密鍵とみなして鍵生成を行えばよい</a:t>
                </a:r>
                <a:r>
                  <a:rPr kumimoji="1" lang="en-US" altLang="ja-JP"/>
                  <a:t>.</a:t>
                </a:r>
              </a:p>
              <a:p>
                <a:r>
                  <a:rPr lang="en-US" altLang="ja-JP"/>
                  <a:t>(seed_pk </a:t>
                </a:r>
                <a:r>
                  <a:rPr lang="ja-JP" altLang="en-US"/>
                  <a:t>が必要なことからわかるように</a:t>
                </a:r>
                <a:r>
                  <a:rPr lang="en-US" altLang="ja-JP"/>
                  <a:t>, </a:t>
                </a:r>
                <a14:m>
                  <m:oMath xmlns:m="http://schemas.openxmlformats.org/officeDocument/2006/math">
                    <m:r>
                      <a:rPr lang="ja-JP" altLang="en-US" i="1" smtClean="0">
                        <a:latin typeface="Cambria Math" panose="02040503050406030204" pitchFamily="18" charset="0"/>
                      </a:rPr>
                      <m:t>𝒫</m:t>
                    </m:r>
                  </m:oMath>
                </a14:m>
                <a:r>
                  <a:rPr kumimoji="1" lang="ja-JP" altLang="en-US"/>
                  <a:t> の決定には自由度がある</a:t>
                </a:r>
                <a:r>
                  <a:rPr kumimoji="1" lang="en-US" altLang="ja-JP"/>
                  <a:t>.)</a:t>
                </a:r>
                <a:endParaRPr kumimoji="1" lang="ja-JP" altLang="en-US"/>
              </a:p>
            </p:txBody>
          </p:sp>
        </mc:Choice>
        <mc:Fallback xmlns="">
          <p:sp>
            <p:nvSpPr>
              <p:cNvPr id="8" name="テキスト ボックス 7">
                <a:extLst>
                  <a:ext uri="{FF2B5EF4-FFF2-40B4-BE49-F238E27FC236}">
                    <a16:creationId xmlns:a16="http://schemas.microsoft.com/office/drawing/2014/main" id="{3559D48A-6614-F477-BC6A-383B797B9289}"/>
                  </a:ext>
                </a:extLst>
              </p:cNvPr>
              <p:cNvSpPr txBox="1">
                <a:spLocks noRot="1" noChangeAspect="1" noMove="1" noResize="1" noEditPoints="1" noAdjustHandles="1" noChangeArrowheads="1" noChangeShapeType="1" noTextEdit="1"/>
              </p:cNvSpPr>
              <p:nvPr/>
            </p:nvSpPr>
            <p:spPr>
              <a:xfrm>
                <a:off x="179998" y="3155431"/>
                <a:ext cx="10968969" cy="646331"/>
              </a:xfrm>
              <a:prstGeom prst="rect">
                <a:avLst/>
              </a:prstGeom>
              <a:blipFill>
                <a:blip r:embed="rId3"/>
                <a:stretch>
                  <a:fillRect l="-500" t="-4717" b="-15094"/>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8C628EBC-DEA8-5095-B9C8-35E1BD558426}"/>
              </a:ext>
            </a:extLst>
          </p:cNvPr>
          <p:cNvSpPr txBox="1"/>
          <p:nvPr/>
        </p:nvSpPr>
        <p:spPr>
          <a:xfrm>
            <a:off x="180000" y="4153904"/>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解答</a:t>
            </a:r>
            <a:r>
              <a:rPr lang="en-US" altLang="ja-JP" sz="2000" b="1"/>
              <a:t>2: </a:t>
            </a:r>
            <a:r>
              <a:rPr lang="ja-JP" altLang="en-US" sz="2000" b="1"/>
              <a:t>放物線決定のアナロジー</a:t>
            </a:r>
            <a:endParaRPr kumimoji="1" lang="ja-JP" altLang="en-US" sz="2000" b="1" dirty="0"/>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CB5C3C4F-8C95-B612-A1D2-568629FB80FC}"/>
                  </a:ext>
                </a:extLst>
              </p:cNvPr>
              <p:cNvSpPr txBox="1"/>
              <p:nvPr/>
            </p:nvSpPr>
            <p:spPr>
              <a:xfrm>
                <a:off x="179999" y="4616345"/>
                <a:ext cx="10968969" cy="2061655"/>
              </a:xfrm>
              <a:prstGeom prst="rect">
                <a:avLst/>
              </a:prstGeom>
              <a:noFill/>
            </p:spPr>
            <p:txBody>
              <a:bodyPr wrap="square" rtlCol="0">
                <a:spAutoFit/>
              </a:bodyPr>
              <a:lstStyle/>
              <a:p>
                <a:r>
                  <a:rPr lang="ja-JP" altLang="en-US"/>
                  <a:t>各</a:t>
                </a:r>
                <a:r>
                  <a:rPr kumimoji="1" lang="en-US" altLang="ja-JP" b="0"/>
                  <a:t> </a:t>
                </a:r>
                <a14:m>
                  <m:oMath xmlns:m="http://schemas.openxmlformats.org/officeDocument/2006/math">
                    <m:sSub>
                      <m:sSubPr>
                        <m:ctrlPr>
                          <a:rPr kumimoji="1" lang="en-US" altLang="ja-JP" b="0" i="1" smtClean="0">
                            <a:latin typeface="Cambria Math" panose="02040503050406030204" pitchFamily="18" charset="0"/>
                          </a:rPr>
                        </m:ctrlPr>
                      </m:sSubPr>
                      <m:e>
                        <m:r>
                          <a:rPr kumimoji="1" lang="ja-JP" altLang="en-US" i="1" smtClean="0">
                            <a:latin typeface="Cambria Math" panose="02040503050406030204" pitchFamily="18" charset="0"/>
                          </a:rPr>
                          <m:t>𝒫</m:t>
                        </m:r>
                      </m:e>
                      <m:sub>
                        <m:r>
                          <a:rPr kumimoji="1" lang="en-US" altLang="ja-JP" b="0" i="1" smtClean="0">
                            <a:latin typeface="Cambria Math" panose="02040503050406030204" pitchFamily="18" charset="0"/>
                          </a:rPr>
                          <m:t>𝑖</m:t>
                        </m:r>
                      </m:sub>
                    </m:sSub>
                  </m:oMath>
                </a14:m>
                <a:r>
                  <a:rPr kumimoji="1" lang="ja-JP" altLang="en-US"/>
                  <a:t> </a:t>
                </a:r>
                <a:r>
                  <a:rPr lang="ja-JP" altLang="en-US"/>
                  <a:t>に</a:t>
                </a:r>
                <a:r>
                  <a:rPr kumimoji="1" lang="ja-JP" altLang="en-US"/>
                  <a:t>ついて</a:t>
                </a:r>
                <a:r>
                  <a:rPr kumimoji="1" lang="en-US" altLang="ja-JP"/>
                  <a:t>, </a:t>
                </a:r>
                <a:r>
                  <a:rPr kumimoji="1" lang="ja-JP" altLang="en-US"/>
                  <a:t>全ての</a:t>
                </a:r>
                <a:r>
                  <a:rPr lang="ja-JP" altLang="en-US"/>
                  <a:t>係数 </a:t>
                </a:r>
                <a:r>
                  <a:rPr lang="en-US" altLang="ja-JP"/>
                  <a:t>( </a:t>
                </a:r>
                <a14:m>
                  <m:oMath xmlns:m="http://schemas.openxmlformats.org/officeDocument/2006/math">
                    <m:f>
                      <m:fPr>
                        <m:ctrlPr>
                          <a:rPr lang="en-US" altLang="ja-JP" i="1" smtClean="0">
                            <a:latin typeface="Cambria Math" panose="02040503050406030204" pitchFamily="18" charset="0"/>
                          </a:rPr>
                        </m:ctrlPr>
                      </m:fPr>
                      <m:num>
                        <m:r>
                          <a:rPr lang="en-US" altLang="ja-JP" b="0" i="1" smtClean="0">
                            <a:latin typeface="Cambria Math" panose="02040503050406030204" pitchFamily="18" charset="0"/>
                          </a:rPr>
                          <m:t>𝑛</m:t>
                        </m:r>
                        <m:r>
                          <a:rPr lang="en-US" altLang="ja-JP" b="0" i="1" smtClean="0">
                            <a:latin typeface="Cambria Math" panose="02040503050406030204" pitchFamily="18" charset="0"/>
                          </a:rPr>
                          <m:t>(</m:t>
                        </m:r>
                        <m:r>
                          <a:rPr lang="en-US" altLang="ja-JP" b="0" i="1" smtClean="0">
                            <a:latin typeface="Cambria Math" panose="02040503050406030204" pitchFamily="18" charset="0"/>
                          </a:rPr>
                          <m:t>𝑛</m:t>
                        </m:r>
                        <m:r>
                          <a:rPr lang="en-US" altLang="ja-JP" b="0" i="1" smtClean="0">
                            <a:latin typeface="Cambria Math" panose="02040503050406030204" pitchFamily="18" charset="0"/>
                          </a:rPr>
                          <m:t>+1)</m:t>
                        </m:r>
                      </m:num>
                      <m:den>
                        <m:r>
                          <a:rPr lang="en-US" altLang="ja-JP" b="0" i="1" smtClean="0">
                            <a:latin typeface="Cambria Math" panose="02040503050406030204" pitchFamily="18" charset="0"/>
                          </a:rPr>
                          <m:t>2</m:t>
                        </m:r>
                      </m:den>
                    </m:f>
                  </m:oMath>
                </a14:m>
                <a:r>
                  <a:rPr kumimoji="1" lang="en-US" altLang="ja-JP"/>
                  <a:t> </a:t>
                </a:r>
                <a:r>
                  <a:rPr kumimoji="1" lang="ja-JP" altLang="en-US"/>
                  <a:t>個 </a:t>
                </a:r>
                <a:r>
                  <a:rPr kumimoji="1" lang="en-US" altLang="ja-JP"/>
                  <a:t>) </a:t>
                </a:r>
                <a:r>
                  <a:rPr kumimoji="1" lang="ja-JP" altLang="en-US"/>
                  <a:t>を未知数とし</a:t>
                </a:r>
                <a:r>
                  <a:rPr lang="ja-JP" altLang="en-US"/>
                  <a:t>た線形方程式</a:t>
                </a:r>
                <a:endParaRPr kumimoji="1" lang="en-US" altLang="ja-JP"/>
              </a:p>
              <a:p>
                <a:pPr/>
                <a14:m>
                  <m:oMathPara xmlns:m="http://schemas.openxmlformats.org/officeDocument/2006/math">
                    <m:oMathParaPr>
                      <m:jc m:val="centerGroup"/>
                    </m:oMathParaPr>
                    <m:oMath xmlns:m="http://schemas.openxmlformats.org/officeDocument/2006/math">
                      <m:d>
                        <m:dPr>
                          <m:begChr m:val="{"/>
                          <m:endChr m:val=""/>
                          <m:ctrlPr>
                            <a:rPr kumimoji="1" lang="en-US" altLang="ja-JP" b="0" i="1" smtClean="0">
                              <a:latin typeface="Cambria Math" panose="02040503050406030204" pitchFamily="18" charset="0"/>
                            </a:rPr>
                          </m:ctrlPr>
                        </m:dPr>
                        <m:e>
                          <m:eqArr>
                            <m:eqArrPr>
                              <m:ctrlPr>
                                <a:rPr kumimoji="1" lang="en-US" altLang="ja-JP" b="0" i="1" smtClean="0">
                                  <a:latin typeface="Cambria Math" panose="02040503050406030204" pitchFamily="18" charset="0"/>
                                </a:rPr>
                              </m:ctrlPr>
                            </m:eqArrPr>
                            <m:e>
                              <m:r>
                                <a:rPr lang="ja-JP" altLang="en-US" i="1">
                                  <a:latin typeface="Cambria Math" panose="02040503050406030204" pitchFamily="18" charset="0"/>
                                </a:rPr>
                                <m:t>𝒫</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i="1">
                                          <a:latin typeface="Cambria Math" panose="02040503050406030204" pitchFamily="18" charset="0"/>
                                        </a:rPr>
                                        <m:t>1</m:t>
                                      </m:r>
                                    </m:sub>
                                  </m:sSub>
                                  <m:sSub>
                                    <m:sSubPr>
                                      <m:ctrlPr>
                                        <a:rPr lang="en-US" altLang="ja-JP" i="1">
                                          <a:latin typeface="Cambria Math" panose="02040503050406030204" pitchFamily="18" charset="0"/>
                                        </a:rPr>
                                      </m:ctrlPr>
                                    </m:sSubPr>
                                    <m:e>
                                      <m:r>
                                        <a:rPr lang="ja-JP" altLang="en-US" i="1">
                                          <a:latin typeface="Cambria Math" panose="02040503050406030204" pitchFamily="18" charset="0"/>
                                        </a:rPr>
                                        <m:t>𝕓</m:t>
                                      </m:r>
                                    </m:e>
                                    <m:sub>
                                      <m:r>
                                        <a:rPr lang="en-US" altLang="ja-JP" i="1">
                                          <a:latin typeface="Cambria Math" panose="02040503050406030204" pitchFamily="18" charset="0"/>
                                        </a:rPr>
                                        <m:t>1</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i="1">
                                          <a:latin typeface="Cambria Math" panose="02040503050406030204" pitchFamily="18" charset="0"/>
                                        </a:rPr>
                                        <m:t>𝑜</m:t>
                                      </m:r>
                                    </m:sub>
                                  </m:sSub>
                                  <m:sSub>
                                    <m:sSubPr>
                                      <m:ctrlPr>
                                        <a:rPr lang="en-US" altLang="ja-JP" i="1">
                                          <a:latin typeface="Cambria Math" panose="02040503050406030204" pitchFamily="18" charset="0"/>
                                        </a:rPr>
                                      </m:ctrlPr>
                                    </m:sSubPr>
                                    <m:e>
                                      <m:r>
                                        <a:rPr lang="ja-JP" altLang="en-US" i="1">
                                          <a:latin typeface="Cambria Math" panose="02040503050406030204" pitchFamily="18" charset="0"/>
                                        </a:rPr>
                                        <m:t>𝕓</m:t>
                                      </m:r>
                                    </m:e>
                                    <m:sub>
                                      <m:r>
                                        <a:rPr lang="en-US" altLang="ja-JP" i="1">
                                          <a:latin typeface="Cambria Math" panose="02040503050406030204" pitchFamily="18" charset="0"/>
                                        </a:rPr>
                                        <m:t>𝑜</m:t>
                                      </m:r>
                                    </m:sub>
                                  </m:sSub>
                                </m:e>
                              </m:d>
                              <m:r>
                                <a:rPr lang="en-US" altLang="ja-JP" i="1">
                                  <a:latin typeface="Cambria Math" panose="02040503050406030204" pitchFamily="18" charset="0"/>
                                </a:rPr>
                                <m:t>.</m:t>
                              </m:r>
                              <m:r>
                                <m:rPr>
                                  <m:sty m:val="p"/>
                                </m:rPr>
                                <a:rPr lang="en-US" altLang="ja-JP">
                                  <a:latin typeface="Cambria Math" panose="02040503050406030204" pitchFamily="18" charset="0"/>
                                </a:rPr>
                                <m:t>coeff</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i="1">
                                          <a:latin typeface="Cambria Math" panose="02040503050406030204" pitchFamily="18" charset="0"/>
                                        </a:rPr>
                                        <m:t>1</m:t>
                                      </m:r>
                                    </m:sub>
                                  </m:sSub>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𝑡</m:t>
                                      </m:r>
                                    </m:e>
                                    <m:sub>
                                      <m:r>
                                        <a:rPr lang="en-US" altLang="ja-JP" b="0" i="1" smtClean="0">
                                          <a:latin typeface="Cambria Math" panose="02040503050406030204" pitchFamily="18" charset="0"/>
                                        </a:rPr>
                                        <m:t>1</m:t>
                                      </m:r>
                                    </m:sub>
                                  </m:sSub>
                                </m:e>
                              </m:d>
                              <m:r>
                                <a:rPr lang="en-US" altLang="ja-JP" i="1">
                                  <a:latin typeface="Cambria Math" panose="02040503050406030204" pitchFamily="18" charset="0"/>
                                </a:rPr>
                                <m:t>=0</m:t>
                              </m:r>
                              <m:r>
                                <m:rPr>
                                  <m:nor/>
                                </m:rPr>
                                <a:rPr lang="en-US" altLang="ja-JP"/>
                                <m:t> </m:t>
                              </m:r>
                            </m:e>
                            <m:e>
                              <m:r>
                                <a:rPr kumimoji="1" lang="en-US" altLang="ja-JP" b="0" i="1" smtClean="0">
                                  <a:latin typeface="Cambria Math" panose="02040503050406030204" pitchFamily="18" charset="0"/>
                                </a:rPr>
                                <m:t>⋮</m:t>
                              </m:r>
                            </m:e>
                            <m:e>
                              <m:r>
                                <a:rPr lang="ja-JP" altLang="en-US" i="1" smtClean="0">
                                  <a:latin typeface="Cambria Math" panose="02040503050406030204" pitchFamily="18" charset="0"/>
                                </a:rPr>
                                <m:t>𝒫</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i="1">
                                          <a:latin typeface="Cambria Math" panose="02040503050406030204" pitchFamily="18" charset="0"/>
                                        </a:rPr>
                                        <m:t>1</m:t>
                                      </m:r>
                                    </m:sub>
                                  </m:sSub>
                                  <m:sSub>
                                    <m:sSubPr>
                                      <m:ctrlPr>
                                        <a:rPr lang="en-US" altLang="ja-JP" i="1">
                                          <a:latin typeface="Cambria Math" panose="02040503050406030204" pitchFamily="18" charset="0"/>
                                        </a:rPr>
                                      </m:ctrlPr>
                                    </m:sSubPr>
                                    <m:e>
                                      <m:r>
                                        <a:rPr lang="ja-JP" altLang="en-US" i="1">
                                          <a:latin typeface="Cambria Math" panose="02040503050406030204" pitchFamily="18" charset="0"/>
                                        </a:rPr>
                                        <m:t>𝕓</m:t>
                                      </m:r>
                                    </m:e>
                                    <m:sub>
                                      <m:r>
                                        <a:rPr lang="en-US" altLang="ja-JP" i="1">
                                          <a:latin typeface="Cambria Math" panose="02040503050406030204" pitchFamily="18" charset="0"/>
                                        </a:rPr>
                                        <m:t>1</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i="1">
                                          <a:latin typeface="Cambria Math" panose="02040503050406030204" pitchFamily="18" charset="0"/>
                                        </a:rPr>
                                        <m:t>𝑜</m:t>
                                      </m:r>
                                    </m:sub>
                                  </m:sSub>
                                  <m:sSub>
                                    <m:sSubPr>
                                      <m:ctrlPr>
                                        <a:rPr lang="en-US" altLang="ja-JP" i="1">
                                          <a:latin typeface="Cambria Math" panose="02040503050406030204" pitchFamily="18" charset="0"/>
                                        </a:rPr>
                                      </m:ctrlPr>
                                    </m:sSubPr>
                                    <m:e>
                                      <m:r>
                                        <a:rPr lang="ja-JP" altLang="en-US" i="1">
                                          <a:latin typeface="Cambria Math" panose="02040503050406030204" pitchFamily="18" charset="0"/>
                                        </a:rPr>
                                        <m:t>𝕓</m:t>
                                      </m:r>
                                    </m:e>
                                    <m:sub>
                                      <m:r>
                                        <a:rPr lang="en-US" altLang="ja-JP" i="1">
                                          <a:latin typeface="Cambria Math" panose="02040503050406030204" pitchFamily="18" charset="0"/>
                                        </a:rPr>
                                        <m:t>𝑜</m:t>
                                      </m:r>
                                    </m:sub>
                                  </m:sSub>
                                </m:e>
                              </m:d>
                              <m:r>
                                <a:rPr lang="en-US" altLang="ja-JP" i="1">
                                  <a:latin typeface="Cambria Math" panose="02040503050406030204" pitchFamily="18" charset="0"/>
                                </a:rPr>
                                <m:t>.</m:t>
                              </m:r>
                              <m:r>
                                <m:rPr>
                                  <m:sty m:val="p"/>
                                </m:rPr>
                                <a:rPr lang="en-US" altLang="ja-JP">
                                  <a:latin typeface="Cambria Math" panose="02040503050406030204" pitchFamily="18" charset="0"/>
                                </a:rPr>
                                <m:t>coeff</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b="0" i="1" smtClean="0">
                                          <a:latin typeface="Cambria Math" panose="02040503050406030204" pitchFamily="18" charset="0"/>
                                        </a:rPr>
                                        <m:t>𝑜</m:t>
                                      </m:r>
                                    </m:sub>
                                  </m:sSub>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𝑡</m:t>
                                      </m:r>
                                    </m:e>
                                    <m:sub>
                                      <m:r>
                                        <a:rPr lang="en-US" altLang="ja-JP" b="0" i="1" smtClean="0">
                                          <a:latin typeface="Cambria Math" panose="02040503050406030204" pitchFamily="18" charset="0"/>
                                        </a:rPr>
                                        <m:t>𝑜</m:t>
                                      </m:r>
                                    </m:sub>
                                  </m:sSub>
                                </m:e>
                              </m:d>
                              <m:r>
                                <a:rPr lang="en-US" altLang="ja-JP" i="1">
                                  <a:latin typeface="Cambria Math" panose="02040503050406030204" pitchFamily="18" charset="0"/>
                                </a:rPr>
                                <m:t>=0</m:t>
                              </m:r>
                            </m:e>
                          </m:eqArr>
                        </m:e>
                      </m:d>
                    </m:oMath>
                  </m:oMathPara>
                </a14:m>
                <a:br>
                  <a:rPr kumimoji="1" lang="en-US" altLang="ja-JP"/>
                </a:br>
                <a:endParaRPr kumimoji="1" lang="en-US" altLang="ja-JP"/>
              </a:p>
              <a:p>
                <a:r>
                  <a:rPr kumimoji="1" lang="ja-JP" altLang="en-US"/>
                  <a:t>を解けばよい</a:t>
                </a:r>
                <a:r>
                  <a:rPr kumimoji="1" lang="en-US" altLang="ja-JP"/>
                  <a:t>. </a:t>
                </a:r>
                <a:r>
                  <a:rPr kumimoji="1" lang="ja-JP" altLang="en-US"/>
                  <a:t>ここで </a:t>
                </a:r>
                <a14:m>
                  <m:oMath xmlns:m="http://schemas.openxmlformats.org/officeDocument/2006/math">
                    <m:r>
                      <a:rPr kumimoji="1" lang="ja-JP" altLang="en-US" i="1" smtClean="0">
                        <a:latin typeface="Cambria Math" panose="02040503050406030204" pitchFamily="18" charset="0"/>
                      </a:rPr>
                      <m:t>𝕓</m:t>
                    </m:r>
                  </m:oMath>
                </a14:m>
                <a:r>
                  <a:rPr kumimoji="1" lang="en-US" altLang="ja-JP"/>
                  <a:t> </a:t>
                </a:r>
                <a:r>
                  <a:rPr kumimoji="1" lang="ja-JP" altLang="en-US"/>
                  <a:t>は </a:t>
                </a:r>
                <a14:m>
                  <m:oMath xmlns:m="http://schemas.openxmlformats.org/officeDocument/2006/math">
                    <m:r>
                      <a:rPr kumimoji="1" lang="ja-JP" altLang="en-US" i="1" smtClean="0">
                        <a:latin typeface="Cambria Math" panose="02040503050406030204" pitchFamily="18" charset="0"/>
                      </a:rPr>
                      <m:t>𝒪</m:t>
                    </m:r>
                  </m:oMath>
                </a14:m>
                <a:r>
                  <a:rPr kumimoji="1" lang="en-US" altLang="ja-JP"/>
                  <a:t> </a:t>
                </a:r>
                <a:r>
                  <a:rPr kumimoji="1" lang="ja-JP" altLang="en-US"/>
                  <a:t>の基底</a:t>
                </a:r>
                <a:r>
                  <a:rPr kumimoji="1" lang="en-US" altLang="ja-JP"/>
                  <a:t>.</a:t>
                </a:r>
              </a:p>
              <a:p>
                <a:r>
                  <a:rPr kumimoji="1" lang="ja-JP" altLang="en-US"/>
                  <a:t>多項式の個数は </a:t>
                </a:r>
                <a14:m>
                  <m:oMath xmlns:m="http://schemas.openxmlformats.org/officeDocument/2006/math">
                    <m:f>
                      <m:fPr>
                        <m:ctrlPr>
                          <a:rPr lang="en-US" altLang="ja-JP" i="1" smtClean="0">
                            <a:latin typeface="Cambria Math" panose="02040503050406030204" pitchFamily="18" charset="0"/>
                          </a:rPr>
                        </m:ctrlPr>
                      </m:fPr>
                      <m:num>
                        <m:r>
                          <a:rPr lang="en-US" altLang="ja-JP" b="0" i="1" smtClean="0">
                            <a:latin typeface="Cambria Math" panose="02040503050406030204" pitchFamily="18" charset="0"/>
                          </a:rPr>
                          <m:t>𝑜</m:t>
                        </m:r>
                        <m:r>
                          <a:rPr lang="en-US" altLang="ja-JP" b="0" i="1" smtClean="0">
                            <a:latin typeface="Cambria Math" panose="02040503050406030204" pitchFamily="18" charset="0"/>
                          </a:rPr>
                          <m:t>(</m:t>
                        </m:r>
                        <m:r>
                          <a:rPr lang="en-US" altLang="ja-JP" b="0" i="1" smtClean="0">
                            <a:latin typeface="Cambria Math" panose="02040503050406030204" pitchFamily="18" charset="0"/>
                          </a:rPr>
                          <m:t>𝑜</m:t>
                        </m:r>
                        <m:r>
                          <a:rPr lang="en-US" altLang="ja-JP" b="0" i="1" smtClean="0">
                            <a:latin typeface="Cambria Math" panose="02040503050406030204" pitchFamily="18" charset="0"/>
                          </a:rPr>
                          <m:t>+1)</m:t>
                        </m:r>
                      </m:num>
                      <m:den>
                        <m:r>
                          <a:rPr lang="en-US" altLang="ja-JP" b="0" i="1" smtClean="0">
                            <a:latin typeface="Cambria Math" panose="02040503050406030204" pitchFamily="18" charset="0"/>
                          </a:rPr>
                          <m:t>2</m:t>
                        </m:r>
                      </m:den>
                    </m:f>
                  </m:oMath>
                </a14:m>
                <a:r>
                  <a:rPr kumimoji="1" lang="en-US" altLang="ja-JP"/>
                  <a:t> </a:t>
                </a:r>
                <a:r>
                  <a:rPr kumimoji="1" lang="ja-JP" altLang="en-US"/>
                  <a:t>個</a:t>
                </a:r>
                <a:r>
                  <a:rPr kumimoji="1" lang="en-US" altLang="ja-JP"/>
                  <a:t>.</a:t>
                </a:r>
              </a:p>
            </p:txBody>
          </p:sp>
        </mc:Choice>
        <mc:Fallback xmlns="">
          <p:sp>
            <p:nvSpPr>
              <p:cNvPr id="11" name="テキスト ボックス 10">
                <a:extLst>
                  <a:ext uri="{FF2B5EF4-FFF2-40B4-BE49-F238E27FC236}">
                    <a16:creationId xmlns:a16="http://schemas.microsoft.com/office/drawing/2014/main" id="{CB5C3C4F-8C95-B612-A1D2-568629FB80FC}"/>
                  </a:ext>
                </a:extLst>
              </p:cNvPr>
              <p:cNvSpPr txBox="1">
                <a:spLocks noRot="1" noChangeAspect="1" noMove="1" noResize="1" noEditPoints="1" noAdjustHandles="1" noChangeArrowheads="1" noChangeShapeType="1" noTextEdit="1"/>
              </p:cNvSpPr>
              <p:nvPr/>
            </p:nvSpPr>
            <p:spPr>
              <a:xfrm>
                <a:off x="179999" y="4616345"/>
                <a:ext cx="10968969" cy="2061655"/>
              </a:xfrm>
              <a:prstGeom prst="rect">
                <a:avLst/>
              </a:prstGeom>
              <a:blipFill>
                <a:blip r:embed="rId4"/>
                <a:stretch>
                  <a:fillRect l="-500" b="-147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912843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E6E73-B8BB-276F-7E68-24504FD7383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0146F7A9-9507-433C-FB91-A309EE83FB64}"/>
              </a:ext>
            </a:extLst>
          </p:cNvPr>
          <p:cNvSpPr txBox="1"/>
          <p:nvPr/>
        </p:nvSpPr>
        <p:spPr>
          <a:xfrm>
            <a:off x="180000" y="180000"/>
            <a:ext cx="5558070" cy="584775"/>
          </a:xfrm>
          <a:prstGeom prst="rect">
            <a:avLst/>
          </a:prstGeom>
          <a:noFill/>
        </p:spPr>
        <p:txBody>
          <a:bodyPr wrap="square" rtlCol="0">
            <a:spAutoFit/>
          </a:bodyPr>
          <a:lstStyle/>
          <a:p>
            <a:r>
              <a:rPr lang="en-US" altLang="ja-JP" sz="3200" b="1" dirty="0">
                <a:solidFill>
                  <a:schemeClr val="accent4">
                    <a:lumMod val="75000"/>
                  </a:schemeClr>
                </a:solidFill>
              </a:rPr>
              <a:t>2</a:t>
            </a:r>
            <a:r>
              <a:rPr lang="en-US" altLang="ja-JP" sz="3200" b="1">
                <a:solidFill>
                  <a:schemeClr val="accent4">
                    <a:lumMod val="75000"/>
                  </a:schemeClr>
                </a:solidFill>
              </a:rPr>
              <a:t>.</a:t>
            </a:r>
            <a:r>
              <a:rPr lang="ja-JP" altLang="en-US" sz="3200" b="1">
                <a:solidFill>
                  <a:schemeClr val="accent4">
                    <a:lumMod val="75000"/>
                  </a:schemeClr>
                </a:solidFill>
              </a:rPr>
              <a:t> </a:t>
            </a:r>
            <a:r>
              <a:rPr lang="en-US" altLang="ja-JP" sz="3200" b="1">
                <a:solidFill>
                  <a:schemeClr val="accent4">
                    <a:lumMod val="75000"/>
                  </a:schemeClr>
                </a:solidFill>
              </a:rPr>
              <a:t>MZ-UOV</a:t>
            </a:r>
            <a:endParaRPr lang="en-US" altLang="ja-JP" sz="3200" b="1" dirty="0">
              <a:solidFill>
                <a:schemeClr val="accent4">
                  <a:lumMod val="75000"/>
                </a:schemeClr>
              </a:solidFill>
            </a:endParaRPr>
          </a:p>
        </p:txBody>
      </p:sp>
      <p:sp>
        <p:nvSpPr>
          <p:cNvPr id="5" name="テキスト ボックス 4">
            <a:extLst>
              <a:ext uri="{FF2B5EF4-FFF2-40B4-BE49-F238E27FC236}">
                <a16:creationId xmlns:a16="http://schemas.microsoft.com/office/drawing/2014/main" id="{7E30B53C-80FB-1BC1-EBB1-4BEA597A671E}"/>
              </a:ext>
            </a:extLst>
          </p:cNvPr>
          <p:cNvSpPr txBox="1"/>
          <p:nvPr/>
        </p:nvSpPr>
        <p:spPr>
          <a:xfrm>
            <a:off x="180000" y="764775"/>
            <a:ext cx="7227479" cy="461665"/>
          </a:xfrm>
          <a:prstGeom prst="rect">
            <a:avLst/>
          </a:prstGeom>
          <a:noFill/>
        </p:spPr>
        <p:txBody>
          <a:bodyPr wrap="square" rtlCol="0">
            <a:spAutoFit/>
          </a:bodyPr>
          <a:lstStyle/>
          <a:p>
            <a:r>
              <a:rPr lang="en-US" altLang="ja-JP" sz="2400" b="1">
                <a:solidFill>
                  <a:schemeClr val="accent4">
                    <a:lumMod val="75000"/>
                  </a:schemeClr>
                </a:solidFill>
              </a:rPr>
              <a:t>2</a:t>
            </a:r>
            <a:r>
              <a:rPr kumimoji="1" lang="en-US" altLang="ja-JP" sz="2400" b="1">
                <a:solidFill>
                  <a:schemeClr val="accent4">
                    <a:lumMod val="75000"/>
                  </a:schemeClr>
                </a:solidFill>
              </a:rPr>
              <a:t>-1. MZ-UOV</a:t>
            </a:r>
            <a:r>
              <a:rPr kumimoji="1" lang="ja-JP" altLang="en-US" sz="2400" b="1">
                <a:solidFill>
                  <a:schemeClr val="accent4">
                    <a:lumMod val="75000"/>
                  </a:schemeClr>
                </a:solidFill>
              </a:rPr>
              <a:t>の鍵生成</a:t>
            </a:r>
            <a:endParaRPr kumimoji="1" lang="ja-JP" altLang="en-US" sz="2400" b="1" dirty="0">
              <a:solidFill>
                <a:schemeClr val="accent4">
                  <a:lumMod val="75000"/>
                </a:schemeClr>
              </a:solidFill>
            </a:endParaRPr>
          </a:p>
        </p:txBody>
      </p:sp>
      <p:sp>
        <p:nvSpPr>
          <p:cNvPr id="6" name="テキスト ボックス 5">
            <a:extLst>
              <a:ext uri="{FF2B5EF4-FFF2-40B4-BE49-F238E27FC236}">
                <a16:creationId xmlns:a16="http://schemas.microsoft.com/office/drawing/2014/main" id="{E9E4F38A-E3F5-C968-7223-431AB58E7A0F}"/>
              </a:ext>
            </a:extLst>
          </p:cNvPr>
          <p:cNvSpPr txBox="1"/>
          <p:nvPr/>
        </p:nvSpPr>
        <p:spPr>
          <a:xfrm>
            <a:off x="180000" y="1498884"/>
            <a:ext cx="5558070" cy="400110"/>
          </a:xfrm>
          <a:prstGeom prst="rect">
            <a:avLst/>
          </a:prstGeom>
          <a:noFill/>
        </p:spPr>
        <p:txBody>
          <a:bodyPr wrap="square" rtlCol="0">
            <a:spAutoFit/>
          </a:bodyPr>
          <a:lstStyle/>
          <a:p>
            <a:r>
              <a:rPr kumimoji="1" lang="ja-JP" altLang="en-US" sz="2000">
                <a:solidFill>
                  <a:srgbClr val="FF76A0"/>
                </a:solidFill>
              </a:rPr>
              <a:t>▍</a:t>
            </a:r>
            <a:r>
              <a:rPr lang="ja-JP" altLang="en-US" sz="2000" b="1"/>
              <a:t>問題</a:t>
            </a:r>
            <a:r>
              <a:rPr lang="en-US" altLang="ja-JP" sz="2000" b="1"/>
              <a:t>: </a:t>
            </a:r>
            <a:r>
              <a:rPr lang="ja-JP" altLang="en-US" sz="2000" b="1"/>
              <a:t>二次錐の決定②</a:t>
            </a:r>
            <a:endParaRPr kumimoji="1" lang="ja-JP" altLang="en-US" sz="2000" b="1" dirty="0"/>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F9A573C7-2FBE-F0F2-B64C-151AABB79F37}"/>
                  </a:ext>
                </a:extLst>
              </p:cNvPr>
              <p:cNvSpPr txBox="1"/>
              <p:nvPr/>
            </p:nvSpPr>
            <p:spPr>
              <a:xfrm>
                <a:off x="180000" y="1976064"/>
                <a:ext cx="10968969" cy="689163"/>
              </a:xfrm>
              <a:prstGeom prst="rect">
                <a:avLst/>
              </a:prstGeom>
              <a:noFill/>
            </p:spPr>
            <p:txBody>
              <a:bodyPr wrap="square" rtlCol="0">
                <a:spAutoFit/>
              </a:bodyPr>
              <a:lstStyle/>
              <a:p>
                <a14:m>
                  <m:oMath xmlns:m="http://schemas.openxmlformats.org/officeDocument/2006/math">
                    <m:sSubSup>
                      <m:sSubSupPr>
                        <m:ctrlPr>
                          <a:rPr kumimoji="1" lang="en-US" altLang="ja-JP" b="0" i="1" smtClean="0">
                            <a:latin typeface="Cambria Math" panose="02040503050406030204" pitchFamily="18" charset="0"/>
                          </a:rPr>
                        </m:ctrlPr>
                      </m:sSubSupPr>
                      <m:e>
                        <m:r>
                          <a:rPr kumimoji="1" lang="ja-JP" altLang="en-US" i="1" smtClean="0">
                            <a:latin typeface="Cambria Math" panose="02040503050406030204" pitchFamily="18" charset="0"/>
                          </a:rPr>
                          <m:t>𝔽</m:t>
                        </m:r>
                      </m:e>
                      <m:sub>
                        <m:r>
                          <a:rPr kumimoji="1" lang="en-US" altLang="ja-JP" b="0" i="1" smtClean="0">
                            <a:latin typeface="Cambria Math" panose="02040503050406030204" pitchFamily="18" charset="0"/>
                          </a:rPr>
                          <m:t>𝑞</m:t>
                        </m:r>
                      </m:sub>
                      <m:sup>
                        <m:r>
                          <a:rPr kumimoji="1" lang="en-US" altLang="ja-JP" b="0" i="1" smtClean="0">
                            <a:latin typeface="Cambria Math" panose="02040503050406030204" pitchFamily="18" charset="0"/>
                          </a:rPr>
                          <m:t>𝑛</m:t>
                        </m:r>
                      </m:sup>
                    </m:sSubSup>
                  </m:oMath>
                </a14:m>
                <a:r>
                  <a:rPr kumimoji="1" lang="ja-JP" altLang="en-US"/>
                  <a:t> 上の </a:t>
                </a:r>
                <a14:m>
                  <m:oMath xmlns:m="http://schemas.openxmlformats.org/officeDocument/2006/math">
                    <m:r>
                      <a:rPr kumimoji="1" lang="en-US" altLang="ja-JP" b="0" i="1" smtClean="0">
                        <a:latin typeface="Cambria Math" panose="02040503050406030204" pitchFamily="18" charset="0"/>
                      </a:rPr>
                      <m:t>𝑘</m:t>
                    </m:r>
                  </m:oMath>
                </a14:m>
                <a:r>
                  <a:rPr kumimoji="1" lang="ja-JP" altLang="en-US"/>
                  <a:t> 個の </a:t>
                </a:r>
                <a14:m>
                  <m:oMath xmlns:m="http://schemas.openxmlformats.org/officeDocument/2006/math">
                    <m:r>
                      <a:rPr kumimoji="1" lang="en-US" altLang="ja-JP" b="0" i="1" smtClean="0">
                        <a:latin typeface="Cambria Math" panose="02040503050406030204" pitchFamily="18" charset="0"/>
                      </a:rPr>
                      <m:t>𝑜</m:t>
                    </m:r>
                  </m:oMath>
                </a14:m>
                <a:r>
                  <a:rPr kumimoji="1" lang="ja-JP" altLang="en-US"/>
                  <a:t> 次部分空間 </a:t>
                </a:r>
                <a14:m>
                  <m:oMath xmlns:m="http://schemas.openxmlformats.org/officeDocument/2006/math">
                    <m:sSub>
                      <m:sSubPr>
                        <m:ctrlPr>
                          <a:rPr kumimoji="1" lang="en-US" altLang="ja-JP" b="0" i="1" smtClean="0">
                            <a:latin typeface="Cambria Math" panose="02040503050406030204" pitchFamily="18" charset="0"/>
                          </a:rPr>
                        </m:ctrlPr>
                      </m:sSubPr>
                      <m:e>
                        <m:r>
                          <a:rPr kumimoji="1" lang="ja-JP" altLang="en-US" i="1" smtClean="0">
                            <a:latin typeface="Cambria Math" panose="02040503050406030204" pitchFamily="18" charset="0"/>
                          </a:rPr>
                          <m:t>𝒪</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 ⋯, </m:t>
                    </m:r>
                    <m:sSub>
                      <m:sSubPr>
                        <m:ctrlPr>
                          <a:rPr kumimoji="1" lang="en-US" altLang="ja-JP" b="0" i="1" smtClean="0">
                            <a:latin typeface="Cambria Math" panose="02040503050406030204" pitchFamily="18" charset="0"/>
                          </a:rPr>
                        </m:ctrlPr>
                      </m:sSubPr>
                      <m:e>
                        <m:r>
                          <a:rPr kumimoji="1" lang="ja-JP" altLang="en-US" b="0" i="1" smtClean="0">
                            <a:latin typeface="Cambria Math" panose="02040503050406030204" pitchFamily="18" charset="0"/>
                          </a:rPr>
                          <m:t>𝒪</m:t>
                        </m:r>
                      </m:e>
                      <m:sub>
                        <m:r>
                          <a:rPr kumimoji="1" lang="en-US" altLang="ja-JP" b="0" i="1" smtClean="0">
                            <a:latin typeface="Cambria Math" panose="02040503050406030204" pitchFamily="18" charset="0"/>
                          </a:rPr>
                          <m:t>𝑘</m:t>
                        </m:r>
                      </m:sub>
                    </m:sSub>
                  </m:oMath>
                </a14:m>
                <a:r>
                  <a:rPr kumimoji="1" lang="ja-JP" altLang="en-US"/>
                  <a:t> が与えられる</a:t>
                </a:r>
                <a:r>
                  <a:rPr kumimoji="1" lang="en-US" altLang="ja-JP"/>
                  <a:t>. </a:t>
                </a:r>
                <a:r>
                  <a:rPr kumimoji="1" lang="ja-JP" altLang="en-US"/>
                  <a:t>このとき</a:t>
                </a:r>
                <a:r>
                  <a:rPr kumimoji="1" lang="en-US" altLang="ja-JP"/>
                  <a:t>, </a:t>
                </a:r>
                <a14:m>
                  <m:oMath xmlns:m="http://schemas.openxmlformats.org/officeDocument/2006/math">
                    <m:sSub>
                      <m:sSubPr>
                        <m:ctrlPr>
                          <a:rPr kumimoji="1" lang="en-US" altLang="ja-JP" b="0" i="1" smtClean="0">
                            <a:latin typeface="Cambria Math" panose="02040503050406030204" pitchFamily="18" charset="0"/>
                          </a:rPr>
                        </m:ctrlPr>
                      </m:sSubPr>
                      <m:e>
                        <m:r>
                          <a:rPr kumimoji="1" lang="ja-JP" altLang="en-US" i="1" smtClean="0">
                            <a:latin typeface="Cambria Math" panose="02040503050406030204" pitchFamily="18" charset="0"/>
                          </a:rPr>
                          <m:t>𝒪</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 ⋯, </m:t>
                    </m:r>
                    <m:sSub>
                      <m:sSubPr>
                        <m:ctrlPr>
                          <a:rPr kumimoji="1" lang="en-US" altLang="ja-JP" b="0" i="1" smtClean="0">
                            <a:latin typeface="Cambria Math" panose="02040503050406030204" pitchFamily="18" charset="0"/>
                          </a:rPr>
                        </m:ctrlPr>
                      </m:sSubPr>
                      <m:e>
                        <m:r>
                          <a:rPr kumimoji="1" lang="ja-JP" altLang="en-US" b="0" i="1" smtClean="0">
                            <a:latin typeface="Cambria Math" panose="02040503050406030204" pitchFamily="18" charset="0"/>
                          </a:rPr>
                          <m:t>𝒪</m:t>
                        </m:r>
                      </m:e>
                      <m:sub>
                        <m:r>
                          <a:rPr kumimoji="1" lang="en-US" altLang="ja-JP" b="0" i="1" smtClean="0">
                            <a:latin typeface="Cambria Math" panose="02040503050406030204" pitchFamily="18" charset="0"/>
                          </a:rPr>
                          <m:t>𝑘</m:t>
                        </m:r>
                      </m:sub>
                    </m:sSub>
                  </m:oMath>
                </a14:m>
                <a:r>
                  <a:rPr kumimoji="1" lang="ja-JP" altLang="en-US"/>
                  <a:t> をすべて通るような二次錐</a:t>
                </a:r>
                <a:endParaRPr kumimoji="1" lang="en-US" altLang="ja-JP"/>
              </a:p>
              <a:p>
                <a:r>
                  <a:rPr kumimoji="1" lang="ja-JP" altLang="en-US"/>
                  <a:t> </a:t>
                </a:r>
                <a14:m>
                  <m:oMath xmlns:m="http://schemas.openxmlformats.org/officeDocument/2006/math">
                    <m:r>
                      <a:rPr kumimoji="1" lang="ja-JP" altLang="en-US" i="1" smtClean="0">
                        <a:latin typeface="Cambria Math" panose="02040503050406030204" pitchFamily="18" charset="0"/>
                      </a:rPr>
                      <m:t>𝒫</m:t>
                    </m:r>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ja-JP" altLang="en-US" b="0" i="1" smtClean="0">
                            <a:latin typeface="Cambria Math" panose="02040503050406030204" pitchFamily="18" charset="0"/>
                          </a:rPr>
                          <m:t>𝔽</m:t>
                        </m:r>
                      </m:e>
                      <m:sub>
                        <m:r>
                          <a:rPr kumimoji="1" lang="en-US" altLang="ja-JP" b="0" i="1" smtClean="0">
                            <a:latin typeface="Cambria Math" panose="02040503050406030204" pitchFamily="18" charset="0"/>
                          </a:rPr>
                          <m:t>𝑞</m:t>
                        </m:r>
                      </m:sub>
                    </m:sSub>
                    <m:sSubSup>
                      <m:sSubSupPr>
                        <m:ctrlPr>
                          <a:rPr kumimoji="1" lang="en-US" altLang="ja-JP" b="0" i="1" smtClean="0">
                            <a:latin typeface="Cambria Math" panose="02040503050406030204" pitchFamily="18" charset="0"/>
                          </a:rPr>
                        </m:ctrlPr>
                      </m:sSubSupPr>
                      <m:e>
                        <m:d>
                          <m:dPr>
                            <m:begChr m:val="["/>
                            <m:endChr m:val="]"/>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𝑥</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𝑛</m:t>
                                </m:r>
                              </m:e>
                            </m:d>
                          </m:e>
                        </m:d>
                      </m:e>
                      <m:sub>
                        <m:r>
                          <a:rPr kumimoji="1" lang="en-US" altLang="ja-JP" b="0" i="1" smtClean="0">
                            <a:latin typeface="Cambria Math" panose="02040503050406030204" pitchFamily="18" charset="0"/>
                          </a:rPr>
                          <m:t>2</m:t>
                        </m:r>
                      </m:sub>
                      <m:sup>
                        <m:r>
                          <a:rPr kumimoji="1" lang="en-US" altLang="ja-JP" b="0" i="1" smtClean="0">
                            <a:latin typeface="Cambria Math" panose="02040503050406030204" pitchFamily="18" charset="0"/>
                          </a:rPr>
                          <m:t>𝑚</m:t>
                        </m:r>
                      </m:sup>
                    </m:sSubSup>
                  </m:oMath>
                </a14:m>
                <a:r>
                  <a:rPr kumimoji="1" lang="ja-JP" altLang="en-US"/>
                  <a:t> を求</a:t>
                </a:r>
                <a:r>
                  <a:rPr lang="ja-JP" altLang="en-US"/>
                  <a:t>めよ</a:t>
                </a:r>
                <a:r>
                  <a:rPr lang="en-US" altLang="ja-JP"/>
                  <a:t>.</a:t>
                </a:r>
                <a:endParaRPr kumimoji="1" lang="ja-JP" altLang="en-US"/>
              </a:p>
            </p:txBody>
          </p:sp>
        </mc:Choice>
        <mc:Fallback xmlns="">
          <p:sp>
            <p:nvSpPr>
              <p:cNvPr id="2" name="テキスト ボックス 1">
                <a:extLst>
                  <a:ext uri="{FF2B5EF4-FFF2-40B4-BE49-F238E27FC236}">
                    <a16:creationId xmlns:a16="http://schemas.microsoft.com/office/drawing/2014/main" id="{F9A573C7-2FBE-F0F2-B64C-151AABB79F37}"/>
                  </a:ext>
                </a:extLst>
              </p:cNvPr>
              <p:cNvSpPr txBox="1">
                <a:spLocks noRot="1" noChangeAspect="1" noMove="1" noResize="1" noEditPoints="1" noAdjustHandles="1" noChangeArrowheads="1" noChangeShapeType="1" noTextEdit="1"/>
              </p:cNvSpPr>
              <p:nvPr/>
            </p:nvSpPr>
            <p:spPr>
              <a:xfrm>
                <a:off x="180000" y="1976064"/>
                <a:ext cx="10968969" cy="689163"/>
              </a:xfrm>
              <a:prstGeom prst="rect">
                <a:avLst/>
              </a:prstGeom>
              <a:blipFill>
                <a:blip r:embed="rId3"/>
                <a:stretch>
                  <a:fillRect t="-2655" b="-11504"/>
                </a:stretch>
              </a:blipFill>
            </p:spPr>
            <p:txBody>
              <a:bodyPr/>
              <a:lstStyle/>
              <a:p>
                <a:r>
                  <a:rPr lang="ja-JP" altLang="en-US">
                    <a:noFill/>
                  </a:rPr>
                  <a:t> </a:t>
                </a:r>
              </a:p>
            </p:txBody>
          </p:sp>
        </mc:Fallback>
      </mc:AlternateContent>
      <p:sp>
        <p:nvSpPr>
          <p:cNvPr id="3" name="テキスト ボックス 2">
            <a:extLst>
              <a:ext uri="{FF2B5EF4-FFF2-40B4-BE49-F238E27FC236}">
                <a16:creationId xmlns:a16="http://schemas.microsoft.com/office/drawing/2014/main" id="{DE29BE7A-EDB1-9E98-2279-695070F87385}"/>
              </a:ext>
            </a:extLst>
          </p:cNvPr>
          <p:cNvSpPr txBox="1"/>
          <p:nvPr/>
        </p:nvSpPr>
        <p:spPr>
          <a:xfrm>
            <a:off x="180000" y="2878333"/>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解答</a:t>
            </a:r>
            <a:r>
              <a:rPr lang="en-US" altLang="ja-JP" sz="2000" b="1"/>
              <a:t>(MZ-UOV</a:t>
            </a:r>
            <a:r>
              <a:rPr lang="ja-JP" altLang="en-US" sz="2000" b="1"/>
              <a:t>の鍵生成</a:t>
            </a:r>
            <a:r>
              <a:rPr lang="en-US" altLang="ja-JP" sz="2000" b="1"/>
              <a:t>)</a:t>
            </a:r>
            <a:endParaRPr kumimoji="1" lang="ja-JP" altLang="en-US" sz="2000" b="1" dirty="0"/>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F63215FB-E387-5477-5E76-42AB59ABAE1D}"/>
                  </a:ext>
                </a:extLst>
              </p:cNvPr>
              <p:cNvSpPr txBox="1"/>
              <p:nvPr/>
            </p:nvSpPr>
            <p:spPr>
              <a:xfrm>
                <a:off x="179999" y="3414851"/>
                <a:ext cx="10968969" cy="3295454"/>
              </a:xfrm>
              <a:prstGeom prst="rect">
                <a:avLst/>
              </a:prstGeom>
              <a:noFill/>
            </p:spPr>
            <p:txBody>
              <a:bodyPr wrap="square" rtlCol="0">
                <a:spAutoFit/>
              </a:bodyPr>
              <a:lstStyle/>
              <a:p>
                <a:r>
                  <a:rPr lang="ja-JP" altLang="en-US"/>
                  <a:t>各</a:t>
                </a:r>
                <a:r>
                  <a:rPr kumimoji="1" lang="en-US" altLang="ja-JP" b="0"/>
                  <a:t> </a:t>
                </a:r>
                <a14:m>
                  <m:oMath xmlns:m="http://schemas.openxmlformats.org/officeDocument/2006/math">
                    <m:sSub>
                      <m:sSubPr>
                        <m:ctrlPr>
                          <a:rPr kumimoji="1" lang="en-US" altLang="ja-JP" b="0" i="1" smtClean="0">
                            <a:latin typeface="Cambria Math" panose="02040503050406030204" pitchFamily="18" charset="0"/>
                          </a:rPr>
                        </m:ctrlPr>
                      </m:sSubPr>
                      <m:e>
                        <m:r>
                          <a:rPr kumimoji="1" lang="ja-JP" altLang="en-US" i="1" smtClean="0">
                            <a:latin typeface="Cambria Math" panose="02040503050406030204" pitchFamily="18" charset="0"/>
                          </a:rPr>
                          <m:t>𝒫</m:t>
                        </m:r>
                      </m:e>
                      <m:sub>
                        <m:r>
                          <a:rPr kumimoji="1" lang="en-US" altLang="ja-JP" b="0" i="1" smtClean="0">
                            <a:latin typeface="Cambria Math" panose="02040503050406030204" pitchFamily="18" charset="0"/>
                          </a:rPr>
                          <m:t>𝑖</m:t>
                        </m:r>
                      </m:sub>
                    </m:sSub>
                  </m:oMath>
                </a14:m>
                <a:r>
                  <a:rPr kumimoji="1" lang="ja-JP" altLang="en-US"/>
                  <a:t> </a:t>
                </a:r>
                <a:r>
                  <a:rPr lang="ja-JP" altLang="en-US"/>
                  <a:t>に</a:t>
                </a:r>
                <a:r>
                  <a:rPr kumimoji="1" lang="ja-JP" altLang="en-US"/>
                  <a:t>ついて</a:t>
                </a:r>
                <a:r>
                  <a:rPr kumimoji="1" lang="en-US" altLang="ja-JP"/>
                  <a:t>, </a:t>
                </a:r>
                <a:r>
                  <a:rPr kumimoji="1" lang="ja-JP" altLang="en-US"/>
                  <a:t>全ての</a:t>
                </a:r>
                <a:r>
                  <a:rPr lang="ja-JP" altLang="en-US"/>
                  <a:t>係数 </a:t>
                </a:r>
                <a:r>
                  <a:rPr lang="en-US" altLang="ja-JP"/>
                  <a:t>( </a:t>
                </a:r>
                <a14:m>
                  <m:oMath xmlns:m="http://schemas.openxmlformats.org/officeDocument/2006/math">
                    <m:f>
                      <m:fPr>
                        <m:ctrlPr>
                          <a:rPr lang="en-US" altLang="ja-JP" i="1" smtClean="0">
                            <a:latin typeface="Cambria Math" panose="02040503050406030204" pitchFamily="18" charset="0"/>
                          </a:rPr>
                        </m:ctrlPr>
                      </m:fPr>
                      <m:num>
                        <m:r>
                          <a:rPr lang="en-US" altLang="ja-JP" b="0" i="1" smtClean="0">
                            <a:latin typeface="Cambria Math" panose="02040503050406030204" pitchFamily="18" charset="0"/>
                          </a:rPr>
                          <m:t>𝑛</m:t>
                        </m:r>
                        <m:r>
                          <a:rPr lang="en-US" altLang="ja-JP" b="0" i="1" smtClean="0">
                            <a:latin typeface="Cambria Math" panose="02040503050406030204" pitchFamily="18" charset="0"/>
                          </a:rPr>
                          <m:t>(</m:t>
                        </m:r>
                        <m:r>
                          <a:rPr lang="en-US" altLang="ja-JP" b="0" i="1" smtClean="0">
                            <a:latin typeface="Cambria Math" panose="02040503050406030204" pitchFamily="18" charset="0"/>
                          </a:rPr>
                          <m:t>𝑛</m:t>
                        </m:r>
                        <m:r>
                          <a:rPr lang="en-US" altLang="ja-JP" b="0" i="1" smtClean="0">
                            <a:latin typeface="Cambria Math" panose="02040503050406030204" pitchFamily="18" charset="0"/>
                          </a:rPr>
                          <m:t>+1)</m:t>
                        </m:r>
                      </m:num>
                      <m:den>
                        <m:r>
                          <a:rPr lang="en-US" altLang="ja-JP" b="0" i="1" smtClean="0">
                            <a:latin typeface="Cambria Math" panose="02040503050406030204" pitchFamily="18" charset="0"/>
                          </a:rPr>
                          <m:t>2</m:t>
                        </m:r>
                      </m:den>
                    </m:f>
                  </m:oMath>
                </a14:m>
                <a:r>
                  <a:rPr kumimoji="1" lang="en-US" altLang="ja-JP"/>
                  <a:t> </a:t>
                </a:r>
                <a:r>
                  <a:rPr kumimoji="1" lang="ja-JP" altLang="en-US"/>
                  <a:t>個 </a:t>
                </a:r>
                <a:r>
                  <a:rPr kumimoji="1" lang="en-US" altLang="ja-JP"/>
                  <a:t>) </a:t>
                </a:r>
                <a:r>
                  <a:rPr kumimoji="1" lang="ja-JP" altLang="en-US"/>
                  <a:t>を未知数とし</a:t>
                </a:r>
                <a:r>
                  <a:rPr lang="ja-JP" altLang="en-US"/>
                  <a:t>た線形方程式</a:t>
                </a:r>
                <a:endParaRPr kumimoji="1" lang="en-US" altLang="ja-JP"/>
              </a:p>
              <a:p>
                <a:pPr/>
                <a14:m>
                  <m:oMathPara xmlns:m="http://schemas.openxmlformats.org/officeDocument/2006/math">
                    <m:oMathParaPr>
                      <m:jc m:val="centerGroup"/>
                    </m:oMathParaPr>
                    <m:oMath xmlns:m="http://schemas.openxmlformats.org/officeDocument/2006/math">
                      <m:d>
                        <m:dPr>
                          <m:begChr m:val="{"/>
                          <m:endChr m:val=""/>
                          <m:ctrlPr>
                            <a:rPr kumimoji="1" lang="en-US" altLang="ja-JP" b="0" i="1" smtClean="0">
                              <a:latin typeface="Cambria Math" panose="02040503050406030204" pitchFamily="18" charset="0"/>
                            </a:rPr>
                          </m:ctrlPr>
                        </m:dPr>
                        <m:e>
                          <m:eqArr>
                            <m:eqArrPr>
                              <m:ctrlPr>
                                <a:rPr kumimoji="1" lang="en-US" altLang="ja-JP" b="0" i="1" smtClean="0">
                                  <a:latin typeface="Cambria Math" panose="02040503050406030204" pitchFamily="18" charset="0"/>
                                </a:rPr>
                              </m:ctrlPr>
                            </m:eqArrPr>
                            <m:e>
                              <m:r>
                                <a:rPr lang="ja-JP" altLang="en-US" i="1">
                                  <a:latin typeface="Cambria Math" panose="02040503050406030204" pitchFamily="18" charset="0"/>
                                </a:rPr>
                                <m:t>𝒫</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i="1">
                                          <a:latin typeface="Cambria Math" panose="02040503050406030204" pitchFamily="18" charset="0"/>
                                        </a:rPr>
                                        <m:t>1</m:t>
                                      </m:r>
                                    </m:sub>
                                  </m:sSub>
                                  <m:sSubSup>
                                    <m:sSubSupPr>
                                      <m:ctrlPr>
                                        <a:rPr lang="en-US" altLang="ja-JP" b="0" i="1" smtClean="0">
                                          <a:latin typeface="Cambria Math" panose="02040503050406030204" pitchFamily="18" charset="0"/>
                                        </a:rPr>
                                      </m:ctrlPr>
                                    </m:sSubSupPr>
                                    <m:e>
                                      <m:r>
                                        <a:rPr lang="ja-JP" altLang="en-US" i="1">
                                          <a:latin typeface="Cambria Math" panose="02040503050406030204" pitchFamily="18" charset="0"/>
                                        </a:rPr>
                                        <m:t>𝕓</m:t>
                                      </m:r>
                                    </m:e>
                                    <m:sub>
                                      <m:r>
                                        <a:rPr lang="en-US" altLang="ja-JP" i="1">
                                          <a:latin typeface="Cambria Math" panose="02040503050406030204" pitchFamily="18" charset="0"/>
                                        </a:rPr>
                                        <m:t>1</m:t>
                                      </m:r>
                                    </m:sub>
                                    <m:sup>
                                      <m:r>
                                        <a:rPr lang="en-US" altLang="ja-JP" b="0" i="1" smtClean="0">
                                          <a:latin typeface="Cambria Math" panose="02040503050406030204" pitchFamily="18" charset="0"/>
                                        </a:rPr>
                                        <m:t>1</m:t>
                                      </m:r>
                                    </m:sup>
                                  </m:sSubSup>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i="1">
                                          <a:latin typeface="Cambria Math" panose="02040503050406030204" pitchFamily="18" charset="0"/>
                                        </a:rPr>
                                        <m:t>𝑜</m:t>
                                      </m:r>
                                    </m:sub>
                                  </m:sSub>
                                  <m:sSubSup>
                                    <m:sSubSupPr>
                                      <m:ctrlPr>
                                        <a:rPr lang="en-US" altLang="ja-JP" b="0" i="1" smtClean="0">
                                          <a:latin typeface="Cambria Math" panose="02040503050406030204" pitchFamily="18" charset="0"/>
                                        </a:rPr>
                                      </m:ctrlPr>
                                    </m:sSubSupPr>
                                    <m:e>
                                      <m:r>
                                        <a:rPr lang="ja-JP" altLang="en-US" i="1">
                                          <a:latin typeface="Cambria Math" panose="02040503050406030204" pitchFamily="18" charset="0"/>
                                        </a:rPr>
                                        <m:t>𝕓</m:t>
                                      </m:r>
                                    </m:e>
                                    <m:sub>
                                      <m:r>
                                        <a:rPr lang="en-US" altLang="ja-JP" i="1">
                                          <a:latin typeface="Cambria Math" panose="02040503050406030204" pitchFamily="18" charset="0"/>
                                        </a:rPr>
                                        <m:t>𝑜</m:t>
                                      </m:r>
                                    </m:sub>
                                    <m:sup>
                                      <m:r>
                                        <a:rPr lang="en-US" altLang="ja-JP" b="0" i="1" smtClean="0">
                                          <a:latin typeface="Cambria Math" panose="02040503050406030204" pitchFamily="18" charset="0"/>
                                        </a:rPr>
                                        <m:t>1</m:t>
                                      </m:r>
                                    </m:sup>
                                  </m:sSubSup>
                                </m:e>
                              </m:d>
                              <m:r>
                                <a:rPr lang="en-US" altLang="ja-JP" i="1">
                                  <a:latin typeface="Cambria Math" panose="02040503050406030204" pitchFamily="18" charset="0"/>
                                </a:rPr>
                                <m:t>.</m:t>
                              </m:r>
                              <m:r>
                                <m:rPr>
                                  <m:sty m:val="p"/>
                                </m:rPr>
                                <a:rPr lang="en-US" altLang="ja-JP">
                                  <a:latin typeface="Cambria Math" panose="02040503050406030204" pitchFamily="18" charset="0"/>
                                </a:rPr>
                                <m:t>coeff</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i="1">
                                          <a:latin typeface="Cambria Math" panose="02040503050406030204" pitchFamily="18" charset="0"/>
                                        </a:rPr>
                                        <m:t>1</m:t>
                                      </m:r>
                                    </m:sub>
                                  </m:sSub>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𝑡</m:t>
                                      </m:r>
                                    </m:e>
                                    <m:sub>
                                      <m:r>
                                        <a:rPr lang="en-US" altLang="ja-JP" b="0" i="1" smtClean="0">
                                          <a:latin typeface="Cambria Math" panose="02040503050406030204" pitchFamily="18" charset="0"/>
                                        </a:rPr>
                                        <m:t>1</m:t>
                                      </m:r>
                                    </m:sub>
                                  </m:sSub>
                                </m:e>
                              </m:d>
                              <m:r>
                                <a:rPr lang="en-US" altLang="ja-JP" i="1">
                                  <a:latin typeface="Cambria Math" panose="02040503050406030204" pitchFamily="18" charset="0"/>
                                </a:rPr>
                                <m:t>=0</m:t>
                              </m:r>
                              <m:r>
                                <m:rPr>
                                  <m:nor/>
                                </m:rPr>
                                <a:rPr lang="en-US" altLang="ja-JP"/>
                                <m:t> </m:t>
                              </m:r>
                            </m:e>
                            <m:e>
                              <m:r>
                                <a:rPr kumimoji="1" lang="en-US" altLang="ja-JP" b="0" i="1" smtClean="0">
                                  <a:latin typeface="Cambria Math" panose="02040503050406030204" pitchFamily="18" charset="0"/>
                                </a:rPr>
                                <m:t>⋮</m:t>
                              </m:r>
                            </m:e>
                            <m:e>
                              <m:r>
                                <a:rPr lang="ja-JP" altLang="en-US" i="1" smtClean="0">
                                  <a:latin typeface="Cambria Math" panose="02040503050406030204" pitchFamily="18" charset="0"/>
                                </a:rPr>
                                <m:t>𝒫</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i="1">
                                          <a:latin typeface="Cambria Math" panose="02040503050406030204" pitchFamily="18" charset="0"/>
                                        </a:rPr>
                                        <m:t>1</m:t>
                                      </m:r>
                                    </m:sub>
                                  </m:sSub>
                                  <m:sSubSup>
                                    <m:sSubSupPr>
                                      <m:ctrlPr>
                                        <a:rPr lang="en-US" altLang="ja-JP" b="0" i="1" smtClean="0">
                                          <a:latin typeface="Cambria Math" panose="02040503050406030204" pitchFamily="18" charset="0"/>
                                        </a:rPr>
                                      </m:ctrlPr>
                                    </m:sSubSupPr>
                                    <m:e>
                                      <m:r>
                                        <a:rPr lang="ja-JP" altLang="en-US" i="1">
                                          <a:latin typeface="Cambria Math" panose="02040503050406030204" pitchFamily="18" charset="0"/>
                                        </a:rPr>
                                        <m:t>𝕓</m:t>
                                      </m:r>
                                    </m:e>
                                    <m:sub>
                                      <m:r>
                                        <a:rPr lang="en-US" altLang="ja-JP" i="1">
                                          <a:latin typeface="Cambria Math" panose="02040503050406030204" pitchFamily="18" charset="0"/>
                                        </a:rPr>
                                        <m:t>1</m:t>
                                      </m:r>
                                    </m:sub>
                                    <m:sup>
                                      <m:r>
                                        <a:rPr lang="en-US" altLang="ja-JP" b="0" i="1" smtClean="0">
                                          <a:latin typeface="Cambria Math" panose="02040503050406030204" pitchFamily="18" charset="0"/>
                                        </a:rPr>
                                        <m:t>1</m:t>
                                      </m:r>
                                    </m:sup>
                                  </m:sSubSup>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i="1">
                                          <a:latin typeface="Cambria Math" panose="02040503050406030204" pitchFamily="18" charset="0"/>
                                        </a:rPr>
                                        <m:t>𝑜</m:t>
                                      </m:r>
                                    </m:sub>
                                  </m:sSub>
                                  <m:sSubSup>
                                    <m:sSubSupPr>
                                      <m:ctrlPr>
                                        <a:rPr lang="en-US" altLang="ja-JP" b="0" i="1" smtClean="0">
                                          <a:latin typeface="Cambria Math" panose="02040503050406030204" pitchFamily="18" charset="0"/>
                                        </a:rPr>
                                      </m:ctrlPr>
                                    </m:sSubSupPr>
                                    <m:e>
                                      <m:r>
                                        <a:rPr lang="ja-JP" altLang="en-US" i="1">
                                          <a:latin typeface="Cambria Math" panose="02040503050406030204" pitchFamily="18" charset="0"/>
                                        </a:rPr>
                                        <m:t>𝕓</m:t>
                                      </m:r>
                                    </m:e>
                                    <m:sub>
                                      <m:r>
                                        <a:rPr lang="en-US" altLang="ja-JP" i="1">
                                          <a:latin typeface="Cambria Math" panose="02040503050406030204" pitchFamily="18" charset="0"/>
                                        </a:rPr>
                                        <m:t>𝑜</m:t>
                                      </m:r>
                                    </m:sub>
                                    <m:sup>
                                      <m:r>
                                        <a:rPr lang="en-US" altLang="ja-JP" b="0" i="1" smtClean="0">
                                          <a:latin typeface="Cambria Math" panose="02040503050406030204" pitchFamily="18" charset="0"/>
                                        </a:rPr>
                                        <m:t>1</m:t>
                                      </m:r>
                                    </m:sup>
                                  </m:sSubSup>
                                </m:e>
                              </m:d>
                              <m:r>
                                <a:rPr lang="en-US" altLang="ja-JP" i="1">
                                  <a:latin typeface="Cambria Math" panose="02040503050406030204" pitchFamily="18" charset="0"/>
                                </a:rPr>
                                <m:t>.</m:t>
                              </m:r>
                              <m:r>
                                <m:rPr>
                                  <m:sty m:val="p"/>
                                </m:rPr>
                                <a:rPr lang="en-US" altLang="ja-JP">
                                  <a:latin typeface="Cambria Math" panose="02040503050406030204" pitchFamily="18" charset="0"/>
                                </a:rPr>
                                <m:t>coeff</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b="0" i="1" smtClean="0">
                                          <a:latin typeface="Cambria Math" panose="02040503050406030204" pitchFamily="18" charset="0"/>
                                        </a:rPr>
                                        <m:t>𝑜</m:t>
                                      </m:r>
                                    </m:sub>
                                  </m:sSub>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𝑡</m:t>
                                      </m:r>
                                    </m:e>
                                    <m:sub>
                                      <m:r>
                                        <a:rPr lang="en-US" altLang="ja-JP" b="0" i="1" smtClean="0">
                                          <a:latin typeface="Cambria Math" panose="02040503050406030204" pitchFamily="18" charset="0"/>
                                        </a:rPr>
                                        <m:t>𝑜</m:t>
                                      </m:r>
                                    </m:sub>
                                  </m:sSub>
                                </m:e>
                              </m:d>
                              <m:r>
                                <a:rPr lang="en-US" altLang="ja-JP" i="1">
                                  <a:latin typeface="Cambria Math" panose="02040503050406030204" pitchFamily="18" charset="0"/>
                                </a:rPr>
                                <m:t>=0</m:t>
                              </m:r>
                            </m:e>
                            <m:e>
                              <m:r>
                                <a:rPr lang="en-US" altLang="ja-JP" b="0" i="1" smtClean="0">
                                  <a:latin typeface="Cambria Math" panose="02040503050406030204" pitchFamily="18" charset="0"/>
                                </a:rPr>
                                <m:t>⋮</m:t>
                              </m:r>
                            </m:e>
                            <m:e>
                              <m:r>
                                <a:rPr lang="ja-JP" altLang="en-US" i="1" smtClean="0">
                                  <a:latin typeface="Cambria Math" panose="02040503050406030204" pitchFamily="18" charset="0"/>
                                </a:rPr>
                                <m:t>𝒫</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i="1">
                                          <a:latin typeface="Cambria Math" panose="02040503050406030204" pitchFamily="18" charset="0"/>
                                        </a:rPr>
                                        <m:t>1</m:t>
                                      </m:r>
                                    </m:sub>
                                  </m:sSub>
                                  <m:sSubSup>
                                    <m:sSubSupPr>
                                      <m:ctrlPr>
                                        <a:rPr lang="en-US" altLang="ja-JP" b="0" i="1" smtClean="0">
                                          <a:latin typeface="Cambria Math" panose="02040503050406030204" pitchFamily="18" charset="0"/>
                                        </a:rPr>
                                      </m:ctrlPr>
                                    </m:sSubSupPr>
                                    <m:e>
                                      <m:r>
                                        <a:rPr lang="ja-JP" altLang="en-US" i="1">
                                          <a:latin typeface="Cambria Math" panose="02040503050406030204" pitchFamily="18" charset="0"/>
                                        </a:rPr>
                                        <m:t>𝕓</m:t>
                                      </m:r>
                                    </m:e>
                                    <m:sub>
                                      <m:r>
                                        <a:rPr lang="en-US" altLang="ja-JP" i="1">
                                          <a:latin typeface="Cambria Math" panose="02040503050406030204" pitchFamily="18" charset="0"/>
                                        </a:rPr>
                                        <m:t>1</m:t>
                                      </m:r>
                                    </m:sub>
                                    <m:sup>
                                      <m:r>
                                        <a:rPr lang="en-US" altLang="ja-JP" b="0" i="1" smtClean="0">
                                          <a:latin typeface="Cambria Math" panose="02040503050406030204" pitchFamily="18" charset="0"/>
                                        </a:rPr>
                                        <m:t>𝑘</m:t>
                                      </m:r>
                                    </m:sup>
                                  </m:sSubSup>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i="1">
                                          <a:latin typeface="Cambria Math" panose="02040503050406030204" pitchFamily="18" charset="0"/>
                                        </a:rPr>
                                        <m:t>𝑜</m:t>
                                      </m:r>
                                    </m:sub>
                                  </m:sSub>
                                  <m:sSubSup>
                                    <m:sSubSupPr>
                                      <m:ctrlPr>
                                        <a:rPr lang="en-US" altLang="ja-JP" b="0" i="1" smtClean="0">
                                          <a:latin typeface="Cambria Math" panose="02040503050406030204" pitchFamily="18" charset="0"/>
                                        </a:rPr>
                                      </m:ctrlPr>
                                    </m:sSubSupPr>
                                    <m:e>
                                      <m:r>
                                        <a:rPr lang="ja-JP" altLang="en-US" i="1">
                                          <a:latin typeface="Cambria Math" panose="02040503050406030204" pitchFamily="18" charset="0"/>
                                        </a:rPr>
                                        <m:t>𝕓</m:t>
                                      </m:r>
                                    </m:e>
                                    <m:sub>
                                      <m:r>
                                        <a:rPr lang="en-US" altLang="ja-JP" i="1">
                                          <a:latin typeface="Cambria Math" panose="02040503050406030204" pitchFamily="18" charset="0"/>
                                        </a:rPr>
                                        <m:t>𝑜</m:t>
                                      </m:r>
                                    </m:sub>
                                    <m:sup>
                                      <m:r>
                                        <a:rPr lang="en-US" altLang="ja-JP" b="0" i="1" smtClean="0">
                                          <a:latin typeface="Cambria Math" panose="02040503050406030204" pitchFamily="18" charset="0"/>
                                        </a:rPr>
                                        <m:t>𝑘</m:t>
                                      </m:r>
                                    </m:sup>
                                  </m:sSubSup>
                                </m:e>
                              </m:d>
                              <m:r>
                                <a:rPr lang="en-US" altLang="ja-JP" i="1">
                                  <a:latin typeface="Cambria Math" panose="02040503050406030204" pitchFamily="18" charset="0"/>
                                </a:rPr>
                                <m:t>.</m:t>
                              </m:r>
                              <m:r>
                                <m:rPr>
                                  <m:sty m:val="p"/>
                                </m:rPr>
                                <a:rPr lang="en-US" altLang="ja-JP">
                                  <a:latin typeface="Cambria Math" panose="02040503050406030204" pitchFamily="18" charset="0"/>
                                </a:rPr>
                                <m:t>coeff</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b="0" i="1" smtClean="0">
                                          <a:latin typeface="Cambria Math" panose="02040503050406030204" pitchFamily="18" charset="0"/>
                                        </a:rPr>
                                        <m:t>1</m:t>
                                      </m:r>
                                    </m:sub>
                                  </m:sSub>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𝑡</m:t>
                                      </m:r>
                                    </m:e>
                                    <m:sub>
                                      <m:r>
                                        <a:rPr lang="en-US" altLang="ja-JP" b="0" i="1" smtClean="0">
                                          <a:latin typeface="Cambria Math" panose="02040503050406030204" pitchFamily="18" charset="0"/>
                                        </a:rPr>
                                        <m:t>1</m:t>
                                      </m:r>
                                    </m:sub>
                                  </m:sSub>
                                </m:e>
                              </m:d>
                              <m:r>
                                <a:rPr lang="en-US" altLang="ja-JP" i="1">
                                  <a:latin typeface="Cambria Math" panose="02040503050406030204" pitchFamily="18" charset="0"/>
                                </a:rPr>
                                <m:t>=0</m:t>
                              </m:r>
                            </m:e>
                            <m:e>
                              <m:r>
                                <a:rPr lang="en-US" altLang="ja-JP" b="0" i="1" smtClean="0">
                                  <a:latin typeface="Cambria Math" panose="02040503050406030204" pitchFamily="18" charset="0"/>
                                </a:rPr>
                                <m:t>⋮</m:t>
                              </m:r>
                            </m:e>
                            <m:e>
                              <m:r>
                                <a:rPr lang="ja-JP" altLang="en-US" i="1" smtClean="0">
                                  <a:latin typeface="Cambria Math" panose="02040503050406030204" pitchFamily="18" charset="0"/>
                                </a:rPr>
                                <m:t>𝒫</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i="1">
                                          <a:latin typeface="Cambria Math" panose="02040503050406030204" pitchFamily="18" charset="0"/>
                                        </a:rPr>
                                        <m:t>1</m:t>
                                      </m:r>
                                    </m:sub>
                                  </m:sSub>
                                  <m:sSubSup>
                                    <m:sSubSupPr>
                                      <m:ctrlPr>
                                        <a:rPr lang="en-US" altLang="ja-JP" b="0" i="1" smtClean="0">
                                          <a:latin typeface="Cambria Math" panose="02040503050406030204" pitchFamily="18" charset="0"/>
                                        </a:rPr>
                                      </m:ctrlPr>
                                    </m:sSubSupPr>
                                    <m:e>
                                      <m:r>
                                        <a:rPr lang="ja-JP" altLang="en-US" i="1">
                                          <a:latin typeface="Cambria Math" panose="02040503050406030204" pitchFamily="18" charset="0"/>
                                        </a:rPr>
                                        <m:t>𝕓</m:t>
                                      </m:r>
                                    </m:e>
                                    <m:sub>
                                      <m:r>
                                        <a:rPr lang="en-US" altLang="ja-JP" i="1">
                                          <a:latin typeface="Cambria Math" panose="02040503050406030204" pitchFamily="18" charset="0"/>
                                        </a:rPr>
                                        <m:t>1</m:t>
                                      </m:r>
                                    </m:sub>
                                    <m:sup>
                                      <m:r>
                                        <a:rPr lang="en-US" altLang="ja-JP" b="0" i="1" smtClean="0">
                                          <a:latin typeface="Cambria Math" panose="02040503050406030204" pitchFamily="18" charset="0"/>
                                        </a:rPr>
                                        <m:t>𝑘</m:t>
                                      </m:r>
                                    </m:sup>
                                  </m:sSubSup>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i="1">
                                          <a:latin typeface="Cambria Math" panose="02040503050406030204" pitchFamily="18" charset="0"/>
                                        </a:rPr>
                                        <m:t>𝑜</m:t>
                                      </m:r>
                                    </m:sub>
                                  </m:sSub>
                                  <m:sSubSup>
                                    <m:sSubSupPr>
                                      <m:ctrlPr>
                                        <a:rPr lang="en-US" altLang="ja-JP" b="0" i="1" smtClean="0">
                                          <a:latin typeface="Cambria Math" panose="02040503050406030204" pitchFamily="18" charset="0"/>
                                        </a:rPr>
                                      </m:ctrlPr>
                                    </m:sSubSupPr>
                                    <m:e>
                                      <m:r>
                                        <a:rPr lang="ja-JP" altLang="en-US" i="1">
                                          <a:latin typeface="Cambria Math" panose="02040503050406030204" pitchFamily="18" charset="0"/>
                                        </a:rPr>
                                        <m:t>𝕓</m:t>
                                      </m:r>
                                    </m:e>
                                    <m:sub>
                                      <m:r>
                                        <a:rPr lang="en-US" altLang="ja-JP" i="1">
                                          <a:latin typeface="Cambria Math" panose="02040503050406030204" pitchFamily="18" charset="0"/>
                                        </a:rPr>
                                        <m:t>𝑜</m:t>
                                      </m:r>
                                    </m:sub>
                                    <m:sup>
                                      <m:r>
                                        <a:rPr lang="en-US" altLang="ja-JP" b="0" i="1" smtClean="0">
                                          <a:latin typeface="Cambria Math" panose="02040503050406030204" pitchFamily="18" charset="0"/>
                                        </a:rPr>
                                        <m:t>𝑘</m:t>
                                      </m:r>
                                    </m:sup>
                                  </m:sSubSup>
                                </m:e>
                              </m:d>
                              <m:r>
                                <a:rPr lang="en-US" altLang="ja-JP" i="1">
                                  <a:latin typeface="Cambria Math" panose="02040503050406030204" pitchFamily="18" charset="0"/>
                                </a:rPr>
                                <m:t>.</m:t>
                              </m:r>
                              <m:r>
                                <m:rPr>
                                  <m:sty m:val="p"/>
                                </m:rPr>
                                <a:rPr lang="en-US" altLang="ja-JP">
                                  <a:latin typeface="Cambria Math" panose="02040503050406030204" pitchFamily="18" charset="0"/>
                                </a:rPr>
                                <m:t>coeff</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𝑡</m:t>
                                      </m:r>
                                    </m:e>
                                    <m:sub>
                                      <m:r>
                                        <a:rPr lang="en-US" altLang="ja-JP" b="0" i="1" smtClean="0">
                                          <a:latin typeface="Cambria Math" panose="02040503050406030204" pitchFamily="18" charset="0"/>
                                        </a:rPr>
                                        <m:t>𝑜</m:t>
                                      </m:r>
                                    </m:sub>
                                  </m:sSub>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𝑡</m:t>
                                      </m:r>
                                    </m:e>
                                    <m:sub>
                                      <m:r>
                                        <a:rPr lang="en-US" altLang="ja-JP" b="0" i="1" smtClean="0">
                                          <a:latin typeface="Cambria Math" panose="02040503050406030204" pitchFamily="18" charset="0"/>
                                        </a:rPr>
                                        <m:t>𝑜</m:t>
                                      </m:r>
                                    </m:sub>
                                  </m:sSub>
                                </m:e>
                              </m:d>
                              <m:r>
                                <a:rPr lang="en-US" altLang="ja-JP" i="1">
                                  <a:latin typeface="Cambria Math" panose="02040503050406030204" pitchFamily="18" charset="0"/>
                                </a:rPr>
                                <m:t>=0</m:t>
                              </m:r>
                            </m:e>
                          </m:eqArr>
                        </m:e>
                      </m:d>
                    </m:oMath>
                  </m:oMathPara>
                </a14:m>
                <a:br>
                  <a:rPr kumimoji="1" lang="en-US" altLang="ja-JP"/>
                </a:br>
                <a:endParaRPr kumimoji="1" lang="en-US" altLang="ja-JP"/>
              </a:p>
              <a:p>
                <a:r>
                  <a:rPr kumimoji="1" lang="ja-JP" altLang="en-US"/>
                  <a:t>を解けばよい</a:t>
                </a:r>
                <a:r>
                  <a:rPr kumimoji="1" lang="en-US" altLang="ja-JP"/>
                  <a:t>. </a:t>
                </a:r>
                <a:r>
                  <a:rPr kumimoji="1" lang="ja-JP" altLang="en-US"/>
                  <a:t>ここで </a:t>
                </a:r>
                <a14:m>
                  <m:oMath xmlns:m="http://schemas.openxmlformats.org/officeDocument/2006/math">
                    <m:sSup>
                      <m:sSupPr>
                        <m:ctrlPr>
                          <a:rPr kumimoji="1" lang="en-US" altLang="ja-JP" b="0" i="1" smtClean="0">
                            <a:latin typeface="Cambria Math" panose="02040503050406030204" pitchFamily="18" charset="0"/>
                          </a:rPr>
                        </m:ctrlPr>
                      </m:sSupPr>
                      <m:e>
                        <m:r>
                          <a:rPr kumimoji="1" lang="ja-JP" altLang="en-US" i="1" smtClean="0">
                            <a:latin typeface="Cambria Math" panose="02040503050406030204" pitchFamily="18" charset="0"/>
                          </a:rPr>
                          <m:t>𝕓</m:t>
                        </m:r>
                      </m:e>
                      <m:sup>
                        <m:r>
                          <a:rPr kumimoji="1" lang="en-US" altLang="ja-JP" b="0" i="1" smtClean="0">
                            <a:latin typeface="Cambria Math" panose="02040503050406030204" pitchFamily="18" charset="0"/>
                          </a:rPr>
                          <m:t>𝑖</m:t>
                        </m:r>
                      </m:sup>
                    </m:sSup>
                  </m:oMath>
                </a14:m>
                <a:r>
                  <a:rPr kumimoji="1" lang="en-US" altLang="ja-JP"/>
                  <a:t> </a:t>
                </a:r>
                <a:r>
                  <a:rPr kumimoji="1" lang="ja-JP" altLang="en-US"/>
                  <a:t>は </a:t>
                </a:r>
                <a14:m>
                  <m:oMath xmlns:m="http://schemas.openxmlformats.org/officeDocument/2006/math">
                    <m:sSub>
                      <m:sSubPr>
                        <m:ctrlPr>
                          <a:rPr kumimoji="1" lang="en-US" altLang="ja-JP" b="0" i="1" smtClean="0">
                            <a:latin typeface="Cambria Math" panose="02040503050406030204" pitchFamily="18" charset="0"/>
                          </a:rPr>
                        </m:ctrlPr>
                      </m:sSubPr>
                      <m:e>
                        <m:r>
                          <a:rPr kumimoji="1" lang="ja-JP" altLang="en-US" i="1" smtClean="0">
                            <a:latin typeface="Cambria Math" panose="02040503050406030204" pitchFamily="18" charset="0"/>
                          </a:rPr>
                          <m:t>𝒪</m:t>
                        </m:r>
                      </m:e>
                      <m:sub>
                        <m:r>
                          <a:rPr kumimoji="1" lang="en-US" altLang="ja-JP" b="0" i="1" smtClean="0">
                            <a:latin typeface="Cambria Math" panose="02040503050406030204" pitchFamily="18" charset="0"/>
                          </a:rPr>
                          <m:t>𝑖</m:t>
                        </m:r>
                      </m:sub>
                    </m:sSub>
                  </m:oMath>
                </a14:m>
                <a:r>
                  <a:rPr kumimoji="1" lang="en-US" altLang="ja-JP"/>
                  <a:t> </a:t>
                </a:r>
                <a:r>
                  <a:rPr kumimoji="1" lang="ja-JP" altLang="en-US"/>
                  <a:t>の基底</a:t>
                </a:r>
                <a:r>
                  <a:rPr kumimoji="1" lang="en-US" altLang="ja-JP"/>
                  <a:t>.</a:t>
                </a:r>
              </a:p>
              <a:p>
                <a:r>
                  <a:rPr kumimoji="1" lang="ja-JP" altLang="en-US"/>
                  <a:t>多項式の個数は </a:t>
                </a:r>
                <a14:m>
                  <m:oMath xmlns:m="http://schemas.openxmlformats.org/officeDocument/2006/math">
                    <m:f>
                      <m:fPr>
                        <m:ctrlPr>
                          <a:rPr lang="en-US" altLang="ja-JP" i="1" smtClean="0">
                            <a:latin typeface="Cambria Math" panose="02040503050406030204" pitchFamily="18" charset="0"/>
                          </a:rPr>
                        </m:ctrlPr>
                      </m:fPr>
                      <m:num>
                        <m:r>
                          <a:rPr lang="en-US" altLang="ja-JP" b="0" i="1" smtClean="0">
                            <a:latin typeface="Cambria Math" panose="02040503050406030204" pitchFamily="18" charset="0"/>
                          </a:rPr>
                          <m:t>𝑜</m:t>
                        </m:r>
                        <m:r>
                          <a:rPr lang="en-US" altLang="ja-JP" b="0" i="1" smtClean="0">
                            <a:latin typeface="Cambria Math" panose="02040503050406030204" pitchFamily="18" charset="0"/>
                          </a:rPr>
                          <m:t>(</m:t>
                        </m:r>
                        <m:r>
                          <a:rPr lang="en-US" altLang="ja-JP" b="0" i="1" smtClean="0">
                            <a:latin typeface="Cambria Math" panose="02040503050406030204" pitchFamily="18" charset="0"/>
                          </a:rPr>
                          <m:t>𝑜</m:t>
                        </m:r>
                        <m:r>
                          <a:rPr lang="en-US" altLang="ja-JP" b="0" i="1" smtClean="0">
                            <a:latin typeface="Cambria Math" panose="02040503050406030204" pitchFamily="18" charset="0"/>
                          </a:rPr>
                          <m:t>+1)</m:t>
                        </m:r>
                      </m:num>
                      <m:den>
                        <m:r>
                          <a:rPr lang="en-US" altLang="ja-JP" b="0" i="1" smtClean="0">
                            <a:latin typeface="Cambria Math" panose="02040503050406030204" pitchFamily="18" charset="0"/>
                          </a:rPr>
                          <m:t>2</m:t>
                        </m:r>
                      </m:den>
                    </m:f>
                    <m:r>
                      <a:rPr lang="en-US" altLang="ja-JP" b="0" i="1" smtClean="0">
                        <a:latin typeface="Cambria Math" panose="02040503050406030204" pitchFamily="18" charset="0"/>
                        <a:ea typeface="Cambria Math" panose="02040503050406030204" pitchFamily="18" charset="0"/>
                      </a:rPr>
                      <m:t>×</m:t>
                    </m:r>
                    <m:r>
                      <a:rPr lang="en-US" altLang="ja-JP" b="0" i="1" smtClean="0">
                        <a:latin typeface="Cambria Math" panose="02040503050406030204" pitchFamily="18" charset="0"/>
                        <a:ea typeface="Cambria Math" panose="02040503050406030204" pitchFamily="18" charset="0"/>
                      </a:rPr>
                      <m:t>𝑘</m:t>
                    </m:r>
                  </m:oMath>
                </a14:m>
                <a:r>
                  <a:rPr kumimoji="1" lang="en-US" altLang="ja-JP"/>
                  <a:t> </a:t>
                </a:r>
                <a:r>
                  <a:rPr kumimoji="1" lang="ja-JP" altLang="en-US"/>
                  <a:t>個</a:t>
                </a:r>
                <a:r>
                  <a:rPr kumimoji="1" lang="en-US" altLang="ja-JP"/>
                  <a:t>. </a:t>
                </a:r>
                <a:r>
                  <a:rPr kumimoji="1" lang="ja-JP" altLang="en-US"/>
                  <a:t>このような </a:t>
                </a:r>
                <a14:m>
                  <m:oMath xmlns:m="http://schemas.openxmlformats.org/officeDocument/2006/math">
                    <m:r>
                      <a:rPr kumimoji="1" lang="ja-JP" altLang="en-US" i="1" smtClean="0">
                        <a:latin typeface="Cambria Math" panose="02040503050406030204" pitchFamily="18" charset="0"/>
                      </a:rPr>
                      <m:t>𝒫</m:t>
                    </m:r>
                  </m:oMath>
                </a14:m>
                <a:r>
                  <a:rPr kumimoji="1" lang="en-US" altLang="ja-JP"/>
                  <a:t> </a:t>
                </a:r>
                <a:r>
                  <a:rPr kumimoji="1" lang="ja-JP" altLang="en-US"/>
                  <a:t>が存在する </a:t>
                </a:r>
                <a14:m>
                  <m:oMath xmlns:m="http://schemas.openxmlformats.org/officeDocument/2006/math">
                    <m:r>
                      <a:rPr kumimoji="1" lang="en-US" altLang="ja-JP" b="0" i="1" smtClean="0">
                        <a:latin typeface="Cambria Math" panose="02040503050406030204" pitchFamily="18" charset="0"/>
                      </a:rPr>
                      <m:t>𝑘</m:t>
                    </m:r>
                  </m:oMath>
                </a14:m>
                <a:r>
                  <a:rPr kumimoji="1" lang="en-US" altLang="ja-JP"/>
                  <a:t> </a:t>
                </a:r>
                <a:r>
                  <a:rPr kumimoji="1" lang="ja-JP" altLang="en-US"/>
                  <a:t>の最大値は </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𝑘</m:t>
                        </m:r>
                      </m:e>
                      <m:sub>
                        <m:r>
                          <m:rPr>
                            <m:sty m:val="p"/>
                          </m:rPr>
                          <a:rPr kumimoji="1" lang="en-US" altLang="ja-JP" b="0" i="0" smtClean="0">
                            <a:latin typeface="Cambria Math" panose="02040503050406030204" pitchFamily="18" charset="0"/>
                          </a:rPr>
                          <m:t>max</m:t>
                        </m:r>
                      </m:sub>
                    </m:sSub>
                    <m:r>
                      <a:rPr kumimoji="1" lang="en-US" altLang="ja-JP" b="0" i="1" smtClean="0">
                        <a:latin typeface="Cambria Math" panose="02040503050406030204" pitchFamily="18" charset="0"/>
                      </a:rPr>
                      <m:t>=</m:t>
                    </m:r>
                    <m:d>
                      <m:dPr>
                        <m:begChr m:val="⌊"/>
                        <m:endChr m:val="⌋"/>
                        <m:ctrlPr>
                          <a:rPr kumimoji="1" lang="ja-JP" altLang="en-US" i="1" smtClean="0">
                            <a:latin typeface="Cambria Math" panose="02040503050406030204" pitchFamily="18" charset="0"/>
                          </a:rPr>
                        </m:ctrlPr>
                      </m:dPr>
                      <m:e>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𝑛</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𝑛</m:t>
                            </m:r>
                            <m:r>
                              <a:rPr kumimoji="1" lang="en-US" altLang="ja-JP" b="0" i="1" smtClean="0">
                                <a:latin typeface="Cambria Math" panose="02040503050406030204" pitchFamily="18" charset="0"/>
                              </a:rPr>
                              <m:t>+1)</m:t>
                            </m:r>
                          </m:num>
                          <m:den>
                            <m:r>
                              <a:rPr kumimoji="1" lang="en-US" altLang="ja-JP" b="0" i="1" smtClean="0">
                                <a:latin typeface="Cambria Math" panose="02040503050406030204" pitchFamily="18" charset="0"/>
                              </a:rPr>
                              <m:t>𝑜</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𝑜</m:t>
                            </m:r>
                            <m:r>
                              <a:rPr kumimoji="1" lang="en-US" altLang="ja-JP" b="0" i="1" smtClean="0">
                                <a:latin typeface="Cambria Math" panose="02040503050406030204" pitchFamily="18" charset="0"/>
                              </a:rPr>
                              <m:t>+1)</m:t>
                            </m:r>
                          </m:den>
                        </m:f>
                      </m:e>
                    </m:d>
                  </m:oMath>
                </a14:m>
                <a:r>
                  <a:rPr kumimoji="1" lang="en-US" altLang="ja-JP"/>
                  <a:t>.</a:t>
                </a:r>
              </a:p>
            </p:txBody>
          </p:sp>
        </mc:Choice>
        <mc:Fallback xmlns="">
          <p:sp>
            <p:nvSpPr>
              <p:cNvPr id="7" name="テキスト ボックス 6">
                <a:extLst>
                  <a:ext uri="{FF2B5EF4-FFF2-40B4-BE49-F238E27FC236}">
                    <a16:creationId xmlns:a16="http://schemas.microsoft.com/office/drawing/2014/main" id="{F63215FB-E387-5477-5E76-42AB59ABAE1D}"/>
                  </a:ext>
                </a:extLst>
              </p:cNvPr>
              <p:cNvSpPr txBox="1">
                <a:spLocks noRot="1" noChangeAspect="1" noMove="1" noResize="1" noEditPoints="1" noAdjustHandles="1" noChangeArrowheads="1" noChangeShapeType="1" noTextEdit="1"/>
              </p:cNvSpPr>
              <p:nvPr/>
            </p:nvSpPr>
            <p:spPr>
              <a:xfrm>
                <a:off x="179999" y="3414851"/>
                <a:ext cx="10968969" cy="3295454"/>
              </a:xfrm>
              <a:prstGeom prst="rect">
                <a:avLst/>
              </a:prstGeom>
              <a:blipFill>
                <a:blip r:embed="rId4"/>
                <a:stretch>
                  <a:fillRect l="-5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BB4C64DF-22F6-AFD6-32CD-A265A9DC49D3}"/>
                  </a:ext>
                </a:extLst>
              </p:cNvPr>
              <p:cNvSpPr txBox="1"/>
              <p:nvPr/>
            </p:nvSpPr>
            <p:spPr>
              <a:xfrm>
                <a:off x="9126189" y="5606446"/>
                <a:ext cx="2643566" cy="776816"/>
              </a:xfrm>
              <a:prstGeom prst="rect">
                <a:avLst/>
              </a:prstGeom>
              <a:noFill/>
            </p:spPr>
            <p:txBody>
              <a:bodyPr wrap="square" rtlCol="0">
                <a:spAutoFit/>
              </a:bodyPr>
              <a:lstStyle/>
              <a:p>
                <a:r>
                  <a:rPr kumimoji="1" lang="ja-JP" altLang="en-US" sz="1600">
                    <a:solidFill>
                      <a:schemeClr val="bg1">
                        <a:lumMod val="65000"/>
                      </a:schemeClr>
                    </a:solidFill>
                  </a:rPr>
                  <a:t>実際は </a:t>
                </a:r>
                <a14:m>
                  <m:oMath xmlns:m="http://schemas.openxmlformats.org/officeDocument/2006/math">
                    <m:r>
                      <a:rPr kumimoji="1" lang="ja-JP" altLang="en-US" sz="1600" i="1" smtClean="0">
                        <a:solidFill>
                          <a:schemeClr val="bg1">
                            <a:lumMod val="65000"/>
                          </a:schemeClr>
                        </a:solidFill>
                        <a:latin typeface="Cambria Math" panose="02040503050406030204" pitchFamily="18" charset="0"/>
                      </a:rPr>
                      <m:t>𝒫</m:t>
                    </m:r>
                  </m:oMath>
                </a14:m>
                <a:r>
                  <a:rPr kumimoji="1" lang="ja-JP" altLang="en-US" sz="1600">
                    <a:solidFill>
                      <a:schemeClr val="bg1">
                        <a:lumMod val="65000"/>
                      </a:schemeClr>
                    </a:solidFill>
                  </a:rPr>
                  <a:t> が零多項式だと困るので </a:t>
                </a:r>
                <a14:m>
                  <m:oMath xmlns:m="http://schemas.openxmlformats.org/officeDocument/2006/math">
                    <m:sSub>
                      <m:sSubPr>
                        <m:ctrlPr>
                          <a:rPr lang="en-US" altLang="ja-JP" sz="1600" i="1">
                            <a:solidFill>
                              <a:schemeClr val="bg1">
                                <a:lumMod val="65000"/>
                              </a:schemeClr>
                            </a:solidFill>
                            <a:latin typeface="Cambria Math" panose="02040503050406030204" pitchFamily="18" charset="0"/>
                          </a:rPr>
                        </m:ctrlPr>
                      </m:sSubPr>
                      <m:e>
                        <m:r>
                          <a:rPr lang="en-US" altLang="ja-JP" sz="1600" i="1">
                            <a:solidFill>
                              <a:schemeClr val="bg1">
                                <a:lumMod val="65000"/>
                              </a:schemeClr>
                            </a:solidFill>
                            <a:latin typeface="Cambria Math" panose="02040503050406030204" pitchFamily="18" charset="0"/>
                          </a:rPr>
                          <m:t>𝑘</m:t>
                        </m:r>
                      </m:e>
                      <m:sub>
                        <m:r>
                          <m:rPr>
                            <m:sty m:val="p"/>
                          </m:rPr>
                          <a:rPr lang="en-US" altLang="ja-JP" sz="1600">
                            <a:solidFill>
                              <a:schemeClr val="bg1">
                                <a:lumMod val="65000"/>
                              </a:schemeClr>
                            </a:solidFill>
                            <a:latin typeface="Cambria Math" panose="02040503050406030204" pitchFamily="18" charset="0"/>
                          </a:rPr>
                          <m:t>max</m:t>
                        </m:r>
                      </m:sub>
                    </m:sSub>
                    <m:r>
                      <a:rPr lang="en-US" altLang="ja-JP" sz="1600" i="1">
                        <a:solidFill>
                          <a:schemeClr val="bg1">
                            <a:lumMod val="65000"/>
                          </a:schemeClr>
                        </a:solidFill>
                        <a:latin typeface="Cambria Math" panose="02040503050406030204" pitchFamily="18" charset="0"/>
                      </a:rPr>
                      <m:t>=</m:t>
                    </m:r>
                    <m:d>
                      <m:dPr>
                        <m:begChr m:val="⌊"/>
                        <m:endChr m:val="⌋"/>
                        <m:ctrlPr>
                          <a:rPr lang="ja-JP" altLang="en-US" sz="1600" i="1">
                            <a:solidFill>
                              <a:schemeClr val="bg1">
                                <a:lumMod val="65000"/>
                              </a:schemeClr>
                            </a:solidFill>
                            <a:latin typeface="Cambria Math" panose="02040503050406030204" pitchFamily="18" charset="0"/>
                          </a:rPr>
                        </m:ctrlPr>
                      </m:dPr>
                      <m:e>
                        <m:f>
                          <m:fPr>
                            <m:ctrlPr>
                              <a:rPr lang="en-US" altLang="ja-JP" sz="1600" i="1">
                                <a:solidFill>
                                  <a:schemeClr val="bg1">
                                    <a:lumMod val="65000"/>
                                  </a:schemeClr>
                                </a:solidFill>
                                <a:latin typeface="Cambria Math" panose="02040503050406030204" pitchFamily="18" charset="0"/>
                              </a:rPr>
                            </m:ctrlPr>
                          </m:fPr>
                          <m:num>
                            <m:r>
                              <a:rPr lang="en-US" altLang="ja-JP" sz="1600" i="1">
                                <a:solidFill>
                                  <a:schemeClr val="bg1">
                                    <a:lumMod val="65000"/>
                                  </a:schemeClr>
                                </a:solidFill>
                                <a:latin typeface="Cambria Math" panose="02040503050406030204" pitchFamily="18" charset="0"/>
                              </a:rPr>
                              <m:t>𝑛</m:t>
                            </m:r>
                            <m:d>
                              <m:dPr>
                                <m:ctrlPr>
                                  <a:rPr lang="en-US" altLang="ja-JP" sz="1600" i="1">
                                    <a:solidFill>
                                      <a:schemeClr val="bg1">
                                        <a:lumMod val="65000"/>
                                      </a:schemeClr>
                                    </a:solidFill>
                                    <a:latin typeface="Cambria Math" panose="02040503050406030204" pitchFamily="18" charset="0"/>
                                  </a:rPr>
                                </m:ctrlPr>
                              </m:dPr>
                              <m:e>
                                <m:r>
                                  <a:rPr lang="en-US" altLang="ja-JP" sz="1600" i="1">
                                    <a:solidFill>
                                      <a:schemeClr val="bg1">
                                        <a:lumMod val="65000"/>
                                      </a:schemeClr>
                                    </a:solidFill>
                                    <a:latin typeface="Cambria Math" panose="02040503050406030204" pitchFamily="18" charset="0"/>
                                  </a:rPr>
                                  <m:t>𝑛</m:t>
                                </m:r>
                                <m:r>
                                  <a:rPr lang="en-US" altLang="ja-JP" sz="1600" i="1">
                                    <a:solidFill>
                                      <a:schemeClr val="bg1">
                                        <a:lumMod val="65000"/>
                                      </a:schemeClr>
                                    </a:solidFill>
                                    <a:latin typeface="Cambria Math" panose="02040503050406030204" pitchFamily="18" charset="0"/>
                                  </a:rPr>
                                  <m:t>+1</m:t>
                                </m:r>
                              </m:e>
                            </m:d>
                            <m:r>
                              <a:rPr lang="en-US" altLang="ja-JP" sz="1600" b="0" i="1" smtClean="0">
                                <a:solidFill>
                                  <a:schemeClr val="bg1">
                                    <a:lumMod val="65000"/>
                                  </a:schemeClr>
                                </a:solidFill>
                                <a:latin typeface="Cambria Math" panose="02040503050406030204" pitchFamily="18" charset="0"/>
                              </a:rPr>
                              <m:t>−2</m:t>
                            </m:r>
                          </m:num>
                          <m:den>
                            <m:r>
                              <a:rPr lang="en-US" altLang="ja-JP" sz="1600" i="1">
                                <a:solidFill>
                                  <a:schemeClr val="bg1">
                                    <a:lumMod val="65000"/>
                                  </a:schemeClr>
                                </a:solidFill>
                                <a:latin typeface="Cambria Math" panose="02040503050406030204" pitchFamily="18" charset="0"/>
                              </a:rPr>
                              <m:t>𝑜</m:t>
                            </m:r>
                            <m:r>
                              <a:rPr lang="en-US" altLang="ja-JP" sz="1600" i="1">
                                <a:solidFill>
                                  <a:schemeClr val="bg1">
                                    <a:lumMod val="65000"/>
                                  </a:schemeClr>
                                </a:solidFill>
                                <a:latin typeface="Cambria Math" panose="02040503050406030204" pitchFamily="18" charset="0"/>
                              </a:rPr>
                              <m:t>(</m:t>
                            </m:r>
                            <m:r>
                              <a:rPr lang="en-US" altLang="ja-JP" sz="1600" i="1">
                                <a:solidFill>
                                  <a:schemeClr val="bg1">
                                    <a:lumMod val="65000"/>
                                  </a:schemeClr>
                                </a:solidFill>
                                <a:latin typeface="Cambria Math" panose="02040503050406030204" pitchFamily="18" charset="0"/>
                              </a:rPr>
                              <m:t>𝑜</m:t>
                            </m:r>
                            <m:r>
                              <a:rPr lang="en-US" altLang="ja-JP" sz="1600" i="1">
                                <a:solidFill>
                                  <a:schemeClr val="bg1">
                                    <a:lumMod val="65000"/>
                                  </a:schemeClr>
                                </a:solidFill>
                                <a:latin typeface="Cambria Math" panose="02040503050406030204" pitchFamily="18" charset="0"/>
                              </a:rPr>
                              <m:t>+1)</m:t>
                            </m:r>
                          </m:den>
                        </m:f>
                      </m:e>
                    </m:d>
                  </m:oMath>
                </a14:m>
                <a:r>
                  <a:rPr kumimoji="1" lang="ja-JP" altLang="en-US" sz="1600">
                    <a:solidFill>
                      <a:schemeClr val="bg1">
                        <a:lumMod val="65000"/>
                      </a:schemeClr>
                    </a:solidFill>
                  </a:rPr>
                  <a:t> </a:t>
                </a:r>
              </a:p>
            </p:txBody>
          </p:sp>
        </mc:Choice>
        <mc:Fallback xmlns="">
          <p:sp>
            <p:nvSpPr>
              <p:cNvPr id="8" name="テキスト ボックス 7">
                <a:extLst>
                  <a:ext uri="{FF2B5EF4-FFF2-40B4-BE49-F238E27FC236}">
                    <a16:creationId xmlns:a16="http://schemas.microsoft.com/office/drawing/2014/main" id="{BB4C64DF-22F6-AFD6-32CD-A265A9DC49D3}"/>
                  </a:ext>
                </a:extLst>
              </p:cNvPr>
              <p:cNvSpPr txBox="1">
                <a:spLocks noRot="1" noChangeAspect="1" noMove="1" noResize="1" noEditPoints="1" noAdjustHandles="1" noChangeArrowheads="1" noChangeShapeType="1" noTextEdit="1"/>
              </p:cNvSpPr>
              <p:nvPr/>
            </p:nvSpPr>
            <p:spPr>
              <a:xfrm>
                <a:off x="9126189" y="5606446"/>
                <a:ext cx="2643566" cy="776816"/>
              </a:xfrm>
              <a:prstGeom prst="rect">
                <a:avLst/>
              </a:prstGeom>
              <a:blipFill>
                <a:blip r:embed="rId5"/>
                <a:stretch>
                  <a:fillRect l="-1152" t="-2362" b="-157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54397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11170-605F-9F27-495D-F4F0F47EE280}"/>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9264F814-B1CB-C5B3-E158-E076BCE69D31}"/>
              </a:ext>
            </a:extLst>
          </p:cNvPr>
          <p:cNvSpPr txBox="1"/>
          <p:nvPr/>
        </p:nvSpPr>
        <p:spPr>
          <a:xfrm>
            <a:off x="180000" y="180000"/>
            <a:ext cx="5558070" cy="584775"/>
          </a:xfrm>
          <a:prstGeom prst="rect">
            <a:avLst/>
          </a:prstGeom>
          <a:noFill/>
        </p:spPr>
        <p:txBody>
          <a:bodyPr wrap="square" rtlCol="0">
            <a:spAutoFit/>
          </a:bodyPr>
          <a:lstStyle/>
          <a:p>
            <a:r>
              <a:rPr lang="en-US" altLang="ja-JP" sz="3200" b="1" dirty="0">
                <a:solidFill>
                  <a:schemeClr val="accent4">
                    <a:lumMod val="75000"/>
                  </a:schemeClr>
                </a:solidFill>
              </a:rPr>
              <a:t>2</a:t>
            </a:r>
            <a:r>
              <a:rPr lang="en-US" altLang="ja-JP" sz="3200" b="1">
                <a:solidFill>
                  <a:schemeClr val="accent4">
                    <a:lumMod val="75000"/>
                  </a:schemeClr>
                </a:solidFill>
              </a:rPr>
              <a:t>.</a:t>
            </a:r>
            <a:r>
              <a:rPr lang="ja-JP" altLang="en-US" sz="3200" b="1">
                <a:solidFill>
                  <a:schemeClr val="accent4">
                    <a:lumMod val="75000"/>
                  </a:schemeClr>
                </a:solidFill>
              </a:rPr>
              <a:t> </a:t>
            </a:r>
            <a:r>
              <a:rPr lang="en-US" altLang="ja-JP" sz="3200" b="1">
                <a:solidFill>
                  <a:schemeClr val="accent4">
                    <a:lumMod val="75000"/>
                  </a:schemeClr>
                </a:solidFill>
              </a:rPr>
              <a:t>MZ-UOV</a:t>
            </a:r>
            <a:endParaRPr lang="en-US" altLang="ja-JP" sz="3200" b="1" dirty="0">
              <a:solidFill>
                <a:schemeClr val="accent4">
                  <a:lumMod val="75000"/>
                </a:schemeClr>
              </a:solidFill>
            </a:endParaRPr>
          </a:p>
        </p:txBody>
      </p:sp>
      <p:sp>
        <p:nvSpPr>
          <p:cNvPr id="5" name="テキスト ボックス 4">
            <a:extLst>
              <a:ext uri="{FF2B5EF4-FFF2-40B4-BE49-F238E27FC236}">
                <a16:creationId xmlns:a16="http://schemas.microsoft.com/office/drawing/2014/main" id="{AD809369-3AD3-AA27-B5DC-51B6C2F7E638}"/>
              </a:ext>
            </a:extLst>
          </p:cNvPr>
          <p:cNvSpPr txBox="1"/>
          <p:nvPr/>
        </p:nvSpPr>
        <p:spPr>
          <a:xfrm>
            <a:off x="180000" y="764775"/>
            <a:ext cx="7227479" cy="461665"/>
          </a:xfrm>
          <a:prstGeom prst="rect">
            <a:avLst/>
          </a:prstGeom>
          <a:noFill/>
        </p:spPr>
        <p:txBody>
          <a:bodyPr wrap="square" rtlCol="0">
            <a:spAutoFit/>
          </a:bodyPr>
          <a:lstStyle/>
          <a:p>
            <a:r>
              <a:rPr lang="en-US" altLang="ja-JP" sz="2400" b="1">
                <a:solidFill>
                  <a:schemeClr val="accent4">
                    <a:lumMod val="75000"/>
                  </a:schemeClr>
                </a:solidFill>
              </a:rPr>
              <a:t>2</a:t>
            </a:r>
            <a:r>
              <a:rPr kumimoji="1" lang="en-US" altLang="ja-JP" sz="2400" b="1">
                <a:solidFill>
                  <a:schemeClr val="accent4">
                    <a:lumMod val="75000"/>
                  </a:schemeClr>
                </a:solidFill>
              </a:rPr>
              <a:t>-2. </a:t>
            </a:r>
            <a:r>
              <a:rPr lang="ja-JP" altLang="en-US" sz="2400" b="1">
                <a:solidFill>
                  <a:schemeClr val="accent4">
                    <a:lumMod val="75000"/>
                  </a:schemeClr>
                </a:solidFill>
              </a:rPr>
              <a:t>署名・検証・安全性</a:t>
            </a:r>
            <a:endParaRPr kumimoji="1" lang="ja-JP" altLang="en-US" sz="2400" b="1" dirty="0">
              <a:solidFill>
                <a:schemeClr val="accent4">
                  <a:lumMod val="75000"/>
                </a:schemeClr>
              </a:solidFill>
            </a:endParaRPr>
          </a:p>
        </p:txBody>
      </p:sp>
      <p:sp>
        <p:nvSpPr>
          <p:cNvPr id="10" name="テキスト ボックス 9">
            <a:extLst>
              <a:ext uri="{FF2B5EF4-FFF2-40B4-BE49-F238E27FC236}">
                <a16:creationId xmlns:a16="http://schemas.microsoft.com/office/drawing/2014/main" id="{2CE0F382-3A72-3DE8-991B-E8090D4C20E4}"/>
              </a:ext>
            </a:extLst>
          </p:cNvPr>
          <p:cNvSpPr txBox="1"/>
          <p:nvPr/>
        </p:nvSpPr>
        <p:spPr>
          <a:xfrm>
            <a:off x="180000" y="3944409"/>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署名と検証</a:t>
            </a:r>
            <a:endParaRPr kumimoji="1" lang="ja-JP" altLang="en-US" sz="2000" b="1" dirty="0"/>
          </a:p>
        </p:txBody>
      </p:sp>
      <p:sp>
        <p:nvSpPr>
          <p:cNvPr id="11" name="テキスト ボックス 10">
            <a:extLst>
              <a:ext uri="{FF2B5EF4-FFF2-40B4-BE49-F238E27FC236}">
                <a16:creationId xmlns:a16="http://schemas.microsoft.com/office/drawing/2014/main" id="{F63E902F-A9A8-2FAC-050E-14A0872D22EA}"/>
              </a:ext>
            </a:extLst>
          </p:cNvPr>
          <p:cNvSpPr txBox="1"/>
          <p:nvPr/>
        </p:nvSpPr>
        <p:spPr>
          <a:xfrm>
            <a:off x="180000" y="4431144"/>
            <a:ext cx="9504726" cy="369332"/>
          </a:xfrm>
          <a:prstGeom prst="rect">
            <a:avLst/>
          </a:prstGeom>
          <a:noFill/>
        </p:spPr>
        <p:txBody>
          <a:bodyPr wrap="square" rtlCol="0">
            <a:spAutoFit/>
          </a:bodyPr>
          <a:lstStyle/>
          <a:p>
            <a:r>
              <a:rPr kumimoji="1" lang="ja-JP" altLang="en-US"/>
              <a:t>署名と検証のアルゴリズムは</a:t>
            </a:r>
            <a:r>
              <a:rPr kumimoji="1" lang="en-US" altLang="ja-JP"/>
              <a:t>UOV</a:t>
            </a:r>
            <a:r>
              <a:rPr kumimoji="1" lang="ja-JP" altLang="en-US"/>
              <a:t>と同じ</a:t>
            </a:r>
            <a:r>
              <a:rPr kumimoji="1" lang="en-US" altLang="ja-JP"/>
              <a:t>.</a:t>
            </a:r>
            <a:endParaRPr kumimoji="1" lang="ja-JP" altLang="en-US"/>
          </a:p>
        </p:txBody>
      </p:sp>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EE77FC61-7FAC-0272-0B43-DACEFFA60ACF}"/>
                  </a:ext>
                </a:extLst>
              </p:cNvPr>
              <p:cNvSpPr txBox="1"/>
              <p:nvPr/>
            </p:nvSpPr>
            <p:spPr>
              <a:xfrm>
                <a:off x="557504" y="2112787"/>
                <a:ext cx="106157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sk</m:t>
                          </m:r>
                        </m:e>
                        <m:sub>
                          <m:r>
                            <a:rPr kumimoji="1" lang="en-US" altLang="ja-JP" sz="2400" b="0" i="1" smtClean="0">
                              <a:latin typeface="Cambria Math" panose="02040503050406030204" pitchFamily="18" charset="0"/>
                            </a:rPr>
                            <m:t>1</m:t>
                          </m:r>
                        </m:sub>
                      </m:sSub>
                    </m:oMath>
                  </m:oMathPara>
                </a14:m>
                <a:endParaRPr kumimoji="1" lang="ja-JP" altLang="en-US" sz="2400"/>
              </a:p>
            </p:txBody>
          </p:sp>
        </mc:Choice>
        <mc:Fallback xmlns="">
          <p:sp>
            <p:nvSpPr>
              <p:cNvPr id="12" name="テキスト ボックス 11">
                <a:extLst>
                  <a:ext uri="{FF2B5EF4-FFF2-40B4-BE49-F238E27FC236}">
                    <a16:creationId xmlns:a16="http://schemas.microsoft.com/office/drawing/2014/main" id="{EE77FC61-7FAC-0272-0B43-DACEFFA60ACF}"/>
                  </a:ext>
                </a:extLst>
              </p:cNvPr>
              <p:cNvSpPr txBox="1">
                <a:spLocks noRot="1" noChangeAspect="1" noMove="1" noResize="1" noEditPoints="1" noAdjustHandles="1" noChangeArrowheads="1" noChangeShapeType="1" noTextEdit="1"/>
              </p:cNvSpPr>
              <p:nvPr/>
            </p:nvSpPr>
            <p:spPr>
              <a:xfrm>
                <a:off x="557504" y="2112787"/>
                <a:ext cx="1061571" cy="461665"/>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54DB45CB-C8A5-C232-1D75-3CD367B1A9B5}"/>
                  </a:ext>
                </a:extLst>
              </p:cNvPr>
              <p:cNvSpPr txBox="1"/>
              <p:nvPr/>
            </p:nvSpPr>
            <p:spPr>
              <a:xfrm>
                <a:off x="557504" y="3083131"/>
                <a:ext cx="106157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sk</m:t>
                          </m:r>
                        </m:e>
                        <m:sub>
                          <m:r>
                            <a:rPr kumimoji="1" lang="en-US" altLang="ja-JP" sz="2400" b="0" i="1" smtClean="0">
                              <a:latin typeface="Cambria Math" panose="02040503050406030204" pitchFamily="18" charset="0"/>
                            </a:rPr>
                            <m:t>2</m:t>
                          </m:r>
                        </m:sub>
                      </m:sSub>
                    </m:oMath>
                  </m:oMathPara>
                </a14:m>
                <a:endParaRPr kumimoji="1" lang="ja-JP" altLang="en-US" sz="2400"/>
              </a:p>
            </p:txBody>
          </p:sp>
        </mc:Choice>
        <mc:Fallback xmlns="">
          <p:sp>
            <p:nvSpPr>
              <p:cNvPr id="13" name="テキスト ボックス 12">
                <a:extLst>
                  <a:ext uri="{FF2B5EF4-FFF2-40B4-BE49-F238E27FC236}">
                    <a16:creationId xmlns:a16="http://schemas.microsoft.com/office/drawing/2014/main" id="{54DB45CB-C8A5-C232-1D75-3CD367B1A9B5}"/>
                  </a:ext>
                </a:extLst>
              </p:cNvPr>
              <p:cNvSpPr txBox="1">
                <a:spLocks noRot="1" noChangeAspect="1" noMove="1" noResize="1" noEditPoints="1" noAdjustHandles="1" noChangeArrowheads="1" noChangeShapeType="1" noTextEdit="1"/>
              </p:cNvSpPr>
              <p:nvPr/>
            </p:nvSpPr>
            <p:spPr>
              <a:xfrm>
                <a:off x="557504" y="3083131"/>
                <a:ext cx="1061571" cy="461665"/>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D61139EE-B43A-0F08-E41F-6AB78961A4D7}"/>
                  </a:ext>
                </a:extLst>
              </p:cNvPr>
              <p:cNvSpPr txBox="1"/>
              <p:nvPr/>
            </p:nvSpPr>
            <p:spPr>
              <a:xfrm>
                <a:off x="2959035" y="2489662"/>
                <a:ext cx="106503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sz="2400" b="0" i="0" smtClean="0">
                          <a:latin typeface="Cambria Math" panose="02040503050406030204" pitchFamily="18" charset="0"/>
                        </a:rPr>
                        <m:t>pk</m:t>
                      </m:r>
                    </m:oMath>
                  </m:oMathPara>
                </a14:m>
                <a:endParaRPr kumimoji="1" lang="ja-JP" altLang="en-US" sz="2400"/>
              </a:p>
            </p:txBody>
          </p:sp>
        </mc:Choice>
        <mc:Fallback xmlns="">
          <p:sp>
            <p:nvSpPr>
              <p:cNvPr id="14" name="テキスト ボックス 13">
                <a:extLst>
                  <a:ext uri="{FF2B5EF4-FFF2-40B4-BE49-F238E27FC236}">
                    <a16:creationId xmlns:a16="http://schemas.microsoft.com/office/drawing/2014/main" id="{D61139EE-B43A-0F08-E41F-6AB78961A4D7}"/>
                  </a:ext>
                </a:extLst>
              </p:cNvPr>
              <p:cNvSpPr txBox="1">
                <a:spLocks noRot="1" noChangeAspect="1" noMove="1" noResize="1" noEditPoints="1" noAdjustHandles="1" noChangeArrowheads="1" noChangeShapeType="1" noTextEdit="1"/>
              </p:cNvSpPr>
              <p:nvPr/>
            </p:nvSpPr>
            <p:spPr>
              <a:xfrm>
                <a:off x="2959035" y="2489662"/>
                <a:ext cx="1065038" cy="461665"/>
              </a:xfrm>
              <a:prstGeom prst="rect">
                <a:avLst/>
              </a:prstGeom>
              <a:blipFill>
                <a:blip r:embed="rId5"/>
                <a:stretch>
                  <a:fillRect b="-15789"/>
                </a:stretch>
              </a:blipFill>
            </p:spPr>
            <p:txBody>
              <a:bodyPr/>
              <a:lstStyle/>
              <a:p>
                <a:r>
                  <a:rPr lang="ja-JP" altLang="en-US">
                    <a:noFill/>
                  </a:rPr>
                  <a:t> </a:t>
                </a:r>
              </a:p>
            </p:txBody>
          </p:sp>
        </mc:Fallback>
      </mc:AlternateContent>
      <p:cxnSp>
        <p:nvCxnSpPr>
          <p:cNvPr id="18" name="直線矢印コネクタ 17">
            <a:extLst>
              <a:ext uri="{FF2B5EF4-FFF2-40B4-BE49-F238E27FC236}">
                <a16:creationId xmlns:a16="http://schemas.microsoft.com/office/drawing/2014/main" id="{1F4E0D0E-1DDE-462B-420B-DB03E8A27B13}"/>
              </a:ext>
            </a:extLst>
          </p:cNvPr>
          <p:cNvCxnSpPr>
            <a:cxnSpLocks/>
          </p:cNvCxnSpPr>
          <p:nvPr/>
        </p:nvCxnSpPr>
        <p:spPr>
          <a:xfrm>
            <a:off x="1521463" y="2403037"/>
            <a:ext cx="1535185" cy="2850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16EA91F8-C61A-578E-49D6-94F17839EFCD}"/>
              </a:ext>
            </a:extLst>
          </p:cNvPr>
          <p:cNvCxnSpPr>
            <a:cxnSpLocks/>
          </p:cNvCxnSpPr>
          <p:nvPr/>
        </p:nvCxnSpPr>
        <p:spPr>
          <a:xfrm flipV="1">
            <a:off x="1521463" y="2874462"/>
            <a:ext cx="1535185" cy="4003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D19150-1E26-7B23-D524-9E236EC962D3}"/>
              </a:ext>
            </a:extLst>
          </p:cNvPr>
          <p:cNvSpPr txBox="1"/>
          <p:nvPr/>
        </p:nvSpPr>
        <p:spPr>
          <a:xfrm>
            <a:off x="3238150" y="3206471"/>
            <a:ext cx="6174297" cy="369332"/>
          </a:xfrm>
          <a:prstGeom prst="rect">
            <a:avLst/>
          </a:prstGeom>
          <a:noFill/>
        </p:spPr>
        <p:txBody>
          <a:bodyPr wrap="square" rtlCol="0">
            <a:spAutoFit/>
          </a:bodyPr>
          <a:lstStyle/>
          <a:p>
            <a:r>
              <a:rPr kumimoji="1" lang="ja-JP" altLang="en-US" b="1"/>
              <a:t>異なる秘密鍵で同じ公開鍵を用いて署名できる</a:t>
            </a:r>
            <a:r>
              <a:rPr kumimoji="1" lang="en-US" altLang="ja-JP" b="1"/>
              <a:t>.</a:t>
            </a:r>
          </a:p>
        </p:txBody>
      </p:sp>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4C6422BD-3403-483E-078A-D085C87D18F6}"/>
                  </a:ext>
                </a:extLst>
              </p:cNvPr>
              <p:cNvSpPr txBox="1"/>
              <p:nvPr/>
            </p:nvSpPr>
            <p:spPr>
              <a:xfrm>
                <a:off x="180000" y="5663946"/>
                <a:ext cx="10851523" cy="646331"/>
              </a:xfrm>
              <a:prstGeom prst="rect">
                <a:avLst/>
              </a:prstGeom>
              <a:noFill/>
            </p:spPr>
            <p:txBody>
              <a:bodyPr wrap="square" rtlCol="0">
                <a:spAutoFit/>
              </a:bodyPr>
              <a:lstStyle/>
              <a:p>
                <a14:m>
                  <m:oMath xmlns:m="http://schemas.openxmlformats.org/officeDocument/2006/math">
                    <m:sSub>
                      <m:sSubPr>
                        <m:ctrlPr>
                          <a:rPr kumimoji="1" lang="en-US" altLang="ja-JP" i="1" smtClean="0">
                            <a:latin typeface="Cambria Math" panose="02040503050406030204" pitchFamily="18" charset="0"/>
                          </a:rPr>
                        </m:ctrlPr>
                      </m:sSubPr>
                      <m:e>
                        <m:r>
                          <m:rPr>
                            <m:sty m:val="p"/>
                          </m:rPr>
                          <a:rPr kumimoji="1" lang="en-US" altLang="ja-JP" b="0" i="0" smtClean="0">
                            <a:latin typeface="Cambria Math" panose="02040503050406030204" pitchFamily="18" charset="0"/>
                          </a:rPr>
                          <m:t>sk</m:t>
                        </m:r>
                      </m:e>
                      <m:sub>
                        <m:r>
                          <a:rPr kumimoji="1" lang="en-US" altLang="ja-JP" b="0" i="1" smtClean="0">
                            <a:latin typeface="Cambria Math" panose="02040503050406030204" pitchFamily="18" charset="0"/>
                          </a:rPr>
                          <m:t>1</m:t>
                        </m:r>
                      </m:sub>
                    </m:sSub>
                  </m:oMath>
                </a14:m>
                <a:r>
                  <a:rPr kumimoji="1" lang="ja-JP" altLang="en-US"/>
                  <a:t> と </a:t>
                </a:r>
                <a14:m>
                  <m:oMath xmlns:m="http://schemas.openxmlformats.org/officeDocument/2006/math">
                    <m:r>
                      <m:rPr>
                        <m:sty m:val="p"/>
                      </m:rPr>
                      <a:rPr kumimoji="1" lang="en-US" altLang="ja-JP" b="0" i="0" smtClean="0">
                        <a:latin typeface="Cambria Math" panose="02040503050406030204" pitchFamily="18" charset="0"/>
                      </a:rPr>
                      <m:t>pk</m:t>
                    </m:r>
                  </m:oMath>
                </a14:m>
                <a:r>
                  <a:rPr kumimoji="1" lang="ja-JP" altLang="en-US"/>
                  <a:t> から </a:t>
                </a:r>
                <a14:m>
                  <m:oMath xmlns:m="http://schemas.openxmlformats.org/officeDocument/2006/math">
                    <m:sSub>
                      <m:sSubPr>
                        <m:ctrlPr>
                          <a:rPr kumimoji="1" lang="en-US" altLang="ja-JP" i="1" smtClean="0">
                            <a:latin typeface="Cambria Math" panose="02040503050406030204" pitchFamily="18" charset="0"/>
                          </a:rPr>
                        </m:ctrlPr>
                      </m:sSubPr>
                      <m:e>
                        <m:r>
                          <m:rPr>
                            <m:sty m:val="p"/>
                          </m:rPr>
                          <a:rPr kumimoji="1" lang="en-US" altLang="ja-JP" b="0" i="0" smtClean="0">
                            <a:latin typeface="Cambria Math" panose="02040503050406030204" pitchFamily="18" charset="0"/>
                          </a:rPr>
                          <m:t>sk</m:t>
                        </m:r>
                      </m:e>
                      <m:sub>
                        <m:r>
                          <a:rPr kumimoji="1" lang="en-US" altLang="ja-JP" b="0" i="1" smtClean="0">
                            <a:latin typeface="Cambria Math" panose="02040503050406030204" pitchFamily="18" charset="0"/>
                          </a:rPr>
                          <m:t>2</m:t>
                        </m:r>
                      </m:sub>
                    </m:sSub>
                  </m:oMath>
                </a14:m>
                <a:r>
                  <a:rPr kumimoji="1" lang="ja-JP" altLang="en-US"/>
                  <a:t> は計算困難だと考えられる</a:t>
                </a:r>
                <a:r>
                  <a:rPr kumimoji="1" lang="en-US" altLang="ja-JP"/>
                  <a:t>.</a:t>
                </a:r>
              </a:p>
              <a:p>
                <a:r>
                  <a:rPr lang="en-US" altLang="ja-JP"/>
                  <a:t>(</a:t>
                </a:r>
                <a:r>
                  <a:rPr lang="ja-JP" altLang="en-US"/>
                  <a:t>証明があるわけではないが</a:t>
                </a:r>
                <a:r>
                  <a:rPr lang="en-US" altLang="ja-JP"/>
                  <a:t>, </a:t>
                </a:r>
                <a:r>
                  <a:rPr lang="ja-JP" altLang="en-US"/>
                  <a:t>すぐに思いつくいくつかの攻撃には耐性がある</a:t>
                </a:r>
                <a:r>
                  <a:rPr lang="en-US" altLang="ja-JP"/>
                  <a:t>. )</a:t>
                </a:r>
                <a:endParaRPr kumimoji="1" lang="ja-JP" altLang="en-US"/>
              </a:p>
            </p:txBody>
          </p:sp>
        </mc:Choice>
        <mc:Fallback xmlns="">
          <p:sp>
            <p:nvSpPr>
              <p:cNvPr id="22" name="テキスト ボックス 21">
                <a:extLst>
                  <a:ext uri="{FF2B5EF4-FFF2-40B4-BE49-F238E27FC236}">
                    <a16:creationId xmlns:a16="http://schemas.microsoft.com/office/drawing/2014/main" id="{4C6422BD-3403-483E-078A-D085C87D18F6}"/>
                  </a:ext>
                </a:extLst>
              </p:cNvPr>
              <p:cNvSpPr txBox="1">
                <a:spLocks noRot="1" noChangeAspect="1" noMove="1" noResize="1" noEditPoints="1" noAdjustHandles="1" noChangeArrowheads="1" noChangeShapeType="1" noTextEdit="1"/>
              </p:cNvSpPr>
              <p:nvPr/>
            </p:nvSpPr>
            <p:spPr>
              <a:xfrm>
                <a:off x="180000" y="5663946"/>
                <a:ext cx="10851523" cy="646331"/>
              </a:xfrm>
              <a:prstGeom prst="rect">
                <a:avLst/>
              </a:prstGeom>
              <a:blipFill>
                <a:blip r:embed="rId6"/>
                <a:stretch>
                  <a:fillRect l="-506" t="-3774" b="-14151"/>
                </a:stretch>
              </a:blipFill>
            </p:spPr>
            <p:txBody>
              <a:bodyPr/>
              <a:lstStyle/>
              <a:p>
                <a:r>
                  <a:rPr lang="ja-JP" altLang="en-US">
                    <a:noFill/>
                  </a:rPr>
                  <a:t> </a:t>
                </a:r>
              </a:p>
            </p:txBody>
          </p:sp>
        </mc:Fallback>
      </mc:AlternateContent>
      <p:sp>
        <p:nvSpPr>
          <p:cNvPr id="23" name="テキスト ボックス 22">
            <a:extLst>
              <a:ext uri="{FF2B5EF4-FFF2-40B4-BE49-F238E27FC236}">
                <a16:creationId xmlns:a16="http://schemas.microsoft.com/office/drawing/2014/main" id="{F7AFD544-0185-2ACB-CC12-96FF4B0DD929}"/>
              </a:ext>
            </a:extLst>
          </p:cNvPr>
          <p:cNvSpPr txBox="1"/>
          <p:nvPr/>
        </p:nvSpPr>
        <p:spPr>
          <a:xfrm>
            <a:off x="180000" y="5077475"/>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kumimoji="1" lang="ja-JP" altLang="en-US" sz="2000" b="1"/>
              <a:t>兄弟を計算する攻撃</a:t>
            </a:r>
            <a:endParaRPr kumimoji="1" lang="ja-JP" altLang="en-US" sz="2000" b="1" dirty="0"/>
          </a:p>
        </p:txBody>
      </p:sp>
      <p:sp>
        <p:nvSpPr>
          <p:cNvPr id="2" name="テキスト ボックス 1">
            <a:extLst>
              <a:ext uri="{FF2B5EF4-FFF2-40B4-BE49-F238E27FC236}">
                <a16:creationId xmlns:a16="http://schemas.microsoft.com/office/drawing/2014/main" id="{B13ACB58-C021-56DF-78B1-7A1D174FEDBB}"/>
              </a:ext>
            </a:extLst>
          </p:cNvPr>
          <p:cNvSpPr txBox="1"/>
          <p:nvPr/>
        </p:nvSpPr>
        <p:spPr>
          <a:xfrm>
            <a:off x="180000" y="1404672"/>
            <a:ext cx="5558070" cy="400110"/>
          </a:xfrm>
          <a:prstGeom prst="rect">
            <a:avLst/>
          </a:prstGeom>
          <a:noFill/>
        </p:spPr>
        <p:txBody>
          <a:bodyPr wrap="square" rtlCol="0">
            <a:spAutoFit/>
          </a:bodyPr>
          <a:lstStyle/>
          <a:p>
            <a:r>
              <a:rPr kumimoji="1" lang="ja-JP" altLang="en-US" sz="2000">
                <a:solidFill>
                  <a:srgbClr val="FF76A0"/>
                </a:solidFill>
              </a:rPr>
              <a:t>▍</a:t>
            </a:r>
            <a:r>
              <a:rPr lang="ja-JP" altLang="en-US" sz="2000" b="1"/>
              <a:t>マルチトラップドア</a:t>
            </a:r>
            <a:endParaRPr kumimoji="1" lang="ja-JP" altLang="en-US" sz="2000" b="1" dirty="0"/>
          </a:p>
        </p:txBody>
      </p:sp>
    </p:spTree>
    <p:extLst>
      <p:ext uri="{BB962C8B-B14F-4D97-AF65-F5344CB8AC3E}">
        <p14:creationId xmlns:p14="http://schemas.microsoft.com/office/powerpoint/2010/main" val="3092796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4FC79-5869-8ACC-8500-1D686B1980C5}"/>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623DDCB-799C-8606-EE2D-02EB85438F59}"/>
              </a:ext>
            </a:extLst>
          </p:cNvPr>
          <p:cNvSpPr txBox="1"/>
          <p:nvPr/>
        </p:nvSpPr>
        <p:spPr>
          <a:xfrm>
            <a:off x="180000" y="180000"/>
            <a:ext cx="5558070" cy="584775"/>
          </a:xfrm>
          <a:prstGeom prst="rect">
            <a:avLst/>
          </a:prstGeom>
          <a:noFill/>
        </p:spPr>
        <p:txBody>
          <a:bodyPr wrap="square" rtlCol="0">
            <a:spAutoFit/>
          </a:bodyPr>
          <a:lstStyle/>
          <a:p>
            <a:r>
              <a:rPr lang="en-US" altLang="ja-JP" sz="3200" b="1">
                <a:solidFill>
                  <a:schemeClr val="accent4">
                    <a:lumMod val="75000"/>
                  </a:schemeClr>
                </a:solidFill>
              </a:rPr>
              <a:t>2.</a:t>
            </a:r>
            <a:r>
              <a:rPr lang="ja-JP" altLang="en-US" sz="3200" b="1">
                <a:solidFill>
                  <a:schemeClr val="accent4">
                    <a:lumMod val="75000"/>
                  </a:schemeClr>
                </a:solidFill>
              </a:rPr>
              <a:t> </a:t>
            </a:r>
            <a:r>
              <a:rPr lang="en-US" altLang="ja-JP" sz="3200" b="1">
                <a:solidFill>
                  <a:schemeClr val="accent4">
                    <a:lumMod val="75000"/>
                  </a:schemeClr>
                </a:solidFill>
              </a:rPr>
              <a:t>MZ-UOV</a:t>
            </a:r>
            <a:endParaRPr lang="en-US" altLang="ja-JP" sz="3200" b="1" dirty="0">
              <a:solidFill>
                <a:schemeClr val="accent4">
                  <a:lumMod val="75000"/>
                </a:schemeClr>
              </a:solidFill>
            </a:endParaRPr>
          </a:p>
        </p:txBody>
      </p:sp>
      <p:sp>
        <p:nvSpPr>
          <p:cNvPr id="5" name="テキスト ボックス 4">
            <a:extLst>
              <a:ext uri="{FF2B5EF4-FFF2-40B4-BE49-F238E27FC236}">
                <a16:creationId xmlns:a16="http://schemas.microsoft.com/office/drawing/2014/main" id="{17DA43EE-195A-4C3D-3D11-EA0811585A43}"/>
              </a:ext>
            </a:extLst>
          </p:cNvPr>
          <p:cNvSpPr txBox="1"/>
          <p:nvPr/>
        </p:nvSpPr>
        <p:spPr>
          <a:xfrm>
            <a:off x="180000" y="764775"/>
            <a:ext cx="7227479" cy="461665"/>
          </a:xfrm>
          <a:prstGeom prst="rect">
            <a:avLst/>
          </a:prstGeom>
          <a:noFill/>
        </p:spPr>
        <p:txBody>
          <a:bodyPr wrap="square" rtlCol="0">
            <a:spAutoFit/>
          </a:bodyPr>
          <a:lstStyle/>
          <a:p>
            <a:r>
              <a:rPr kumimoji="1" lang="en-US" altLang="ja-JP" sz="2400" b="1">
                <a:solidFill>
                  <a:schemeClr val="accent4">
                    <a:lumMod val="75000"/>
                  </a:schemeClr>
                </a:solidFill>
              </a:rPr>
              <a:t>2-3. </a:t>
            </a:r>
            <a:r>
              <a:rPr kumimoji="1" lang="ja-JP" altLang="en-US" sz="2400" b="1">
                <a:solidFill>
                  <a:schemeClr val="accent4">
                    <a:lumMod val="75000"/>
                  </a:schemeClr>
                </a:solidFill>
              </a:rPr>
              <a:t>更新鍵</a:t>
            </a:r>
            <a:endParaRPr kumimoji="1" lang="ja-JP" altLang="en-US" sz="2400" b="1" dirty="0">
              <a:solidFill>
                <a:schemeClr val="accent4">
                  <a:lumMod val="75000"/>
                </a:schemeClr>
              </a:solidFill>
            </a:endParaRPr>
          </a:p>
        </p:txBody>
      </p:sp>
      <p:sp>
        <p:nvSpPr>
          <p:cNvPr id="3" name="テキスト ボックス 2">
            <a:extLst>
              <a:ext uri="{FF2B5EF4-FFF2-40B4-BE49-F238E27FC236}">
                <a16:creationId xmlns:a16="http://schemas.microsoft.com/office/drawing/2014/main" id="{838B7D4B-A341-CFEE-4215-FA7D54A688CF}"/>
              </a:ext>
            </a:extLst>
          </p:cNvPr>
          <p:cNvSpPr txBox="1"/>
          <p:nvPr/>
        </p:nvSpPr>
        <p:spPr>
          <a:xfrm>
            <a:off x="180000" y="1411106"/>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動的メンバーシップ</a:t>
            </a:r>
            <a:endParaRPr kumimoji="1" lang="ja-JP" altLang="en-US" sz="2000" b="1" dirty="0"/>
          </a:p>
        </p:txBody>
      </p:sp>
      <p:sp>
        <p:nvSpPr>
          <p:cNvPr id="7" name="テキスト ボックス 6">
            <a:extLst>
              <a:ext uri="{FF2B5EF4-FFF2-40B4-BE49-F238E27FC236}">
                <a16:creationId xmlns:a16="http://schemas.microsoft.com/office/drawing/2014/main" id="{2D9F518C-DFB7-31B1-6603-BC811AEDD894}"/>
              </a:ext>
            </a:extLst>
          </p:cNvPr>
          <p:cNvSpPr txBox="1"/>
          <p:nvPr/>
        </p:nvSpPr>
        <p:spPr>
          <a:xfrm>
            <a:off x="180000" y="1863771"/>
            <a:ext cx="11338084" cy="923330"/>
          </a:xfrm>
          <a:prstGeom prst="rect">
            <a:avLst/>
          </a:prstGeom>
          <a:noFill/>
        </p:spPr>
        <p:txBody>
          <a:bodyPr wrap="square" rtlCol="0">
            <a:spAutoFit/>
          </a:bodyPr>
          <a:lstStyle/>
          <a:p>
            <a:r>
              <a:rPr lang="ja-JP" altLang="en-US"/>
              <a:t>「異なる人が同一の公開鍵で署名したいなら</a:t>
            </a:r>
            <a:r>
              <a:rPr lang="en-US" altLang="ja-JP"/>
              <a:t>, </a:t>
            </a:r>
            <a:r>
              <a:rPr lang="ja-JP" altLang="en-US"/>
              <a:t>普通の</a:t>
            </a:r>
            <a:r>
              <a:rPr lang="en-US" altLang="ja-JP"/>
              <a:t>UOV</a:t>
            </a:r>
            <a:r>
              <a:rPr lang="ja-JP" altLang="en-US"/>
              <a:t>の秘密鍵をコピーして配布すればよい」</a:t>
            </a:r>
            <a:endParaRPr lang="en-US" altLang="ja-JP"/>
          </a:p>
          <a:p>
            <a:r>
              <a:rPr lang="ja-JP" altLang="en-US"/>
              <a:t>というアイデアとの差別化を図るため</a:t>
            </a:r>
            <a:r>
              <a:rPr lang="en-US" altLang="ja-JP"/>
              <a:t>, </a:t>
            </a:r>
            <a:r>
              <a:rPr lang="ja-JP" altLang="en-US"/>
              <a:t>動的メンバーシップというアイデアを導入する</a:t>
            </a:r>
            <a:r>
              <a:rPr lang="en-US" altLang="ja-JP"/>
              <a:t>.</a:t>
            </a:r>
          </a:p>
          <a:p>
            <a:r>
              <a:rPr lang="ja-JP" altLang="en-US"/>
              <a:t>動的メンバーシップは</a:t>
            </a:r>
            <a:r>
              <a:rPr lang="en-US" altLang="ja-JP"/>
              <a:t>, </a:t>
            </a:r>
            <a:r>
              <a:rPr lang="ja-JP" altLang="en-US"/>
              <a:t>更新鍵を用いて公開鍵に埋め込まれた部分空間</a:t>
            </a:r>
            <a:r>
              <a:rPr lang="en-US" altLang="ja-JP"/>
              <a:t>(</a:t>
            </a:r>
            <a:r>
              <a:rPr lang="ja-JP" altLang="en-US"/>
              <a:t>つまり秘密鍵</a:t>
            </a:r>
            <a:r>
              <a:rPr lang="en-US" altLang="ja-JP"/>
              <a:t>)</a:t>
            </a:r>
            <a:r>
              <a:rPr lang="ja-JP" altLang="en-US"/>
              <a:t>を後天的に更新する</a:t>
            </a:r>
            <a:r>
              <a:rPr lang="en-US" altLang="ja-JP"/>
              <a:t>.</a:t>
            </a:r>
          </a:p>
        </p:txBody>
      </p:sp>
      <p:sp>
        <p:nvSpPr>
          <p:cNvPr id="2" name="テキスト ボックス 1">
            <a:extLst>
              <a:ext uri="{FF2B5EF4-FFF2-40B4-BE49-F238E27FC236}">
                <a16:creationId xmlns:a16="http://schemas.microsoft.com/office/drawing/2014/main" id="{94F6A598-476B-A4C1-9015-580250097F15}"/>
              </a:ext>
            </a:extLst>
          </p:cNvPr>
          <p:cNvSpPr txBox="1"/>
          <p:nvPr/>
        </p:nvSpPr>
        <p:spPr>
          <a:xfrm>
            <a:off x="180000" y="2983276"/>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追加鍵</a:t>
            </a:r>
            <a:endParaRPr kumimoji="1" lang="ja-JP" altLang="en-US" sz="2000" b="1" dirty="0"/>
          </a:p>
        </p:txBody>
      </p:sp>
      <p:sp>
        <p:nvSpPr>
          <p:cNvPr id="6" name="テキスト ボックス 5">
            <a:extLst>
              <a:ext uri="{FF2B5EF4-FFF2-40B4-BE49-F238E27FC236}">
                <a16:creationId xmlns:a16="http://schemas.microsoft.com/office/drawing/2014/main" id="{242DF4D2-2F0B-9582-0BA5-8E62AD6A8229}"/>
              </a:ext>
            </a:extLst>
          </p:cNvPr>
          <p:cNvSpPr txBox="1"/>
          <p:nvPr/>
        </p:nvSpPr>
        <p:spPr>
          <a:xfrm>
            <a:off x="180000" y="3474616"/>
            <a:ext cx="5558070" cy="1200329"/>
          </a:xfrm>
          <a:prstGeom prst="rect">
            <a:avLst/>
          </a:prstGeom>
          <a:noFill/>
        </p:spPr>
        <p:txBody>
          <a:bodyPr wrap="square" rtlCol="0">
            <a:spAutoFit/>
          </a:bodyPr>
          <a:lstStyle/>
          <a:p>
            <a:r>
              <a:rPr lang="en-US" altLang="ja-JP">
                <a:latin typeface="Consolas" panose="020B0609020204030204" pitchFamily="49" charset="0"/>
              </a:rPr>
              <a:t>MZUOV.</a:t>
            </a:r>
            <a:r>
              <a:rPr kumimoji="1" lang="en-US" altLang="ja-JP">
                <a:latin typeface="Consolas" panose="020B0609020204030204" pitchFamily="49" charset="0"/>
              </a:rPr>
              <a:t>include(pk, ik, sk)</a:t>
            </a:r>
            <a:r>
              <a:rPr lang="en-US" altLang="ja-JP">
                <a:latin typeface="Consolas" panose="020B0609020204030204" pitchFamily="49" charset="0"/>
              </a:rPr>
              <a:t>{</a:t>
            </a:r>
          </a:p>
          <a:p>
            <a:r>
              <a:rPr lang="en-US" altLang="ja-JP">
                <a:latin typeface="Consolas" panose="020B0609020204030204" pitchFamily="49" charset="0"/>
              </a:rPr>
              <a:t>...</a:t>
            </a:r>
          </a:p>
          <a:p>
            <a:r>
              <a:rPr lang="en-US" altLang="ja-JP">
                <a:latin typeface="Consolas" panose="020B0609020204030204" pitchFamily="49" charset="0"/>
              </a:rPr>
              <a:t>return new_pk</a:t>
            </a:r>
            <a:br>
              <a:rPr lang="en-US" altLang="ja-JP">
                <a:latin typeface="Consolas" panose="020B0609020204030204" pitchFamily="49" charset="0"/>
              </a:rPr>
            </a:br>
            <a:r>
              <a:rPr lang="en-US" altLang="ja-JP">
                <a:latin typeface="Consolas" panose="020B0609020204030204" pitchFamily="49" charset="0"/>
              </a:rPr>
              <a:t>}</a:t>
            </a:r>
            <a:endParaRPr kumimoji="1" lang="en-US" altLang="ja-JP">
              <a:latin typeface="Consolas" panose="020B0609020204030204" pitchFamily="49" charset="0"/>
            </a:endParaRPr>
          </a:p>
        </p:txBody>
      </p:sp>
      <p:sp>
        <p:nvSpPr>
          <p:cNvPr id="8" name="テキスト ボックス 7">
            <a:extLst>
              <a:ext uri="{FF2B5EF4-FFF2-40B4-BE49-F238E27FC236}">
                <a16:creationId xmlns:a16="http://schemas.microsoft.com/office/drawing/2014/main" id="{675D968B-DE30-67C3-76EE-77D4E424A714}"/>
              </a:ext>
            </a:extLst>
          </p:cNvPr>
          <p:cNvSpPr txBox="1"/>
          <p:nvPr/>
        </p:nvSpPr>
        <p:spPr>
          <a:xfrm>
            <a:off x="180000" y="4846731"/>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除外鍵</a:t>
            </a:r>
            <a:endParaRPr kumimoji="1" lang="ja-JP" altLang="en-US" sz="2000" b="1" dirty="0"/>
          </a:p>
        </p:txBody>
      </p:sp>
      <p:sp>
        <p:nvSpPr>
          <p:cNvPr id="9" name="テキスト ボックス 8">
            <a:extLst>
              <a:ext uri="{FF2B5EF4-FFF2-40B4-BE49-F238E27FC236}">
                <a16:creationId xmlns:a16="http://schemas.microsoft.com/office/drawing/2014/main" id="{CE3DCDF8-5D03-FA04-DDDA-FEF690D2F931}"/>
              </a:ext>
            </a:extLst>
          </p:cNvPr>
          <p:cNvSpPr txBox="1"/>
          <p:nvPr/>
        </p:nvSpPr>
        <p:spPr>
          <a:xfrm>
            <a:off x="180000" y="5299396"/>
            <a:ext cx="5558070" cy="1200329"/>
          </a:xfrm>
          <a:prstGeom prst="rect">
            <a:avLst/>
          </a:prstGeom>
          <a:noFill/>
        </p:spPr>
        <p:txBody>
          <a:bodyPr wrap="square" rtlCol="0">
            <a:spAutoFit/>
          </a:bodyPr>
          <a:lstStyle/>
          <a:p>
            <a:r>
              <a:rPr lang="en-US" altLang="ja-JP">
                <a:latin typeface="Consolas" panose="020B0609020204030204" pitchFamily="49" charset="0"/>
              </a:rPr>
              <a:t>MZUOV.ex</a:t>
            </a:r>
            <a:r>
              <a:rPr kumimoji="1" lang="en-US" altLang="ja-JP">
                <a:latin typeface="Consolas" panose="020B0609020204030204" pitchFamily="49" charset="0"/>
              </a:rPr>
              <a:t>clude(pk, ek, sk)</a:t>
            </a:r>
            <a:r>
              <a:rPr lang="en-US" altLang="ja-JP">
                <a:latin typeface="Consolas" panose="020B0609020204030204" pitchFamily="49" charset="0"/>
              </a:rPr>
              <a:t>{</a:t>
            </a:r>
          </a:p>
          <a:p>
            <a:r>
              <a:rPr lang="en-US" altLang="ja-JP">
                <a:latin typeface="Consolas" panose="020B0609020204030204" pitchFamily="49" charset="0"/>
              </a:rPr>
              <a:t>...</a:t>
            </a:r>
          </a:p>
          <a:p>
            <a:r>
              <a:rPr lang="en-US" altLang="ja-JP">
                <a:latin typeface="Consolas" panose="020B0609020204030204" pitchFamily="49" charset="0"/>
              </a:rPr>
              <a:t>return new_pk</a:t>
            </a:r>
            <a:br>
              <a:rPr lang="en-US" altLang="ja-JP">
                <a:latin typeface="Consolas" panose="020B0609020204030204" pitchFamily="49" charset="0"/>
              </a:rPr>
            </a:br>
            <a:r>
              <a:rPr lang="en-US" altLang="ja-JP">
                <a:latin typeface="Consolas" panose="020B0609020204030204" pitchFamily="49" charset="0"/>
              </a:rPr>
              <a:t>}</a:t>
            </a:r>
            <a:endParaRPr kumimoji="1" lang="en-US" altLang="ja-JP">
              <a:latin typeface="Consolas" panose="020B0609020204030204" pitchFamily="49" charset="0"/>
            </a:endParaRPr>
          </a:p>
        </p:txBody>
      </p:sp>
      <p:sp>
        <p:nvSpPr>
          <p:cNvPr id="10" name="テキスト ボックス 9">
            <a:extLst>
              <a:ext uri="{FF2B5EF4-FFF2-40B4-BE49-F238E27FC236}">
                <a16:creationId xmlns:a16="http://schemas.microsoft.com/office/drawing/2014/main" id="{5208B1BC-6D74-1626-A663-B4CBC33B41BA}"/>
              </a:ext>
            </a:extLst>
          </p:cNvPr>
          <p:cNvSpPr txBox="1"/>
          <p:nvPr/>
        </p:nvSpPr>
        <p:spPr>
          <a:xfrm>
            <a:off x="2044118" y="4046062"/>
            <a:ext cx="2980888" cy="369332"/>
          </a:xfrm>
          <a:prstGeom prst="rect">
            <a:avLst/>
          </a:prstGeom>
          <a:noFill/>
        </p:spPr>
        <p:txBody>
          <a:bodyPr wrap="square" rtlCol="0">
            <a:spAutoFit/>
          </a:bodyPr>
          <a:lstStyle/>
          <a:p>
            <a:r>
              <a:rPr kumimoji="1" lang="ja-JP" altLang="en-US"/>
              <a:t>← </a:t>
            </a:r>
            <a:r>
              <a:rPr kumimoji="1" lang="en-US" altLang="ja-JP"/>
              <a:t>sk</a:t>
            </a:r>
            <a:r>
              <a:rPr kumimoji="1" lang="ja-JP" altLang="en-US"/>
              <a:t>を含む公開鍵</a:t>
            </a:r>
          </a:p>
        </p:txBody>
      </p:sp>
      <p:sp>
        <p:nvSpPr>
          <p:cNvPr id="11" name="テキスト ボックス 10">
            <a:extLst>
              <a:ext uri="{FF2B5EF4-FFF2-40B4-BE49-F238E27FC236}">
                <a16:creationId xmlns:a16="http://schemas.microsoft.com/office/drawing/2014/main" id="{43BB7DBA-A92A-B652-002B-DB46E8A7838A}"/>
              </a:ext>
            </a:extLst>
          </p:cNvPr>
          <p:cNvSpPr txBox="1"/>
          <p:nvPr/>
        </p:nvSpPr>
        <p:spPr>
          <a:xfrm>
            <a:off x="2044118" y="5893171"/>
            <a:ext cx="2980888" cy="369332"/>
          </a:xfrm>
          <a:prstGeom prst="rect">
            <a:avLst/>
          </a:prstGeom>
          <a:noFill/>
        </p:spPr>
        <p:txBody>
          <a:bodyPr wrap="square" rtlCol="0">
            <a:spAutoFit/>
          </a:bodyPr>
          <a:lstStyle/>
          <a:p>
            <a:r>
              <a:rPr kumimoji="1" lang="ja-JP" altLang="en-US"/>
              <a:t>← </a:t>
            </a:r>
            <a:r>
              <a:rPr kumimoji="1" lang="en-US" altLang="ja-JP"/>
              <a:t>sk</a:t>
            </a:r>
            <a:r>
              <a:rPr kumimoji="1" lang="ja-JP" altLang="en-US"/>
              <a:t>を含まない公開鍵</a:t>
            </a:r>
          </a:p>
        </p:txBody>
      </p:sp>
      <p:sp>
        <p:nvSpPr>
          <p:cNvPr id="12" name="テキスト ボックス 11">
            <a:extLst>
              <a:ext uri="{FF2B5EF4-FFF2-40B4-BE49-F238E27FC236}">
                <a16:creationId xmlns:a16="http://schemas.microsoft.com/office/drawing/2014/main" id="{CC13DD21-7708-121E-0217-CA59184A3709}"/>
              </a:ext>
            </a:extLst>
          </p:cNvPr>
          <p:cNvSpPr txBox="1"/>
          <p:nvPr/>
        </p:nvSpPr>
        <p:spPr>
          <a:xfrm>
            <a:off x="6754535" y="4608851"/>
            <a:ext cx="3816991" cy="646331"/>
          </a:xfrm>
          <a:prstGeom prst="rect">
            <a:avLst/>
          </a:prstGeom>
          <a:noFill/>
        </p:spPr>
        <p:txBody>
          <a:bodyPr wrap="square" rtlCol="0">
            <a:spAutoFit/>
          </a:bodyPr>
          <a:lstStyle/>
          <a:p>
            <a:r>
              <a:rPr kumimoji="1" lang="ja-JP" altLang="en-US"/>
              <a:t>追加鍵</a:t>
            </a:r>
            <a:r>
              <a:rPr kumimoji="1" lang="en-US" altLang="ja-JP"/>
              <a:t>(ik)</a:t>
            </a:r>
            <a:r>
              <a:rPr kumimoji="1" lang="ja-JP" altLang="en-US"/>
              <a:t>と除外鍵</a:t>
            </a:r>
            <a:r>
              <a:rPr kumimoji="1" lang="en-US" altLang="ja-JP"/>
              <a:t>(ek)</a:t>
            </a:r>
            <a:r>
              <a:rPr kumimoji="1" lang="ja-JP" altLang="en-US"/>
              <a:t>を合わせて更新鍵</a:t>
            </a:r>
            <a:r>
              <a:rPr kumimoji="1" lang="en-US" altLang="ja-JP"/>
              <a:t>(uk)</a:t>
            </a:r>
            <a:r>
              <a:rPr kumimoji="1" lang="ja-JP" altLang="en-US"/>
              <a:t>と呼ぶことにする</a:t>
            </a:r>
            <a:r>
              <a:rPr kumimoji="1" lang="en-US" altLang="ja-JP"/>
              <a:t>.</a:t>
            </a:r>
            <a:endParaRPr kumimoji="1" lang="ja-JP" altLang="en-US"/>
          </a:p>
        </p:txBody>
      </p:sp>
      <p:cxnSp>
        <p:nvCxnSpPr>
          <p:cNvPr id="15" name="直線コネクタ 14">
            <a:extLst>
              <a:ext uri="{FF2B5EF4-FFF2-40B4-BE49-F238E27FC236}">
                <a16:creationId xmlns:a16="http://schemas.microsoft.com/office/drawing/2014/main" id="{899D0C2B-66D4-8909-1BE6-8772C2852355}"/>
              </a:ext>
            </a:extLst>
          </p:cNvPr>
          <p:cNvCxnSpPr>
            <a:cxnSpLocks/>
          </p:cNvCxnSpPr>
          <p:nvPr/>
        </p:nvCxnSpPr>
        <p:spPr>
          <a:xfrm>
            <a:off x="6191075" y="3170794"/>
            <a:ext cx="0" cy="3351874"/>
          </a:xfrm>
          <a:prstGeom prst="line">
            <a:avLst/>
          </a:prstGeom>
        </p:spPr>
        <p:style>
          <a:lnRef idx="2">
            <a:schemeClr val="accent1"/>
          </a:lnRef>
          <a:fillRef idx="0">
            <a:schemeClr val="accent1"/>
          </a:fillRef>
          <a:effectRef idx="1">
            <a:schemeClr val="accent1"/>
          </a:effectRef>
          <a:fontRef idx="minor">
            <a:schemeClr val="tx1"/>
          </a:fontRef>
        </p:style>
      </p:cxnSp>
      <p:sp>
        <p:nvSpPr>
          <p:cNvPr id="17" name="二等辺三角形 16">
            <a:extLst>
              <a:ext uri="{FF2B5EF4-FFF2-40B4-BE49-F238E27FC236}">
                <a16:creationId xmlns:a16="http://schemas.microsoft.com/office/drawing/2014/main" id="{9BFDA804-3092-A19A-5E0F-4B1EB1B3B2AA}"/>
              </a:ext>
            </a:extLst>
          </p:cNvPr>
          <p:cNvSpPr/>
          <p:nvPr/>
        </p:nvSpPr>
        <p:spPr>
          <a:xfrm rot="5400000">
            <a:off x="6140740" y="4360169"/>
            <a:ext cx="251672" cy="13422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97B6BF18-0AEB-7A52-99C7-26FF5738CEAE}"/>
              </a:ext>
            </a:extLst>
          </p:cNvPr>
          <p:cNvSpPr txBox="1"/>
          <p:nvPr/>
        </p:nvSpPr>
        <p:spPr>
          <a:xfrm>
            <a:off x="6754535" y="4223680"/>
            <a:ext cx="4619537" cy="400110"/>
          </a:xfrm>
          <a:prstGeom prst="rect">
            <a:avLst/>
          </a:prstGeom>
          <a:noFill/>
        </p:spPr>
        <p:txBody>
          <a:bodyPr wrap="square" rtlCol="0">
            <a:spAutoFit/>
          </a:bodyPr>
          <a:lstStyle/>
          <a:p>
            <a:r>
              <a:rPr kumimoji="1" lang="ja-JP" altLang="en-US" sz="2000">
                <a:solidFill>
                  <a:srgbClr val="FF76A0"/>
                </a:solidFill>
              </a:rPr>
              <a:t>▍</a:t>
            </a:r>
            <a:r>
              <a:rPr lang="ja-JP" altLang="en-US" sz="2000" b="1"/>
              <a:t>更新鍵</a:t>
            </a:r>
            <a:endParaRPr kumimoji="1" lang="ja-JP" altLang="en-US" sz="2000" b="1" dirty="0"/>
          </a:p>
        </p:txBody>
      </p:sp>
    </p:spTree>
    <p:extLst>
      <p:ext uri="{BB962C8B-B14F-4D97-AF65-F5344CB8AC3E}">
        <p14:creationId xmlns:p14="http://schemas.microsoft.com/office/powerpoint/2010/main" val="1188561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0282776F-E29E-ABDD-B6B9-02D739AB0C22}"/>
              </a:ext>
            </a:extLst>
          </p:cNvPr>
          <p:cNvSpPr txBox="1"/>
          <p:nvPr/>
        </p:nvSpPr>
        <p:spPr>
          <a:xfrm>
            <a:off x="180000" y="180000"/>
            <a:ext cx="5558070" cy="584775"/>
          </a:xfrm>
          <a:prstGeom prst="rect">
            <a:avLst/>
          </a:prstGeom>
          <a:noFill/>
        </p:spPr>
        <p:txBody>
          <a:bodyPr wrap="square" rtlCol="0">
            <a:spAutoFit/>
          </a:bodyPr>
          <a:lstStyle/>
          <a:p>
            <a:r>
              <a:rPr lang="en-US" altLang="ja-JP" sz="3200" b="1">
                <a:solidFill>
                  <a:schemeClr val="accent4">
                    <a:lumMod val="75000"/>
                  </a:schemeClr>
                </a:solidFill>
              </a:rPr>
              <a:t>2.</a:t>
            </a:r>
            <a:r>
              <a:rPr lang="ja-JP" altLang="en-US" sz="3200" b="1">
                <a:solidFill>
                  <a:schemeClr val="accent4">
                    <a:lumMod val="75000"/>
                  </a:schemeClr>
                </a:solidFill>
              </a:rPr>
              <a:t> </a:t>
            </a:r>
            <a:r>
              <a:rPr lang="en-US" altLang="ja-JP" sz="3200" b="1">
                <a:solidFill>
                  <a:schemeClr val="accent4">
                    <a:lumMod val="75000"/>
                  </a:schemeClr>
                </a:solidFill>
              </a:rPr>
              <a:t>MZ-UOV</a:t>
            </a:r>
            <a:endParaRPr lang="en-US" altLang="ja-JP" sz="3200" b="1" dirty="0">
              <a:solidFill>
                <a:schemeClr val="accent4">
                  <a:lumMod val="75000"/>
                </a:schemeClr>
              </a:solidFill>
            </a:endParaRPr>
          </a:p>
        </p:txBody>
      </p:sp>
      <p:sp>
        <p:nvSpPr>
          <p:cNvPr id="5" name="テキスト ボックス 4">
            <a:extLst>
              <a:ext uri="{FF2B5EF4-FFF2-40B4-BE49-F238E27FC236}">
                <a16:creationId xmlns:a16="http://schemas.microsoft.com/office/drawing/2014/main" id="{76BADA24-768B-DE29-CFC1-00D62AB66417}"/>
              </a:ext>
            </a:extLst>
          </p:cNvPr>
          <p:cNvSpPr txBox="1"/>
          <p:nvPr/>
        </p:nvSpPr>
        <p:spPr>
          <a:xfrm>
            <a:off x="180000" y="764775"/>
            <a:ext cx="7227479" cy="461665"/>
          </a:xfrm>
          <a:prstGeom prst="rect">
            <a:avLst/>
          </a:prstGeom>
          <a:noFill/>
        </p:spPr>
        <p:txBody>
          <a:bodyPr wrap="square" rtlCol="0">
            <a:spAutoFit/>
          </a:bodyPr>
          <a:lstStyle/>
          <a:p>
            <a:r>
              <a:rPr lang="en-US" altLang="ja-JP" sz="2400" b="1">
                <a:solidFill>
                  <a:schemeClr val="accent4">
                    <a:lumMod val="75000"/>
                  </a:schemeClr>
                </a:solidFill>
              </a:rPr>
              <a:t>2</a:t>
            </a:r>
            <a:r>
              <a:rPr kumimoji="1" lang="en-US" altLang="ja-JP" sz="2400" b="1">
                <a:solidFill>
                  <a:schemeClr val="accent4">
                    <a:lumMod val="75000"/>
                  </a:schemeClr>
                </a:solidFill>
              </a:rPr>
              <a:t>-4. </a:t>
            </a:r>
            <a:r>
              <a:rPr kumimoji="1" lang="ja-JP" altLang="en-US" sz="2400" b="1">
                <a:solidFill>
                  <a:schemeClr val="accent4">
                    <a:lumMod val="75000"/>
                  </a:schemeClr>
                </a:solidFill>
              </a:rPr>
              <a:t>秘密鍵の追加</a:t>
            </a:r>
            <a:endParaRPr kumimoji="1" lang="ja-JP" altLang="en-US" sz="2400" b="1" dirty="0">
              <a:solidFill>
                <a:schemeClr val="accent4">
                  <a:lumMod val="75000"/>
                </a:schemeClr>
              </a:solidFill>
            </a:endParaRPr>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FE80F0F4-57FA-3D2A-932A-6F124B2C2BA1}"/>
                  </a:ext>
                </a:extLst>
              </p:cNvPr>
              <p:cNvSpPr txBox="1"/>
              <p:nvPr/>
            </p:nvSpPr>
            <p:spPr>
              <a:xfrm>
                <a:off x="180000" y="1451295"/>
                <a:ext cx="9873842" cy="3188693"/>
              </a:xfrm>
              <a:prstGeom prst="rect">
                <a:avLst/>
              </a:prstGeom>
              <a:noFill/>
            </p:spPr>
            <p:txBody>
              <a:bodyPr wrap="square" rtlCol="0">
                <a:spAutoFit/>
              </a:bodyPr>
              <a:lstStyle/>
              <a:p>
                <a:r>
                  <a:rPr kumimoji="1" lang="ja-JP" altLang="en-US"/>
                  <a:t>鍵生成で解く線形方程式を </a:t>
                </a:r>
                <a14:m>
                  <m:oMath xmlns:m="http://schemas.openxmlformats.org/officeDocument/2006/math">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d>
                      <m:dPr>
                        <m:begChr m:val="["/>
                        <m:endChr m:val="]"/>
                        <m:ctrlPr>
                          <a:rPr kumimoji="1" lang="en-US" altLang="ja-JP" b="0" i="1" smtClean="0">
                            <a:latin typeface="Cambria Math" panose="02040503050406030204" pitchFamily="18" charset="0"/>
                          </a:rPr>
                        </m:ctrlPr>
                      </m:dPr>
                      <m:e>
                        <m:m>
                          <m:mPr>
                            <m:mcs>
                              <m:mc>
                                <m:mcPr>
                                  <m:count m:val="1"/>
                                  <m:mcJc m:val="center"/>
                                </m:mcPr>
                              </m:mc>
                            </m:mcs>
                            <m:ctrlPr>
                              <a:rPr kumimoji="1" lang="en-US" altLang="ja-JP" b="0" i="1" smtClean="0">
                                <a:latin typeface="Cambria Math" panose="02040503050406030204" pitchFamily="18" charset="0"/>
                              </a:rPr>
                            </m:ctrlPr>
                          </m:mPr>
                          <m:mr>
                            <m:e>
                              <m:sSub>
                                <m:sSubPr>
                                  <m:ctrlPr>
                                    <a:rPr kumimoji="1" lang="en-US" altLang="ja-JP" b="0" i="1" smtClean="0">
                                      <a:latin typeface="Cambria Math" panose="02040503050406030204" pitchFamily="18" charset="0"/>
                                    </a:rPr>
                                  </m:ctrlPr>
                                </m:sSubPr>
                                <m:e>
                                  <m:r>
                                    <m:rPr>
                                      <m:brk m:alnAt="7"/>
                                    </m:rPr>
                                    <a:rPr kumimoji="1" lang="en-US" altLang="ja-JP" b="0" i="1" smtClean="0">
                                      <a:latin typeface="Cambria Math" panose="02040503050406030204" pitchFamily="18" charset="0"/>
                                    </a:rPr>
                                    <m:t>𝐴</m:t>
                                  </m:r>
                                </m:e>
                                <m:sub>
                                  <m:r>
                                    <m:rPr>
                                      <m:brk m:alnAt="7"/>
                                    </m:rPr>
                                    <a:rPr kumimoji="1" lang="en-US" altLang="ja-JP" b="0" i="1" smtClean="0">
                                      <a:latin typeface="Cambria Math" panose="02040503050406030204" pitchFamily="18" charset="0"/>
                                    </a:rPr>
                                    <m:t>1</m:t>
                                  </m:r>
                                </m:sub>
                              </m:sSub>
                            </m:e>
                          </m:mr>
                          <m:mr>
                            <m:e>
                              <m:r>
                                <a:rPr kumimoji="1" lang="en-US" altLang="ja-JP" b="0" i="1" smtClean="0">
                                  <a:latin typeface="Cambria Math" panose="02040503050406030204" pitchFamily="18" charset="0"/>
                                </a:rPr>
                                <m:t>⋮</m:t>
                              </m:r>
                            </m:e>
                          </m:mr>
                          <m:m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𝐴</m:t>
                                  </m:r>
                                </m:e>
                                <m:sub>
                                  <m:r>
                                    <a:rPr kumimoji="1" lang="en-US" altLang="ja-JP" b="0" i="1" smtClean="0">
                                      <a:latin typeface="Cambria Math" panose="02040503050406030204" pitchFamily="18" charset="0"/>
                                    </a:rPr>
                                    <m:t>𝑘</m:t>
                                  </m:r>
                                </m:sub>
                              </m:sSub>
                            </m:e>
                          </m:mr>
                        </m:m>
                      </m:e>
                    </m:d>
                  </m:oMath>
                </a14:m>
                <a:r>
                  <a:rPr kumimoji="1" lang="ja-JP" altLang="en-US"/>
                  <a:t> とする</a:t>
                </a:r>
                <a:r>
                  <a:rPr kumimoji="1" lang="en-US" altLang="ja-JP"/>
                  <a:t>. </a:t>
                </a:r>
                <a:r>
                  <a:rPr kumimoji="1" lang="ja-JP" altLang="en-US"/>
                  <a:t>公開鍵の係数列は </a:t>
                </a:r>
                <a14:m>
                  <m:oMath xmlns:m="http://schemas.openxmlformats.org/officeDocument/2006/math">
                    <m:func>
                      <m:funcPr>
                        <m:ctrlPr>
                          <a:rPr kumimoji="1" lang="en-US" altLang="ja-JP" i="1" smtClean="0">
                            <a:latin typeface="Cambria Math" panose="02040503050406030204" pitchFamily="18" charset="0"/>
                          </a:rPr>
                        </m:ctrlPr>
                      </m:funcPr>
                      <m:fName>
                        <m:r>
                          <m:rPr>
                            <m:sty m:val="p"/>
                          </m:rPr>
                          <a:rPr kumimoji="1" lang="en-US" altLang="ja-JP" b="0" i="0" smtClean="0">
                            <a:latin typeface="Cambria Math" panose="02040503050406030204" pitchFamily="18" charset="0"/>
                          </a:rPr>
                          <m:t>ker</m:t>
                        </m:r>
                      </m:fName>
                      <m:e>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e>
                    </m:func>
                  </m:oMath>
                </a14:m>
                <a:r>
                  <a:rPr kumimoji="1" lang="ja-JP" altLang="en-US"/>
                  <a:t> から選択される</a:t>
                </a:r>
                <a:r>
                  <a:rPr kumimoji="1" lang="en-US" altLang="ja-JP"/>
                  <a:t>.</a:t>
                </a:r>
              </a:p>
              <a:p>
                <a:endParaRPr lang="en-US" altLang="ja-JP"/>
              </a:p>
              <a:p>
                <a14:m>
                  <m:oMath xmlns:m="http://schemas.openxmlformats.org/officeDocument/2006/math">
                    <m:sSub>
                      <m:sSubPr>
                        <m:ctrlPr>
                          <a:rPr lang="en-US" altLang="ja-JP" i="1" smtClean="0">
                            <a:latin typeface="Cambria Math" panose="02040503050406030204" pitchFamily="18" charset="0"/>
                          </a:rPr>
                        </m:ctrlPr>
                      </m:sSubPr>
                      <m:e>
                        <m:r>
                          <m:rPr>
                            <m:sty m:val="p"/>
                          </m:rPr>
                          <a:rPr lang="en-US" altLang="ja-JP" b="0" i="0" smtClean="0">
                            <a:latin typeface="Cambria Math" panose="02040503050406030204" pitchFamily="18" charset="0"/>
                          </a:rPr>
                          <m:t>sk</m:t>
                        </m:r>
                      </m:e>
                      <m:sub>
                        <m:r>
                          <m:rPr>
                            <m:sty m:val="p"/>
                          </m:rPr>
                          <a:rPr lang="en-US" altLang="ja-JP" b="0" i="0" smtClean="0">
                            <a:latin typeface="Cambria Math" panose="02040503050406030204" pitchFamily="18" charset="0"/>
                          </a:rPr>
                          <m:t>new</m:t>
                        </m:r>
                      </m:sub>
                    </m:sSub>
                  </m:oMath>
                </a14:m>
                <a:r>
                  <a:rPr lang="ja-JP" altLang="en-US"/>
                  <a:t> </a:t>
                </a:r>
                <a:r>
                  <a:rPr kumimoji="1" lang="ja-JP" altLang="en-US"/>
                  <a:t>が要請する条件 </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𝐴</m:t>
                        </m:r>
                      </m:e>
                      <m:sub>
                        <m:r>
                          <m:rPr>
                            <m:sty m:val="p"/>
                          </m:rPr>
                          <a:rPr kumimoji="1" lang="en-US" altLang="ja-JP" b="0" i="0" smtClean="0">
                            <a:latin typeface="Cambria Math" panose="02040503050406030204" pitchFamily="18" charset="0"/>
                          </a:rPr>
                          <m:t>new</m:t>
                        </m:r>
                      </m:sub>
                    </m:sSub>
                    <m:r>
                      <a:rPr kumimoji="1" lang="en-US" altLang="ja-JP" b="0" i="1" smtClean="0">
                        <a:latin typeface="Cambria Math" panose="02040503050406030204" pitchFamily="18" charset="0"/>
                      </a:rPr>
                      <m:t> </m:t>
                    </m:r>
                  </m:oMath>
                </a14:m>
                <a:r>
                  <a:rPr kumimoji="1" lang="ja-JP" altLang="en-US"/>
                  <a:t> を公開鍵に追加したければ</a:t>
                </a:r>
                <a:r>
                  <a:rPr kumimoji="1" lang="en-US" altLang="ja-JP"/>
                  <a:t>, </a:t>
                </a:r>
                <a14:m>
                  <m:oMath xmlns:m="http://schemas.openxmlformats.org/officeDocument/2006/math">
                    <m:sSub>
                      <m:sSubPr>
                        <m:ctrlPr>
                          <a:rPr kumimoji="1" lang="en-US" altLang="ja-JP" i="1" smtClean="0">
                            <a:latin typeface="Cambria Math" panose="02040503050406030204" pitchFamily="18" charset="0"/>
                          </a:rPr>
                        </m:ctrlPr>
                      </m:sSubPr>
                      <m:e>
                        <m:r>
                          <m:rPr>
                            <m:sty m:val="p"/>
                          </m:rPr>
                          <a:rPr kumimoji="1" lang="en-US" altLang="ja-JP" b="0" i="0" smtClean="0">
                            <a:latin typeface="Cambria Math" panose="02040503050406030204" pitchFamily="18" charset="0"/>
                          </a:rPr>
                          <m:t>pk</m:t>
                        </m:r>
                      </m:e>
                      <m:sub>
                        <m:r>
                          <m:rPr>
                            <m:sty m:val="p"/>
                          </m:rPr>
                          <a:rPr kumimoji="1" lang="en-US" altLang="ja-JP" b="0" i="0" smtClean="0">
                            <a:latin typeface="Cambria Math" panose="02040503050406030204" pitchFamily="18" charset="0"/>
                          </a:rPr>
                          <m:t>new</m:t>
                        </m:r>
                      </m:sub>
                    </m:sSub>
                  </m:oMath>
                </a14:m>
                <a:r>
                  <a:rPr kumimoji="1" lang="ja-JP" altLang="en-US"/>
                  <a:t> の公開鍵の係数列は</a:t>
                </a:r>
                <a:endParaRPr kumimoji="1" lang="en-US" altLang="ja-JP"/>
              </a:p>
              <a:p>
                <a:pPr/>
                <a14:m>
                  <m:oMathPara xmlns:m="http://schemas.openxmlformats.org/officeDocument/2006/math">
                    <m:oMathParaPr>
                      <m:jc m:val="centerGroup"/>
                    </m:oMathParaPr>
                    <m:oMath xmlns:m="http://schemas.openxmlformats.org/officeDocument/2006/math">
                      <m:func>
                        <m:funcPr>
                          <m:ctrlPr>
                            <a:rPr kumimoji="1" lang="en-US" altLang="ja-JP" i="1" smtClean="0">
                              <a:latin typeface="Cambria Math" panose="02040503050406030204" pitchFamily="18" charset="0"/>
                            </a:rPr>
                          </m:ctrlPr>
                        </m:funcPr>
                        <m:fName>
                          <m:r>
                            <m:rPr>
                              <m:sty m:val="p"/>
                            </m:rPr>
                            <a:rPr kumimoji="1" lang="en-US" altLang="ja-JP" b="0" i="0" smtClean="0">
                              <a:latin typeface="Cambria Math" panose="02040503050406030204" pitchFamily="18" charset="0"/>
                            </a:rPr>
                            <m:t>ker</m:t>
                          </m:r>
                        </m:fName>
                        <m:e>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e>
                      </m:func>
                      <m:r>
                        <a:rPr kumimoji="1" lang="en-US" altLang="ja-JP" b="0" i="1" smtClean="0">
                          <a:latin typeface="Cambria Math" panose="02040503050406030204" pitchFamily="18" charset="0"/>
                        </a:rPr>
                        <m:t>∩</m:t>
                      </m:r>
                      <m:func>
                        <m:funcPr>
                          <m:ctrlPr>
                            <a:rPr kumimoji="1" lang="en-US" altLang="ja-JP" b="0" i="1" smtClean="0">
                              <a:latin typeface="Cambria Math" panose="02040503050406030204" pitchFamily="18" charset="0"/>
                            </a:rPr>
                          </m:ctrlPr>
                        </m:funcPr>
                        <m:fName>
                          <m:r>
                            <m:rPr>
                              <m:sty m:val="p"/>
                            </m:rPr>
                            <a:rPr kumimoji="1" lang="en-US" altLang="ja-JP" b="0" i="0" smtClean="0">
                              <a:latin typeface="Cambria Math" panose="02040503050406030204" pitchFamily="18" charset="0"/>
                            </a:rPr>
                            <m:t>ker</m:t>
                          </m:r>
                        </m:fName>
                        <m:e>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𝐴</m:t>
                              </m:r>
                            </m:e>
                            <m:sub>
                              <m:r>
                                <m:rPr>
                                  <m:sty m:val="p"/>
                                </m:rPr>
                                <a:rPr kumimoji="1" lang="en-US" altLang="ja-JP" b="0" i="0" smtClean="0">
                                  <a:latin typeface="Cambria Math" panose="02040503050406030204" pitchFamily="18" charset="0"/>
                                </a:rPr>
                                <m:t>new</m:t>
                              </m:r>
                            </m:sub>
                          </m:sSub>
                          <m:r>
                            <a:rPr kumimoji="1" lang="en-US" altLang="ja-JP" b="0" i="1" smtClean="0">
                              <a:latin typeface="Cambria Math" panose="02040503050406030204" pitchFamily="18" charset="0"/>
                            </a:rPr>
                            <m:t>)</m:t>
                          </m:r>
                        </m:e>
                      </m:func>
                    </m:oMath>
                  </m:oMathPara>
                </a14:m>
                <a:endParaRPr kumimoji="1" lang="en-US" altLang="ja-JP"/>
              </a:p>
              <a:p>
                <a:r>
                  <a:rPr lang="ja-JP" altLang="en-US"/>
                  <a:t>から選択すればよい</a:t>
                </a:r>
                <a:r>
                  <a:rPr lang="en-US" altLang="ja-JP"/>
                  <a:t>.</a:t>
                </a:r>
              </a:p>
              <a:p>
                <a:endParaRPr kumimoji="1" lang="en-US" altLang="ja-JP"/>
              </a:p>
              <a:p>
                <a:r>
                  <a:rPr lang="ja-JP" altLang="en-US"/>
                  <a:t>実際には</a:t>
                </a:r>
                <a:r>
                  <a:rPr lang="en-US" altLang="ja-JP"/>
                  <a:t>, </a:t>
                </a:r>
                <a:r>
                  <a:rPr lang="ja-JP" altLang="en-US"/>
                  <a:t>鍵生成の際に計算する</a:t>
                </a:r>
                <a:r>
                  <a:rPr lang="en-US" altLang="ja-JP"/>
                  <a:t> </a:t>
                </a:r>
                <a14:m>
                  <m:oMath xmlns:m="http://schemas.openxmlformats.org/officeDocument/2006/math">
                    <m:func>
                      <m:funcPr>
                        <m:ctrlPr>
                          <a:rPr lang="en-US" altLang="ja-JP" i="1">
                            <a:latin typeface="Cambria Math" panose="02040503050406030204" pitchFamily="18" charset="0"/>
                          </a:rPr>
                        </m:ctrlPr>
                      </m:funcPr>
                      <m:fName>
                        <m:r>
                          <m:rPr>
                            <m:sty m:val="p"/>
                          </m:rPr>
                          <a:rPr lang="en-US" altLang="ja-JP">
                            <a:latin typeface="Cambria Math" panose="02040503050406030204" pitchFamily="18" charset="0"/>
                          </a:rPr>
                          <m:t>ker</m:t>
                        </m:r>
                      </m:fName>
                      <m:e>
                        <m:r>
                          <a:rPr lang="en-US" altLang="ja-JP" i="1">
                            <a:latin typeface="Cambria Math" panose="02040503050406030204" pitchFamily="18" charset="0"/>
                          </a:rPr>
                          <m:t>(</m:t>
                        </m:r>
                        <m:r>
                          <a:rPr lang="en-US" altLang="ja-JP" i="1">
                            <a:latin typeface="Cambria Math" panose="02040503050406030204" pitchFamily="18" charset="0"/>
                          </a:rPr>
                          <m:t>𝐴</m:t>
                        </m:r>
                        <m:r>
                          <a:rPr lang="en-US" altLang="ja-JP" i="1">
                            <a:latin typeface="Cambria Math" panose="02040503050406030204" pitchFamily="18" charset="0"/>
                          </a:rPr>
                          <m:t>)</m:t>
                        </m:r>
                      </m:e>
                    </m:func>
                  </m:oMath>
                </a14:m>
                <a:r>
                  <a:rPr kumimoji="1" lang="ja-JP" altLang="en-US"/>
                  <a:t> の列基底を追加鍵 </a:t>
                </a:r>
                <a14:m>
                  <m:oMath xmlns:m="http://schemas.openxmlformats.org/officeDocument/2006/math">
                    <m:r>
                      <m:rPr>
                        <m:sty m:val="p"/>
                      </m:rPr>
                      <a:rPr kumimoji="1" lang="en-US" altLang="ja-JP" b="0" i="0" smtClean="0">
                        <a:latin typeface="Cambria Math" panose="02040503050406030204" pitchFamily="18" charset="0"/>
                      </a:rPr>
                      <m:t>ik</m:t>
                    </m:r>
                  </m:oMath>
                </a14:m>
                <a:r>
                  <a:rPr kumimoji="1" lang="ja-JP" altLang="en-US"/>
                  <a:t> として保持しておいて</a:t>
                </a:r>
                <a:r>
                  <a:rPr kumimoji="1" lang="en-US" altLang="ja-JP"/>
                  <a:t>, </a:t>
                </a:r>
              </a:p>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m:rPr>
                              <m:sty m:val="p"/>
                            </m:rPr>
                            <a:rPr kumimoji="1" lang="en-US" altLang="ja-JP" b="0" i="0" smtClean="0">
                              <a:latin typeface="Cambria Math" panose="02040503050406030204" pitchFamily="18" charset="0"/>
                            </a:rPr>
                            <m:t>ik</m:t>
                          </m:r>
                        </m:e>
                        <m:sub>
                          <m:r>
                            <m:rPr>
                              <m:sty m:val="p"/>
                            </m:rPr>
                            <a:rPr kumimoji="1" lang="en-US" altLang="ja-JP" b="0" i="0" smtClean="0">
                              <a:latin typeface="Cambria Math" panose="02040503050406030204" pitchFamily="18" charset="0"/>
                            </a:rPr>
                            <m:t>new</m:t>
                          </m:r>
                        </m:sub>
                      </m:sSub>
                      <m:r>
                        <a:rPr kumimoji="1" lang="en-US" altLang="ja-JP" b="0" i="1" smtClean="0">
                          <a:latin typeface="Cambria Math" panose="02040503050406030204" pitchFamily="18" charset="0"/>
                        </a:rPr>
                        <m:t>= </m:t>
                      </m:r>
                      <m:r>
                        <m:rPr>
                          <m:sty m:val="p"/>
                        </m:rPr>
                        <a:rPr kumimoji="1" lang="en-US" altLang="ja-JP" b="0" i="0" smtClean="0">
                          <a:latin typeface="Cambria Math" panose="02040503050406030204" pitchFamily="18" charset="0"/>
                        </a:rPr>
                        <m:t>ik</m:t>
                      </m:r>
                      <m:r>
                        <a:rPr kumimoji="1" lang="en-US" altLang="ja-JP" b="0" i="1" smtClean="0">
                          <a:latin typeface="Cambria Math" panose="02040503050406030204" pitchFamily="18" charset="0"/>
                          <a:ea typeface="Cambria Math" panose="02040503050406030204" pitchFamily="18" charset="0"/>
                        </a:rPr>
                        <m:t>∙</m:t>
                      </m:r>
                      <m:func>
                        <m:funcPr>
                          <m:ctrlPr>
                            <a:rPr kumimoji="1" lang="en-US" altLang="ja-JP" i="1" smtClean="0">
                              <a:latin typeface="Cambria Math" panose="02040503050406030204" pitchFamily="18" charset="0"/>
                            </a:rPr>
                          </m:ctrlPr>
                        </m:funcPr>
                        <m:fName>
                          <m:r>
                            <m:rPr>
                              <m:sty m:val="p"/>
                            </m:rPr>
                            <a:rPr kumimoji="1" lang="en-US" altLang="ja-JP" b="0" i="0" smtClean="0">
                              <a:latin typeface="Cambria Math" panose="02040503050406030204" pitchFamily="18" charset="0"/>
                            </a:rPr>
                            <m:t>ker</m:t>
                          </m:r>
                        </m:fName>
                        <m:e>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𝐴</m:t>
                              </m:r>
                            </m:e>
                            <m:sub>
                              <m:r>
                                <a:rPr kumimoji="1" lang="en-US" altLang="ja-JP" b="0" i="1" smtClean="0">
                                  <a:latin typeface="Cambria Math" panose="02040503050406030204" pitchFamily="18" charset="0"/>
                                </a:rPr>
                                <m:t>𝑛𝑒𝑤</m:t>
                              </m:r>
                            </m:sub>
                          </m:sSub>
                          <m:r>
                            <m:rPr>
                              <m:sty m:val="p"/>
                            </m:rPr>
                            <a:rPr kumimoji="1" lang="en-US" altLang="ja-JP" b="0" i="0" smtClean="0">
                              <a:latin typeface="Cambria Math" panose="02040503050406030204" pitchFamily="18" charset="0"/>
                            </a:rPr>
                            <m:t>ik</m:t>
                          </m:r>
                          <m:r>
                            <a:rPr kumimoji="1" lang="en-US" altLang="ja-JP" b="0" i="1" smtClean="0">
                              <a:latin typeface="Cambria Math" panose="02040503050406030204" pitchFamily="18" charset="0"/>
                            </a:rPr>
                            <m:t>)</m:t>
                          </m:r>
                        </m:e>
                      </m:func>
                    </m:oMath>
                  </m:oMathPara>
                </a14:m>
                <a:endParaRPr kumimoji="1" lang="en-US" altLang="ja-JP"/>
              </a:p>
              <a:p>
                <a:r>
                  <a:rPr kumimoji="1" lang="ja-JP" altLang="en-US"/>
                  <a:t>として</a:t>
                </a:r>
                <a:r>
                  <a:rPr kumimoji="1" lang="en-US" altLang="ja-JP"/>
                  <a:t>, </a:t>
                </a:r>
                <a14:m>
                  <m:oMath xmlns:m="http://schemas.openxmlformats.org/officeDocument/2006/math">
                    <m:sSub>
                      <m:sSubPr>
                        <m:ctrlPr>
                          <a:rPr lang="en-US" altLang="ja-JP" i="1">
                            <a:latin typeface="Cambria Math" panose="02040503050406030204" pitchFamily="18" charset="0"/>
                          </a:rPr>
                        </m:ctrlPr>
                      </m:sSubPr>
                      <m:e>
                        <m:r>
                          <m:rPr>
                            <m:sty m:val="p"/>
                          </m:rPr>
                          <a:rPr lang="en-US" altLang="ja-JP">
                            <a:latin typeface="Cambria Math" panose="02040503050406030204" pitchFamily="18" charset="0"/>
                          </a:rPr>
                          <m:t>ik</m:t>
                        </m:r>
                      </m:e>
                      <m:sub>
                        <m:r>
                          <m:rPr>
                            <m:sty m:val="p"/>
                          </m:rPr>
                          <a:rPr lang="en-US" altLang="ja-JP">
                            <a:latin typeface="Cambria Math" panose="02040503050406030204" pitchFamily="18" charset="0"/>
                          </a:rPr>
                          <m:t>new</m:t>
                        </m:r>
                      </m:sub>
                    </m:sSub>
                  </m:oMath>
                </a14:m>
                <a:r>
                  <a:rPr kumimoji="1" lang="ja-JP" altLang="en-US"/>
                  <a:t> の張る空間から </a:t>
                </a:r>
                <a14:m>
                  <m:oMath xmlns:m="http://schemas.openxmlformats.org/officeDocument/2006/math">
                    <m:r>
                      <a:rPr kumimoji="1" lang="en-US" altLang="ja-JP" b="0" i="1" smtClean="0">
                        <a:latin typeface="Cambria Math" panose="02040503050406030204" pitchFamily="18" charset="0"/>
                      </a:rPr>
                      <m:t>𝑚</m:t>
                    </m:r>
                  </m:oMath>
                </a14:m>
                <a:r>
                  <a:rPr kumimoji="1" lang="ja-JP" altLang="en-US"/>
                  <a:t> 個の要素を選択すれば </a:t>
                </a:r>
                <a14:m>
                  <m:oMath xmlns:m="http://schemas.openxmlformats.org/officeDocument/2006/math">
                    <m:sSub>
                      <m:sSubPr>
                        <m:ctrlPr>
                          <a:rPr lang="en-US" altLang="ja-JP" i="1">
                            <a:latin typeface="Cambria Math" panose="02040503050406030204" pitchFamily="18" charset="0"/>
                          </a:rPr>
                        </m:ctrlPr>
                      </m:sSubPr>
                      <m:e>
                        <m:r>
                          <m:rPr>
                            <m:sty m:val="p"/>
                          </m:rPr>
                          <a:rPr lang="en-US" altLang="ja-JP">
                            <a:latin typeface="Cambria Math" panose="02040503050406030204" pitchFamily="18" charset="0"/>
                          </a:rPr>
                          <m:t>pk</m:t>
                        </m:r>
                      </m:e>
                      <m:sub>
                        <m:r>
                          <m:rPr>
                            <m:sty m:val="p"/>
                          </m:rPr>
                          <a:rPr lang="en-US" altLang="ja-JP">
                            <a:latin typeface="Cambria Math" panose="02040503050406030204" pitchFamily="18" charset="0"/>
                          </a:rPr>
                          <m:t>new</m:t>
                        </m:r>
                      </m:sub>
                    </m:sSub>
                  </m:oMath>
                </a14:m>
                <a:r>
                  <a:rPr kumimoji="1" lang="ja-JP" altLang="en-US"/>
                  <a:t> が得られる</a:t>
                </a:r>
                <a:r>
                  <a:rPr kumimoji="1" lang="en-US" altLang="ja-JP"/>
                  <a:t>.</a:t>
                </a:r>
                <a:endParaRPr kumimoji="1" lang="ja-JP" altLang="en-US"/>
              </a:p>
            </p:txBody>
          </p:sp>
        </mc:Choice>
        <mc:Fallback xmlns="">
          <p:sp>
            <p:nvSpPr>
              <p:cNvPr id="6" name="テキスト ボックス 5">
                <a:extLst>
                  <a:ext uri="{FF2B5EF4-FFF2-40B4-BE49-F238E27FC236}">
                    <a16:creationId xmlns:a16="http://schemas.microsoft.com/office/drawing/2014/main" id="{FE80F0F4-57FA-3D2A-932A-6F124B2C2BA1}"/>
                  </a:ext>
                </a:extLst>
              </p:cNvPr>
              <p:cNvSpPr txBox="1">
                <a:spLocks noRot="1" noChangeAspect="1" noMove="1" noResize="1" noEditPoints="1" noAdjustHandles="1" noChangeArrowheads="1" noChangeShapeType="1" noTextEdit="1"/>
              </p:cNvSpPr>
              <p:nvPr/>
            </p:nvSpPr>
            <p:spPr>
              <a:xfrm>
                <a:off x="180000" y="1451295"/>
                <a:ext cx="9873842" cy="3188693"/>
              </a:xfrm>
              <a:prstGeom prst="rect">
                <a:avLst/>
              </a:prstGeom>
              <a:blipFill>
                <a:blip r:embed="rId2"/>
                <a:stretch>
                  <a:fillRect l="-556" b="-229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02943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EE465-5B42-958C-1F0A-9223B24E7DA2}"/>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AF02B218-B73D-1862-212B-825061126364}"/>
              </a:ext>
            </a:extLst>
          </p:cNvPr>
          <p:cNvSpPr txBox="1"/>
          <p:nvPr/>
        </p:nvSpPr>
        <p:spPr>
          <a:xfrm>
            <a:off x="180000" y="180000"/>
            <a:ext cx="5558070" cy="584775"/>
          </a:xfrm>
          <a:prstGeom prst="rect">
            <a:avLst/>
          </a:prstGeom>
          <a:noFill/>
        </p:spPr>
        <p:txBody>
          <a:bodyPr wrap="square" rtlCol="0">
            <a:spAutoFit/>
          </a:bodyPr>
          <a:lstStyle/>
          <a:p>
            <a:r>
              <a:rPr lang="en-US" altLang="ja-JP" sz="3200" b="1">
                <a:solidFill>
                  <a:schemeClr val="accent4">
                    <a:lumMod val="75000"/>
                  </a:schemeClr>
                </a:solidFill>
              </a:rPr>
              <a:t>2.</a:t>
            </a:r>
            <a:r>
              <a:rPr lang="ja-JP" altLang="en-US" sz="3200" b="1">
                <a:solidFill>
                  <a:schemeClr val="accent4">
                    <a:lumMod val="75000"/>
                  </a:schemeClr>
                </a:solidFill>
              </a:rPr>
              <a:t> </a:t>
            </a:r>
            <a:r>
              <a:rPr lang="en-US" altLang="ja-JP" sz="3200" b="1">
                <a:solidFill>
                  <a:schemeClr val="accent4">
                    <a:lumMod val="75000"/>
                  </a:schemeClr>
                </a:solidFill>
              </a:rPr>
              <a:t>MZ-UOV</a:t>
            </a:r>
            <a:endParaRPr lang="en-US" altLang="ja-JP" sz="3200" b="1" dirty="0">
              <a:solidFill>
                <a:schemeClr val="accent4">
                  <a:lumMod val="75000"/>
                </a:schemeClr>
              </a:solidFill>
            </a:endParaRPr>
          </a:p>
        </p:txBody>
      </p:sp>
      <p:sp>
        <p:nvSpPr>
          <p:cNvPr id="5" name="テキスト ボックス 4">
            <a:extLst>
              <a:ext uri="{FF2B5EF4-FFF2-40B4-BE49-F238E27FC236}">
                <a16:creationId xmlns:a16="http://schemas.microsoft.com/office/drawing/2014/main" id="{28A2EAC8-B277-8740-903D-59FC7035EC3E}"/>
              </a:ext>
            </a:extLst>
          </p:cNvPr>
          <p:cNvSpPr txBox="1"/>
          <p:nvPr/>
        </p:nvSpPr>
        <p:spPr>
          <a:xfrm>
            <a:off x="180000" y="764775"/>
            <a:ext cx="7227479" cy="461665"/>
          </a:xfrm>
          <a:prstGeom prst="rect">
            <a:avLst/>
          </a:prstGeom>
          <a:noFill/>
        </p:spPr>
        <p:txBody>
          <a:bodyPr wrap="square" rtlCol="0">
            <a:spAutoFit/>
          </a:bodyPr>
          <a:lstStyle/>
          <a:p>
            <a:r>
              <a:rPr lang="en-US" altLang="ja-JP" sz="2400" b="1">
                <a:solidFill>
                  <a:schemeClr val="accent4">
                    <a:lumMod val="75000"/>
                  </a:schemeClr>
                </a:solidFill>
              </a:rPr>
              <a:t>2</a:t>
            </a:r>
            <a:r>
              <a:rPr kumimoji="1" lang="en-US" altLang="ja-JP" sz="2400" b="1">
                <a:solidFill>
                  <a:schemeClr val="accent4">
                    <a:lumMod val="75000"/>
                  </a:schemeClr>
                </a:solidFill>
              </a:rPr>
              <a:t>-5. </a:t>
            </a:r>
            <a:r>
              <a:rPr kumimoji="1" lang="ja-JP" altLang="en-US" sz="2400" b="1">
                <a:solidFill>
                  <a:schemeClr val="accent4">
                    <a:lumMod val="75000"/>
                  </a:schemeClr>
                </a:solidFill>
              </a:rPr>
              <a:t>秘密鍵の除外</a:t>
            </a:r>
            <a:endParaRPr kumimoji="1" lang="ja-JP" altLang="en-US" sz="2400" b="1" dirty="0">
              <a:solidFill>
                <a:schemeClr val="accent4">
                  <a:lumMod val="75000"/>
                </a:schemeClr>
              </a:solidFill>
            </a:endParaRPr>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1C378A8B-E8E4-3133-7B0F-67B144AE002D}"/>
                  </a:ext>
                </a:extLst>
              </p:cNvPr>
              <p:cNvSpPr txBox="1"/>
              <p:nvPr/>
            </p:nvSpPr>
            <p:spPr>
              <a:xfrm>
                <a:off x="180000" y="1501629"/>
                <a:ext cx="9873842" cy="3059299"/>
              </a:xfrm>
              <a:prstGeom prst="rect">
                <a:avLst/>
              </a:prstGeom>
              <a:noFill/>
            </p:spPr>
            <p:txBody>
              <a:bodyPr wrap="square" rtlCol="0">
                <a:spAutoFit/>
              </a:bodyPr>
              <a:lstStyle/>
              <a:p>
                <a:r>
                  <a:rPr kumimoji="1" lang="ja-JP" altLang="en-US"/>
                  <a:t>除外鍵 </a:t>
                </a:r>
                <a14:m>
                  <m:oMath xmlns:m="http://schemas.openxmlformats.org/officeDocument/2006/math">
                    <m:r>
                      <m:rPr>
                        <m:sty m:val="p"/>
                      </m:rPr>
                      <a:rPr kumimoji="1" lang="en-US" altLang="ja-JP" b="0" i="0" smtClean="0">
                        <a:latin typeface="Cambria Math" panose="02040503050406030204" pitchFamily="18" charset="0"/>
                      </a:rPr>
                      <m:t>ek</m:t>
                    </m:r>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h</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 ⋯, </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h</m:t>
                        </m:r>
                      </m:e>
                      <m:sub>
                        <m:r>
                          <a:rPr kumimoji="1" lang="en-US" altLang="ja-JP" b="0" i="1" smtClean="0">
                            <a:latin typeface="Cambria Math" panose="02040503050406030204" pitchFamily="18" charset="0"/>
                          </a:rPr>
                          <m:t>𝑘</m:t>
                        </m:r>
                      </m:sub>
                    </m:sSub>
                    <m:r>
                      <a:rPr kumimoji="1" lang="en-US" altLang="ja-JP" b="0" i="1" smtClean="0">
                        <a:latin typeface="Cambria Math" panose="02040503050406030204" pitchFamily="18" charset="0"/>
                      </a:rPr>
                      <m:t>)</m:t>
                    </m:r>
                  </m:oMath>
                </a14:m>
                <a:r>
                  <a:rPr kumimoji="1" lang="ja-JP" altLang="en-US"/>
                  <a:t> は以下を満たすように構成する</a:t>
                </a:r>
                <a:r>
                  <a:rPr lang="en-US" altLang="ja-JP"/>
                  <a:t>:</a:t>
                </a:r>
              </a:p>
              <a:p>
                <a:endParaRPr lang="en-US" altLang="ja-JP"/>
              </a:p>
              <a:p>
                <a:pPr/>
                <a14:m>
                  <m:oMathPara xmlns:m="http://schemas.openxmlformats.org/officeDocument/2006/math">
                    <m:oMathParaPr>
                      <m:jc m:val="centerGroup"/>
                    </m:oMathParaPr>
                    <m:oMath xmlns:m="http://schemas.openxmlformats.org/officeDocument/2006/math">
                      <m:d>
                        <m:dPr>
                          <m:begChr m:val="{"/>
                          <m:endChr m:val=""/>
                          <m:ctrlPr>
                            <a:rPr lang="en-US" altLang="ja-JP" i="1" smtClean="0">
                              <a:latin typeface="Cambria Math" panose="02040503050406030204" pitchFamily="18" charset="0"/>
                            </a:rPr>
                          </m:ctrlPr>
                        </m:dPr>
                        <m:e>
                          <m:eqArr>
                            <m:eqArrPr>
                              <m:ctrlPr>
                                <a:rPr lang="en-US" altLang="ja-JP" i="1" smtClean="0">
                                  <a:latin typeface="Cambria Math" panose="02040503050406030204" pitchFamily="18" charset="0"/>
                                </a:rPr>
                              </m:ctrlPr>
                            </m:eqArr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h</m:t>
                                  </m:r>
                                </m:e>
                                <m:sub>
                                  <m:r>
                                    <a:rPr lang="en-US" altLang="ja-JP" b="0" i="1" smtClean="0">
                                      <a:latin typeface="Cambria Math" panose="02040503050406030204" pitchFamily="18" charset="0"/>
                                    </a:rPr>
                                    <m:t>𝑖</m:t>
                                  </m:r>
                                </m:sub>
                              </m:sSub>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ja-JP" altLang="en-US" b="0" i="1" smtClean="0">
                                          <a:latin typeface="Cambria Math" panose="02040503050406030204" pitchFamily="18" charset="0"/>
                                        </a:rPr>
                                        <m:t>𝒪</m:t>
                                      </m:r>
                                    </m:e>
                                    <m:sub>
                                      <m:r>
                                        <a:rPr lang="en-US" altLang="ja-JP" b="0" i="1" smtClean="0">
                                          <a:latin typeface="Cambria Math" panose="02040503050406030204" pitchFamily="18" charset="0"/>
                                        </a:rPr>
                                        <m:t>𝑗</m:t>
                                      </m:r>
                                    </m:sub>
                                  </m:sSub>
                                </m:e>
                              </m:d>
                              <m:r>
                                <a:rPr lang="en-US" altLang="ja-JP" b="0" i="1" smtClean="0">
                                  <a:latin typeface="Cambria Math" panose="02040503050406030204" pitchFamily="18" charset="0"/>
                                </a:rPr>
                                <m:t>=</m:t>
                              </m:r>
                              <m:d>
                                <m:dPr>
                                  <m:begChr m:val="{"/>
                                  <m:endChr m:val="}"/>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0</m:t>
                                  </m:r>
                                </m:e>
                              </m:d>
                              <m:r>
                                <a:rPr lang="en-US" altLang="ja-JP" b="0" i="1" smtClean="0">
                                  <a:latin typeface="Cambria Math" panose="02040503050406030204" pitchFamily="18" charset="0"/>
                                </a:rPr>
                                <m:t>  (</m:t>
                              </m:r>
                              <m:r>
                                <a:rPr lang="en-US" altLang="ja-JP" b="0" i="1" smtClean="0">
                                  <a:latin typeface="Cambria Math" panose="02040503050406030204" pitchFamily="18" charset="0"/>
                                </a:rPr>
                                <m:t>𝑖</m:t>
                              </m:r>
                              <m:r>
                                <a:rPr lang="en-US" altLang="ja-JP" b="0" i="1" smtClean="0">
                                  <a:latin typeface="Cambria Math" panose="02040503050406030204" pitchFamily="18" charset="0"/>
                                </a:rPr>
                                <m:t>≠</m:t>
                              </m:r>
                              <m:r>
                                <a:rPr lang="en-US" altLang="ja-JP" b="0" i="1" smtClean="0">
                                  <a:latin typeface="Cambria Math" panose="02040503050406030204" pitchFamily="18" charset="0"/>
                                </a:rPr>
                                <m:t>𝑗</m:t>
                              </m:r>
                              <m:r>
                                <a:rPr lang="en-US" altLang="ja-JP" b="0" i="1" smtClean="0">
                                  <a:latin typeface="Cambria Math" panose="02040503050406030204" pitchFamily="18" charset="0"/>
                                </a:rPr>
                                <m:t>)</m:t>
                              </m:r>
                            </m:e>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h</m:t>
                                  </m:r>
                                </m:e>
                                <m:sub>
                                  <m:r>
                                    <a:rPr lang="en-US" altLang="ja-JP" b="0" i="1" smtClean="0">
                                      <a:latin typeface="Cambria Math" panose="02040503050406030204" pitchFamily="18" charset="0"/>
                                    </a:rPr>
                                    <m:t>𝑖</m:t>
                                  </m:r>
                                </m:sub>
                              </m:sSub>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ja-JP" altLang="en-US" b="0" i="1" smtClean="0">
                                          <a:latin typeface="Cambria Math" panose="02040503050406030204" pitchFamily="18" charset="0"/>
                                        </a:rPr>
                                        <m:t>𝒪</m:t>
                                      </m:r>
                                    </m:e>
                                    <m:sub>
                                      <m:r>
                                        <a:rPr lang="en-US" altLang="ja-JP" b="0" i="1" smtClean="0">
                                          <a:latin typeface="Cambria Math" panose="02040503050406030204" pitchFamily="18" charset="0"/>
                                        </a:rPr>
                                        <m:t>𝑖</m:t>
                                      </m:r>
                                    </m:sub>
                                  </m:sSub>
                                </m:e>
                              </m:d>
                              <m:r>
                                <a:rPr lang="en-US" altLang="ja-JP" b="0" i="1" smtClean="0">
                                  <a:latin typeface="Cambria Math" panose="02040503050406030204" pitchFamily="18" charset="0"/>
                                </a:rPr>
                                <m:t>≠</m:t>
                              </m:r>
                              <m:d>
                                <m:dPr>
                                  <m:begChr m:val="{"/>
                                  <m:endChr m:val="}"/>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0</m:t>
                                  </m:r>
                                </m:e>
                              </m:d>
                              <m:r>
                                <a:rPr lang="en-US" altLang="ja-JP" b="0" i="1" smtClean="0">
                                  <a:latin typeface="Cambria Math" panose="02040503050406030204" pitchFamily="18" charset="0"/>
                                </a:rPr>
                                <m:t>.</m:t>
                              </m:r>
                            </m:e>
                          </m:eqArr>
                        </m:e>
                      </m:d>
                    </m:oMath>
                  </m:oMathPara>
                </a14:m>
                <a:endParaRPr lang="en-US" altLang="ja-JP"/>
              </a:p>
              <a:p>
                <a:endParaRPr lang="en-US" altLang="ja-JP"/>
              </a:p>
              <a:p>
                <a14:m>
                  <m:oMath xmlns:m="http://schemas.openxmlformats.org/officeDocument/2006/math">
                    <m:sSub>
                      <m:sSubPr>
                        <m:ctrlPr>
                          <a:rPr lang="en-US" altLang="ja-JP" i="1" smtClean="0">
                            <a:latin typeface="Cambria Math" panose="02040503050406030204" pitchFamily="18" charset="0"/>
                          </a:rPr>
                        </m:ctrlPr>
                      </m:sSubPr>
                      <m:e>
                        <m:r>
                          <m:rPr>
                            <m:sty m:val="p"/>
                          </m:rPr>
                          <a:rPr lang="en-US" altLang="ja-JP" b="0" i="0" smtClean="0">
                            <a:latin typeface="Cambria Math" panose="02040503050406030204" pitchFamily="18" charset="0"/>
                          </a:rPr>
                          <m:t>sk</m:t>
                        </m:r>
                      </m:e>
                      <m:sub>
                        <m:r>
                          <a:rPr lang="en-US" altLang="ja-JP" b="0" i="1" smtClean="0">
                            <a:latin typeface="Cambria Math" panose="02040503050406030204" pitchFamily="18" charset="0"/>
                          </a:rPr>
                          <m:t>𝑖</m:t>
                        </m:r>
                      </m:sub>
                    </m:sSub>
                  </m:oMath>
                </a14:m>
                <a:r>
                  <a:rPr lang="en-US" altLang="ja-JP"/>
                  <a:t> </a:t>
                </a:r>
                <a:r>
                  <a:rPr lang="ja-JP" altLang="en-US"/>
                  <a:t>を除外するとき</a:t>
                </a:r>
                <a:r>
                  <a:rPr lang="en-US" altLang="ja-JP"/>
                  <a:t>, </a:t>
                </a:r>
                <a:r>
                  <a:rPr lang="ja-JP" altLang="en-US"/>
                  <a:t>以下によって </a:t>
                </a:r>
                <a14:m>
                  <m:oMath xmlns:m="http://schemas.openxmlformats.org/officeDocument/2006/math">
                    <m:sSub>
                      <m:sSubPr>
                        <m:ctrlPr>
                          <a:rPr lang="en-US" altLang="ja-JP" i="1" smtClean="0">
                            <a:latin typeface="Cambria Math" panose="02040503050406030204" pitchFamily="18" charset="0"/>
                          </a:rPr>
                        </m:ctrlPr>
                      </m:sSubPr>
                      <m:e>
                        <m:r>
                          <m:rPr>
                            <m:sty m:val="p"/>
                          </m:rPr>
                          <a:rPr lang="en-US" altLang="ja-JP" b="0" i="0" smtClean="0">
                            <a:latin typeface="Cambria Math" panose="02040503050406030204" pitchFamily="18" charset="0"/>
                          </a:rPr>
                          <m:t>pk</m:t>
                        </m:r>
                      </m:e>
                      <m:sub>
                        <m:r>
                          <m:rPr>
                            <m:sty m:val="p"/>
                          </m:rPr>
                          <a:rPr lang="en-US" altLang="ja-JP" b="0" i="0" smtClean="0">
                            <a:latin typeface="Cambria Math" panose="02040503050406030204" pitchFamily="18" charset="0"/>
                          </a:rPr>
                          <m:t>new</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r>
                          <a:rPr lang="en-US" altLang="ja-JP" b="0" i="1" smtClean="0">
                            <a:latin typeface="Cambria Math" panose="02040503050406030204" pitchFamily="18" charset="0"/>
                          </a:rPr>
                          <m:t>′</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 ⋯, </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r>
                          <a:rPr lang="en-US" altLang="ja-JP" b="0" i="1" smtClean="0">
                            <a:latin typeface="Cambria Math" panose="02040503050406030204" pitchFamily="18" charset="0"/>
                          </a:rPr>
                          <m:t>′</m:t>
                        </m:r>
                      </m:e>
                      <m:sub>
                        <m:r>
                          <a:rPr lang="en-US" altLang="ja-JP" b="0" i="1" smtClean="0">
                            <a:latin typeface="Cambria Math" panose="02040503050406030204" pitchFamily="18" charset="0"/>
                          </a:rPr>
                          <m:t>𝑘</m:t>
                        </m:r>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oMath>
                </a14:m>
                <a:r>
                  <a:rPr lang="en-US" altLang="ja-JP"/>
                  <a:t> </a:t>
                </a:r>
                <a:r>
                  <a:rPr lang="ja-JP" altLang="en-US"/>
                  <a:t>を構成する</a:t>
                </a:r>
                <a:r>
                  <a:rPr lang="en-US" altLang="ja-JP"/>
                  <a:t>:</a:t>
                </a:r>
              </a:p>
              <a:p>
                <a:endParaRPr lang="en-US" altLang="ja-JP"/>
              </a:p>
              <a:p>
                <a:pPr/>
                <a14:m>
                  <m:oMathPara xmlns:m="http://schemas.openxmlformats.org/officeDocument/2006/math">
                    <m:oMathParaPr>
                      <m:jc m:val="centerGroup"/>
                    </m:oMathParaPr>
                    <m:oMath xmlns:m="http://schemas.openxmlformats.org/officeDocument/2006/math">
                      <m:sSubSup>
                        <m:sSubSupPr>
                          <m:ctrlPr>
                            <a:rPr lang="en-US" altLang="ja-JP" b="0" i="1" smtClean="0">
                              <a:latin typeface="Cambria Math" panose="02040503050406030204" pitchFamily="18" charset="0"/>
                            </a:rPr>
                          </m:ctrlPr>
                        </m:sSubSupPr>
                        <m:e>
                          <m:r>
                            <a:rPr lang="en-US" altLang="ja-JP" b="0" i="1" smtClean="0">
                              <a:latin typeface="Cambria Math" panose="02040503050406030204" pitchFamily="18" charset="0"/>
                            </a:rPr>
                            <m:t>𝑓</m:t>
                          </m:r>
                        </m:e>
                        <m:sub>
                          <m:r>
                            <a:rPr lang="en-US" altLang="ja-JP" b="0" i="1" smtClean="0">
                              <a:latin typeface="Cambria Math" panose="02040503050406030204" pitchFamily="18" charset="0"/>
                            </a:rPr>
                            <m:t>𝑗</m:t>
                          </m:r>
                        </m:sub>
                        <m:sup>
                          <m:r>
                            <a:rPr lang="en-US" altLang="ja-JP" b="0" i="1" smtClean="0">
                              <a:latin typeface="Cambria Math" panose="02040503050406030204" pitchFamily="18" charset="0"/>
                            </a:rPr>
                            <m:t>′</m:t>
                          </m:r>
                        </m:sup>
                      </m:sSubSup>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e>
                        <m:sub>
                          <m:r>
                            <a:rPr lang="en-US" altLang="ja-JP" b="0" i="1" smtClean="0">
                              <a:latin typeface="Cambria Math" panose="02040503050406030204" pitchFamily="18" charset="0"/>
                            </a:rPr>
                            <m:t>𝑗</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𝛼</m:t>
                          </m:r>
                        </m:e>
                        <m:sub>
                          <m:r>
                            <a:rPr lang="en-US" altLang="ja-JP" b="0" i="1" smtClean="0">
                              <a:latin typeface="Cambria Math" panose="02040503050406030204" pitchFamily="18" charset="0"/>
                            </a:rPr>
                            <m:t>𝑗</m:t>
                          </m:r>
                        </m:sub>
                      </m:sSub>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h</m:t>
                          </m:r>
                        </m:e>
                        <m:sub>
                          <m:r>
                            <a:rPr lang="en-US" altLang="ja-JP" b="0" i="1" smtClean="0">
                              <a:latin typeface="Cambria Math" panose="02040503050406030204" pitchFamily="18" charset="0"/>
                            </a:rPr>
                            <m:t>𝑖</m:t>
                          </m:r>
                        </m:sub>
                      </m:sSub>
                      <m:r>
                        <a:rPr lang="en-US" altLang="ja-JP" b="0" i="0" smtClean="0">
                          <a:latin typeface="Cambria Math" panose="02040503050406030204" pitchFamily="18" charset="0"/>
                        </a:rPr>
                        <m:t>.</m:t>
                      </m:r>
                    </m:oMath>
                  </m:oMathPara>
                </a14:m>
                <a:endParaRPr lang="en-US" altLang="ja-JP" b="0"/>
              </a:p>
              <a:p>
                <a:endParaRPr lang="en-US" altLang="ja-JP"/>
              </a:p>
              <a:p>
                <a:r>
                  <a:rPr lang="ja-JP" altLang="en-US"/>
                  <a:t>すると</a:t>
                </a:r>
                <a:r>
                  <a:rPr lang="en-US" altLang="ja-JP"/>
                  <a:t>, </a:t>
                </a:r>
                <a:r>
                  <a:rPr lang="ja-JP" altLang="en-US"/>
                  <a:t>除外鍵の構成により要請を満たす</a:t>
                </a:r>
                <a:r>
                  <a:rPr lang="en-US" altLang="ja-JP"/>
                  <a:t>.</a:t>
                </a:r>
              </a:p>
            </p:txBody>
          </p:sp>
        </mc:Choice>
        <mc:Fallback xmlns="">
          <p:sp>
            <p:nvSpPr>
              <p:cNvPr id="6" name="テキスト ボックス 5">
                <a:extLst>
                  <a:ext uri="{FF2B5EF4-FFF2-40B4-BE49-F238E27FC236}">
                    <a16:creationId xmlns:a16="http://schemas.microsoft.com/office/drawing/2014/main" id="{1C378A8B-E8E4-3133-7B0F-67B144AE002D}"/>
                  </a:ext>
                </a:extLst>
              </p:cNvPr>
              <p:cNvSpPr txBox="1">
                <a:spLocks noRot="1" noChangeAspect="1" noMove="1" noResize="1" noEditPoints="1" noAdjustHandles="1" noChangeArrowheads="1" noChangeShapeType="1" noTextEdit="1"/>
              </p:cNvSpPr>
              <p:nvPr/>
            </p:nvSpPr>
            <p:spPr>
              <a:xfrm>
                <a:off x="180000" y="1501629"/>
                <a:ext cx="9873842" cy="3059299"/>
              </a:xfrm>
              <a:prstGeom prst="rect">
                <a:avLst/>
              </a:prstGeom>
              <a:blipFill>
                <a:blip r:embed="rId2"/>
                <a:stretch>
                  <a:fillRect l="-556" t="-797" b="-219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85585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0A035-75A8-6060-6400-75FC2DA7DA57}"/>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E826482-095B-BE39-A69C-3BC926F373D1}"/>
              </a:ext>
            </a:extLst>
          </p:cNvPr>
          <p:cNvSpPr txBox="1"/>
          <p:nvPr/>
        </p:nvSpPr>
        <p:spPr>
          <a:xfrm>
            <a:off x="180000" y="180000"/>
            <a:ext cx="5558070" cy="584775"/>
          </a:xfrm>
          <a:prstGeom prst="rect">
            <a:avLst/>
          </a:prstGeom>
          <a:noFill/>
        </p:spPr>
        <p:txBody>
          <a:bodyPr wrap="square" rtlCol="0">
            <a:spAutoFit/>
          </a:bodyPr>
          <a:lstStyle/>
          <a:p>
            <a:r>
              <a:rPr lang="en-US" altLang="ja-JP" sz="3200" b="1">
                <a:solidFill>
                  <a:schemeClr val="accent4">
                    <a:lumMod val="75000"/>
                  </a:schemeClr>
                </a:solidFill>
              </a:rPr>
              <a:t>3.</a:t>
            </a:r>
            <a:r>
              <a:rPr lang="ja-JP" altLang="en-US" sz="3200" b="1">
                <a:solidFill>
                  <a:schemeClr val="accent4">
                    <a:lumMod val="75000"/>
                  </a:schemeClr>
                </a:solidFill>
              </a:rPr>
              <a:t> 応用例</a:t>
            </a:r>
            <a:endParaRPr lang="en-US" altLang="ja-JP" sz="3200" b="1" dirty="0">
              <a:solidFill>
                <a:schemeClr val="accent4">
                  <a:lumMod val="75000"/>
                </a:schemeClr>
              </a:solidFill>
            </a:endParaRPr>
          </a:p>
        </p:txBody>
      </p:sp>
      <p:sp>
        <p:nvSpPr>
          <p:cNvPr id="5" name="テキスト ボックス 4">
            <a:extLst>
              <a:ext uri="{FF2B5EF4-FFF2-40B4-BE49-F238E27FC236}">
                <a16:creationId xmlns:a16="http://schemas.microsoft.com/office/drawing/2014/main" id="{8327AF71-3B92-B53C-DF53-F8CA5F345D69}"/>
              </a:ext>
            </a:extLst>
          </p:cNvPr>
          <p:cNvSpPr txBox="1"/>
          <p:nvPr/>
        </p:nvSpPr>
        <p:spPr>
          <a:xfrm>
            <a:off x="180000" y="764775"/>
            <a:ext cx="7227479" cy="461665"/>
          </a:xfrm>
          <a:prstGeom prst="rect">
            <a:avLst/>
          </a:prstGeom>
          <a:noFill/>
        </p:spPr>
        <p:txBody>
          <a:bodyPr wrap="square" rtlCol="0">
            <a:spAutoFit/>
          </a:bodyPr>
          <a:lstStyle/>
          <a:p>
            <a:r>
              <a:rPr kumimoji="1" lang="en-US" altLang="ja-JP" sz="2400" b="1">
                <a:solidFill>
                  <a:schemeClr val="accent4">
                    <a:lumMod val="75000"/>
                  </a:schemeClr>
                </a:solidFill>
              </a:rPr>
              <a:t>3-1. </a:t>
            </a:r>
            <a:r>
              <a:rPr lang="ja-JP" altLang="en-US" sz="2400" b="1">
                <a:solidFill>
                  <a:schemeClr val="accent4">
                    <a:lumMod val="75000"/>
                  </a:schemeClr>
                </a:solidFill>
              </a:rPr>
              <a:t>集合的な人格としての署名</a:t>
            </a:r>
            <a:endParaRPr kumimoji="1" lang="ja-JP" altLang="en-US" sz="2400" b="1" dirty="0">
              <a:solidFill>
                <a:schemeClr val="accent4">
                  <a:lumMod val="75000"/>
                </a:schemeClr>
              </a:solidFill>
            </a:endParaRPr>
          </a:p>
        </p:txBody>
      </p:sp>
      <p:pic>
        <p:nvPicPr>
          <p:cNvPr id="1026" name="Picture 2">
            <a:extLst>
              <a:ext uri="{FF2B5EF4-FFF2-40B4-BE49-F238E27FC236}">
                <a16:creationId xmlns:a16="http://schemas.microsoft.com/office/drawing/2014/main" id="{F9095342-E82B-7813-9C7B-46AD77FF46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5817" y="2857500"/>
            <a:ext cx="571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1508369-D01A-E43C-A3FA-BEC844A59D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0459" y="2857500"/>
            <a:ext cx="571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9BFDE72F-6FCA-A3EC-465F-E4EE2A7A58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101" y="2857500"/>
            <a:ext cx="571500" cy="571500"/>
          </a:xfrm>
          <a:prstGeom prst="rect">
            <a:avLst/>
          </a:prstGeom>
          <a:noFill/>
          <a:extLst>
            <a:ext uri="{909E8E84-426E-40DD-AFC4-6F175D3DCCD1}">
              <a14:hiddenFill xmlns:a14="http://schemas.microsoft.com/office/drawing/2010/main">
                <a:solidFill>
                  <a:srgbClr val="FFFFFF"/>
                </a:solidFill>
              </a14:hiddenFill>
            </a:ext>
          </a:extLst>
        </p:spPr>
      </p:pic>
      <p:sp>
        <p:nvSpPr>
          <p:cNvPr id="15" name="テキスト ボックス 14">
            <a:extLst>
              <a:ext uri="{FF2B5EF4-FFF2-40B4-BE49-F238E27FC236}">
                <a16:creationId xmlns:a16="http://schemas.microsoft.com/office/drawing/2014/main" id="{A9DF2DEA-9410-3A77-0E5E-FC345898D53D}"/>
              </a:ext>
            </a:extLst>
          </p:cNvPr>
          <p:cNvSpPr txBox="1"/>
          <p:nvPr/>
        </p:nvSpPr>
        <p:spPr>
          <a:xfrm>
            <a:off x="180000" y="1565632"/>
            <a:ext cx="8598716" cy="369332"/>
          </a:xfrm>
          <a:prstGeom prst="rect">
            <a:avLst/>
          </a:prstGeom>
          <a:noFill/>
        </p:spPr>
        <p:txBody>
          <a:bodyPr wrap="square" rtlCol="0">
            <a:spAutoFit/>
          </a:bodyPr>
          <a:lstStyle/>
          <a:p>
            <a:r>
              <a:rPr lang="ja-JP" altLang="en-US"/>
              <a:t>今この</a:t>
            </a:r>
            <a:r>
              <a:rPr lang="en-US" altLang="ja-JP"/>
              <a:t>3</a:t>
            </a:r>
            <a:r>
              <a:rPr lang="ja-JP" altLang="en-US"/>
              <a:t>人は同じ権限を持ち</a:t>
            </a:r>
            <a:r>
              <a:rPr lang="en-US" altLang="ja-JP"/>
              <a:t>, </a:t>
            </a:r>
            <a:r>
              <a:rPr lang="ja-JP" altLang="en-US"/>
              <a:t>誰か一人でも文書に署名すればいいものとする</a:t>
            </a:r>
            <a:r>
              <a:rPr lang="en-US" altLang="ja-JP"/>
              <a:t>.</a:t>
            </a:r>
            <a:endParaRPr kumimoji="1" lang="ja-JP" altLang="en-US"/>
          </a:p>
        </p:txBody>
      </p:sp>
      <p:sp>
        <p:nvSpPr>
          <p:cNvPr id="16" name="正方形/長方形 15">
            <a:extLst>
              <a:ext uri="{FF2B5EF4-FFF2-40B4-BE49-F238E27FC236}">
                <a16:creationId xmlns:a16="http://schemas.microsoft.com/office/drawing/2014/main" id="{F8D3DE3E-6B60-0075-B4B5-3D72A52048B8}"/>
              </a:ext>
            </a:extLst>
          </p:cNvPr>
          <p:cNvSpPr/>
          <p:nvPr/>
        </p:nvSpPr>
        <p:spPr>
          <a:xfrm>
            <a:off x="788565" y="2638647"/>
            <a:ext cx="3875714" cy="1480347"/>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32" name="Picture 8">
            <a:extLst>
              <a:ext uri="{FF2B5EF4-FFF2-40B4-BE49-F238E27FC236}">
                <a16:creationId xmlns:a16="http://schemas.microsoft.com/office/drawing/2014/main" id="{C266368D-963F-C9B8-7CF8-7A42996B9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3590" y="2857500"/>
            <a:ext cx="571500" cy="571500"/>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直線矢印コネクタ 17">
            <a:extLst>
              <a:ext uri="{FF2B5EF4-FFF2-40B4-BE49-F238E27FC236}">
                <a16:creationId xmlns:a16="http://schemas.microsoft.com/office/drawing/2014/main" id="{CA3FE7CE-D5FA-9B45-BFC4-B4E8E2175A77}"/>
              </a:ext>
            </a:extLst>
          </p:cNvPr>
          <p:cNvCxnSpPr/>
          <p:nvPr/>
        </p:nvCxnSpPr>
        <p:spPr>
          <a:xfrm flipV="1">
            <a:off x="4899171" y="3143250"/>
            <a:ext cx="1263941" cy="71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6524547F-10FC-C82C-3759-0D10821F750F}"/>
              </a:ext>
            </a:extLst>
          </p:cNvPr>
          <p:cNvSpPr txBox="1"/>
          <p:nvPr/>
        </p:nvSpPr>
        <p:spPr>
          <a:xfrm>
            <a:off x="180000" y="1969151"/>
            <a:ext cx="8598716" cy="369332"/>
          </a:xfrm>
          <a:prstGeom prst="rect">
            <a:avLst/>
          </a:prstGeom>
          <a:noFill/>
        </p:spPr>
        <p:txBody>
          <a:bodyPr wrap="square" rtlCol="0">
            <a:spAutoFit/>
          </a:bodyPr>
          <a:lstStyle/>
          <a:p>
            <a:r>
              <a:rPr kumimoji="1" lang="en-US" altLang="ja-JP"/>
              <a:t>MZ-UOV</a:t>
            </a:r>
            <a:r>
              <a:rPr kumimoji="1" lang="ja-JP" altLang="en-US"/>
              <a:t>の秘密鍵をそれぞれに分配すれば</a:t>
            </a:r>
            <a:r>
              <a:rPr kumimoji="1" lang="en-US" altLang="ja-JP"/>
              <a:t>, </a:t>
            </a:r>
            <a:r>
              <a:rPr kumimoji="1" lang="ja-JP" altLang="en-US"/>
              <a:t>これは実現できる</a:t>
            </a:r>
            <a:r>
              <a:rPr kumimoji="1" lang="en-US" altLang="ja-JP"/>
              <a:t>.</a:t>
            </a:r>
            <a:endParaRPr kumimoji="1" lang="ja-JP" altLang="en-US"/>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D7C9182F-2327-E66D-F8FF-84ECEA5ED636}"/>
                  </a:ext>
                </a:extLst>
              </p:cNvPr>
              <p:cNvSpPr txBox="1"/>
              <p:nvPr/>
            </p:nvSpPr>
            <p:spPr>
              <a:xfrm>
                <a:off x="1053699" y="3498331"/>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sk</m:t>
                          </m:r>
                        </m:e>
                        <m:sub>
                          <m:r>
                            <a:rPr kumimoji="1" lang="en-US" altLang="ja-JP" sz="2400" b="0" i="1" smtClean="0">
                              <a:latin typeface="Cambria Math" panose="02040503050406030204" pitchFamily="18" charset="0"/>
                            </a:rPr>
                            <m:t>1</m:t>
                          </m:r>
                        </m:sub>
                      </m:sSub>
                    </m:oMath>
                  </m:oMathPara>
                </a14:m>
                <a:endParaRPr kumimoji="1" lang="ja-JP" altLang="en-US" sz="2400"/>
              </a:p>
            </p:txBody>
          </p:sp>
        </mc:Choice>
        <mc:Fallback xmlns="">
          <p:sp>
            <p:nvSpPr>
              <p:cNvPr id="20" name="テキスト ボックス 19">
                <a:extLst>
                  <a:ext uri="{FF2B5EF4-FFF2-40B4-BE49-F238E27FC236}">
                    <a16:creationId xmlns:a16="http://schemas.microsoft.com/office/drawing/2014/main" id="{D7C9182F-2327-E66D-F8FF-84ECEA5ED636}"/>
                  </a:ext>
                </a:extLst>
              </p:cNvPr>
              <p:cNvSpPr txBox="1">
                <a:spLocks noRot="1" noChangeAspect="1" noMove="1" noResize="1" noEditPoints="1" noAdjustHandles="1" noChangeArrowheads="1" noChangeShapeType="1" noTextEdit="1"/>
              </p:cNvSpPr>
              <p:nvPr/>
            </p:nvSpPr>
            <p:spPr>
              <a:xfrm>
                <a:off x="1053699" y="3498331"/>
                <a:ext cx="1115736" cy="461665"/>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5B66A993-4BCA-C1F5-FA2D-ECFB85872B98}"/>
                  </a:ext>
                </a:extLst>
              </p:cNvPr>
              <p:cNvSpPr txBox="1"/>
              <p:nvPr/>
            </p:nvSpPr>
            <p:spPr>
              <a:xfrm>
                <a:off x="2178341" y="3498330"/>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sk</m:t>
                          </m:r>
                        </m:e>
                        <m:sub>
                          <m:r>
                            <a:rPr kumimoji="1" lang="en-US" altLang="ja-JP" sz="2400" b="0" i="1" smtClean="0">
                              <a:latin typeface="Cambria Math" panose="02040503050406030204" pitchFamily="18" charset="0"/>
                            </a:rPr>
                            <m:t>2</m:t>
                          </m:r>
                        </m:sub>
                      </m:sSub>
                    </m:oMath>
                  </m:oMathPara>
                </a14:m>
                <a:endParaRPr kumimoji="1" lang="ja-JP" altLang="en-US" sz="2400"/>
              </a:p>
            </p:txBody>
          </p:sp>
        </mc:Choice>
        <mc:Fallback xmlns="">
          <p:sp>
            <p:nvSpPr>
              <p:cNvPr id="21" name="テキスト ボックス 20">
                <a:extLst>
                  <a:ext uri="{FF2B5EF4-FFF2-40B4-BE49-F238E27FC236}">
                    <a16:creationId xmlns:a16="http://schemas.microsoft.com/office/drawing/2014/main" id="{5B66A993-4BCA-C1F5-FA2D-ECFB85872B98}"/>
                  </a:ext>
                </a:extLst>
              </p:cNvPr>
              <p:cNvSpPr txBox="1">
                <a:spLocks noRot="1" noChangeAspect="1" noMove="1" noResize="1" noEditPoints="1" noAdjustHandles="1" noChangeArrowheads="1" noChangeShapeType="1" noTextEdit="1"/>
              </p:cNvSpPr>
              <p:nvPr/>
            </p:nvSpPr>
            <p:spPr>
              <a:xfrm>
                <a:off x="2178341" y="3498330"/>
                <a:ext cx="1115736" cy="461665"/>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851E37D0-2AD2-5B59-AA01-874580BA4C04}"/>
                  </a:ext>
                </a:extLst>
              </p:cNvPr>
              <p:cNvSpPr txBox="1"/>
              <p:nvPr/>
            </p:nvSpPr>
            <p:spPr>
              <a:xfrm>
                <a:off x="3363622" y="3498330"/>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sk</m:t>
                          </m:r>
                        </m:e>
                        <m:sub>
                          <m:r>
                            <a:rPr kumimoji="1" lang="en-US" altLang="ja-JP" sz="2400" b="0" i="1" smtClean="0">
                              <a:latin typeface="Cambria Math" panose="02040503050406030204" pitchFamily="18" charset="0"/>
                            </a:rPr>
                            <m:t>3</m:t>
                          </m:r>
                        </m:sub>
                      </m:sSub>
                    </m:oMath>
                  </m:oMathPara>
                </a14:m>
                <a:endParaRPr kumimoji="1" lang="ja-JP" altLang="en-US" sz="2400"/>
              </a:p>
            </p:txBody>
          </p:sp>
        </mc:Choice>
        <mc:Fallback xmlns="">
          <p:sp>
            <p:nvSpPr>
              <p:cNvPr id="22" name="テキスト ボックス 21">
                <a:extLst>
                  <a:ext uri="{FF2B5EF4-FFF2-40B4-BE49-F238E27FC236}">
                    <a16:creationId xmlns:a16="http://schemas.microsoft.com/office/drawing/2014/main" id="{851E37D0-2AD2-5B59-AA01-874580BA4C04}"/>
                  </a:ext>
                </a:extLst>
              </p:cNvPr>
              <p:cNvSpPr txBox="1">
                <a:spLocks noRot="1" noChangeAspect="1" noMove="1" noResize="1" noEditPoints="1" noAdjustHandles="1" noChangeArrowheads="1" noChangeShapeType="1" noTextEdit="1"/>
              </p:cNvSpPr>
              <p:nvPr/>
            </p:nvSpPr>
            <p:spPr>
              <a:xfrm>
                <a:off x="3363622" y="3498330"/>
                <a:ext cx="1115736" cy="461665"/>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53E24FD3-EA54-E39A-4777-50D4876D4F7A}"/>
                  </a:ext>
                </a:extLst>
              </p:cNvPr>
              <p:cNvSpPr txBox="1"/>
              <p:nvPr/>
            </p:nvSpPr>
            <p:spPr>
              <a:xfrm>
                <a:off x="4376257" y="3707626"/>
                <a:ext cx="126394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sz="2400" i="0" smtClean="0">
                          <a:latin typeface="Cambria Math" panose="02040503050406030204" pitchFamily="18" charset="0"/>
                        </a:rPr>
                        <m:t>pk</m:t>
                      </m:r>
                    </m:oMath>
                  </m:oMathPara>
                </a14:m>
                <a:endParaRPr/>
              </a:p>
            </p:txBody>
          </p:sp>
        </mc:Choice>
        <mc:Fallback xmlns="">
          <p:sp>
            <p:nvSpPr>
              <p:cNvPr id="23" name="テキスト ボックス 22">
                <a:extLst>
                  <a:ext uri="{FF2B5EF4-FFF2-40B4-BE49-F238E27FC236}">
                    <a16:creationId xmlns:a16="http://schemas.microsoft.com/office/drawing/2014/main" id="{53E24FD3-EA54-E39A-4777-50D4876D4F7A}"/>
                  </a:ext>
                </a:extLst>
              </p:cNvPr>
              <p:cNvSpPr txBox="1">
                <a:spLocks noRot="1" noChangeAspect="1" noMove="1" noResize="1" noEditPoints="1" noAdjustHandles="1" noChangeArrowheads="1" noChangeShapeType="1" noTextEdit="1"/>
              </p:cNvSpPr>
              <p:nvPr/>
            </p:nvSpPr>
            <p:spPr>
              <a:xfrm>
                <a:off x="4376257" y="3707626"/>
                <a:ext cx="1263941" cy="461665"/>
              </a:xfrm>
              <a:prstGeom prst="rect">
                <a:avLst/>
              </a:prstGeom>
              <a:blipFill>
                <a:blip r:embed="rId7"/>
                <a:stretch>
                  <a:fillRect t="-10526" b="-28947"/>
                </a:stretch>
              </a:blipFill>
            </p:spPr>
            <p:txBody>
              <a:bodyPr/>
              <a:lstStyle/>
              <a:p>
                <a:r>
                  <a:rPr lang="ja-JP" altLang="en-US">
                    <a:noFill/>
                  </a:rPr>
                  <a:t> </a:t>
                </a:r>
              </a:p>
            </p:txBody>
          </p:sp>
        </mc:Fallback>
      </mc:AlternateContent>
      <p:sp>
        <p:nvSpPr>
          <p:cNvPr id="24" name="テキスト ボックス 23">
            <a:extLst>
              <a:ext uri="{FF2B5EF4-FFF2-40B4-BE49-F238E27FC236}">
                <a16:creationId xmlns:a16="http://schemas.microsoft.com/office/drawing/2014/main" id="{C67A4566-6D0F-55B8-4D0E-B0154ECDE59B}"/>
              </a:ext>
            </a:extLst>
          </p:cNvPr>
          <p:cNvSpPr txBox="1"/>
          <p:nvPr/>
        </p:nvSpPr>
        <p:spPr>
          <a:xfrm>
            <a:off x="6353423" y="3429000"/>
            <a:ext cx="3590488" cy="369332"/>
          </a:xfrm>
          <a:prstGeom prst="rect">
            <a:avLst/>
          </a:prstGeom>
          <a:noFill/>
        </p:spPr>
        <p:txBody>
          <a:bodyPr wrap="square" rtlCol="0">
            <a:spAutoFit/>
          </a:bodyPr>
          <a:lstStyle/>
          <a:p>
            <a:r>
              <a:rPr lang="en-US" altLang="ja-JP"/>
              <a:t>pk</a:t>
            </a:r>
            <a:r>
              <a:rPr lang="ja-JP" altLang="en-US"/>
              <a:t>で</a:t>
            </a:r>
            <a:r>
              <a:rPr kumimoji="1" lang="ja-JP" altLang="en-US"/>
              <a:t>検証が通れば</a:t>
            </a:r>
            <a:r>
              <a:rPr kumimoji="1" lang="en-US" altLang="ja-JP"/>
              <a:t>ok</a:t>
            </a:r>
            <a:r>
              <a:rPr kumimoji="1" lang="ja-JP" altLang="en-US"/>
              <a:t>な文書</a:t>
            </a:r>
          </a:p>
        </p:txBody>
      </p:sp>
      <p:sp>
        <p:nvSpPr>
          <p:cNvPr id="25" name="テキスト ボックス 24">
            <a:extLst>
              <a:ext uri="{FF2B5EF4-FFF2-40B4-BE49-F238E27FC236}">
                <a16:creationId xmlns:a16="http://schemas.microsoft.com/office/drawing/2014/main" id="{2DCF3B7F-1218-F57A-0D78-D3593597A386}"/>
              </a:ext>
            </a:extLst>
          </p:cNvPr>
          <p:cNvSpPr txBox="1"/>
          <p:nvPr/>
        </p:nvSpPr>
        <p:spPr>
          <a:xfrm>
            <a:off x="179999" y="4609345"/>
            <a:ext cx="11531031" cy="1200329"/>
          </a:xfrm>
          <a:prstGeom prst="rect">
            <a:avLst/>
          </a:prstGeom>
          <a:noFill/>
        </p:spPr>
        <p:txBody>
          <a:bodyPr wrap="square" rtlCol="0">
            <a:spAutoFit/>
          </a:bodyPr>
          <a:lstStyle/>
          <a:p>
            <a:r>
              <a:rPr kumimoji="1" lang="ja-JP" altLang="en-US" b="1"/>
              <a:t>メンバーが増えたり減ったりするたびに</a:t>
            </a:r>
            <a:r>
              <a:rPr kumimoji="1" lang="en-US" altLang="ja-JP" b="1"/>
              <a:t>, </a:t>
            </a:r>
            <a:r>
              <a:rPr kumimoji="1" lang="ja-JP" altLang="en-US" b="1"/>
              <a:t>鍵生成や登録をやり直して</a:t>
            </a:r>
            <a:r>
              <a:rPr kumimoji="1" lang="en-US" altLang="ja-JP" b="1"/>
              <a:t>, </a:t>
            </a:r>
            <a:r>
              <a:rPr kumimoji="1" lang="ja-JP" altLang="en-US" b="1"/>
              <a:t>関係ないメンバーの秘密鍵まで更新されるのはとても不便</a:t>
            </a:r>
            <a:r>
              <a:rPr kumimoji="1" lang="en-US" altLang="ja-JP"/>
              <a:t>. (UOV</a:t>
            </a:r>
            <a:r>
              <a:rPr kumimoji="1" lang="ja-JP" altLang="en-US"/>
              <a:t>コピー方式だとそうなる</a:t>
            </a:r>
            <a:r>
              <a:rPr kumimoji="1" lang="en-US" altLang="ja-JP"/>
              <a:t>)</a:t>
            </a:r>
          </a:p>
          <a:p>
            <a:r>
              <a:rPr lang="ja-JP" altLang="en-US"/>
              <a:t>そこで</a:t>
            </a:r>
            <a:r>
              <a:rPr lang="en-US" altLang="ja-JP"/>
              <a:t>, </a:t>
            </a:r>
            <a:r>
              <a:rPr lang="ja-JP" altLang="en-US"/>
              <a:t>増えたり減ったりする当事者以外のメンバーは何もしなくていいように</a:t>
            </a:r>
            <a:r>
              <a:rPr lang="en-US" altLang="ja-JP"/>
              <a:t>, </a:t>
            </a:r>
            <a:r>
              <a:rPr lang="ja-JP" altLang="en-US"/>
              <a:t>更新鍵を使って公開鍵を更新すればよい</a:t>
            </a:r>
            <a:r>
              <a:rPr lang="en-US" altLang="ja-JP"/>
              <a:t>.</a:t>
            </a:r>
            <a:endParaRPr kumimoji="1" lang="ja-JP" altLang="en-US"/>
          </a:p>
        </p:txBody>
      </p:sp>
    </p:spTree>
    <p:extLst>
      <p:ext uri="{BB962C8B-B14F-4D97-AF65-F5344CB8AC3E}">
        <p14:creationId xmlns:p14="http://schemas.microsoft.com/office/powerpoint/2010/main" val="2624080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70951-5A1F-E0E6-6ED1-ABF3EB80006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29A0B2C-FCF7-9F20-8685-84A69882F1A5}"/>
              </a:ext>
            </a:extLst>
          </p:cNvPr>
          <p:cNvSpPr txBox="1"/>
          <p:nvPr/>
        </p:nvSpPr>
        <p:spPr>
          <a:xfrm>
            <a:off x="180000" y="180000"/>
            <a:ext cx="5558070" cy="584775"/>
          </a:xfrm>
          <a:prstGeom prst="rect">
            <a:avLst/>
          </a:prstGeom>
          <a:noFill/>
        </p:spPr>
        <p:txBody>
          <a:bodyPr wrap="square" rtlCol="0">
            <a:spAutoFit/>
          </a:bodyPr>
          <a:lstStyle/>
          <a:p>
            <a:r>
              <a:rPr lang="en-US" altLang="ja-JP" sz="3200" b="1">
                <a:solidFill>
                  <a:schemeClr val="accent4">
                    <a:lumMod val="75000"/>
                  </a:schemeClr>
                </a:solidFill>
              </a:rPr>
              <a:t>3.</a:t>
            </a:r>
            <a:r>
              <a:rPr lang="ja-JP" altLang="en-US" sz="3200" b="1">
                <a:solidFill>
                  <a:schemeClr val="accent4">
                    <a:lumMod val="75000"/>
                  </a:schemeClr>
                </a:solidFill>
              </a:rPr>
              <a:t> 応用例</a:t>
            </a:r>
            <a:endParaRPr lang="en-US" altLang="ja-JP" sz="3200" b="1" dirty="0">
              <a:solidFill>
                <a:schemeClr val="accent4">
                  <a:lumMod val="75000"/>
                </a:schemeClr>
              </a:solidFill>
            </a:endParaRPr>
          </a:p>
        </p:txBody>
      </p:sp>
      <p:sp>
        <p:nvSpPr>
          <p:cNvPr id="5" name="テキスト ボックス 4">
            <a:extLst>
              <a:ext uri="{FF2B5EF4-FFF2-40B4-BE49-F238E27FC236}">
                <a16:creationId xmlns:a16="http://schemas.microsoft.com/office/drawing/2014/main" id="{6AA412D0-D872-AB86-C2D9-A20294E50B39}"/>
              </a:ext>
            </a:extLst>
          </p:cNvPr>
          <p:cNvSpPr txBox="1"/>
          <p:nvPr/>
        </p:nvSpPr>
        <p:spPr>
          <a:xfrm>
            <a:off x="180000" y="764775"/>
            <a:ext cx="8687163" cy="461665"/>
          </a:xfrm>
          <a:prstGeom prst="rect">
            <a:avLst/>
          </a:prstGeom>
          <a:noFill/>
        </p:spPr>
        <p:txBody>
          <a:bodyPr wrap="square" rtlCol="0">
            <a:spAutoFit/>
          </a:bodyPr>
          <a:lstStyle/>
          <a:p>
            <a:r>
              <a:rPr kumimoji="1" lang="en-US" altLang="ja-JP" sz="2400" b="1">
                <a:solidFill>
                  <a:schemeClr val="accent4">
                    <a:lumMod val="75000"/>
                  </a:schemeClr>
                </a:solidFill>
              </a:rPr>
              <a:t>3-2. </a:t>
            </a:r>
            <a:r>
              <a:rPr kumimoji="1" lang="ja-JP" altLang="en-US" sz="2400" b="1">
                <a:solidFill>
                  <a:schemeClr val="accent4">
                    <a:lumMod val="75000"/>
                  </a:schemeClr>
                </a:solidFill>
              </a:rPr>
              <a:t>スペアキー・プロキシ署名・タイムスタンプ</a:t>
            </a:r>
            <a:endParaRPr kumimoji="1" lang="ja-JP" altLang="en-US" sz="2400" b="1" dirty="0">
              <a:solidFill>
                <a:schemeClr val="accent4">
                  <a:lumMod val="75000"/>
                </a:schemeClr>
              </a:solidFill>
            </a:endParaRPr>
          </a:p>
        </p:txBody>
      </p:sp>
      <p:sp>
        <p:nvSpPr>
          <p:cNvPr id="2" name="テキスト ボックス 1">
            <a:extLst>
              <a:ext uri="{FF2B5EF4-FFF2-40B4-BE49-F238E27FC236}">
                <a16:creationId xmlns:a16="http://schemas.microsoft.com/office/drawing/2014/main" id="{B29704B0-9D84-18D1-806A-D69D3E584404}"/>
              </a:ext>
            </a:extLst>
          </p:cNvPr>
          <p:cNvSpPr txBox="1"/>
          <p:nvPr/>
        </p:nvSpPr>
        <p:spPr>
          <a:xfrm>
            <a:off x="180000" y="1995882"/>
            <a:ext cx="11235656" cy="369332"/>
          </a:xfrm>
          <a:prstGeom prst="rect">
            <a:avLst/>
          </a:prstGeom>
          <a:noFill/>
        </p:spPr>
        <p:txBody>
          <a:bodyPr wrap="square" rtlCol="0">
            <a:spAutoFit/>
          </a:bodyPr>
          <a:lstStyle/>
          <a:p>
            <a:r>
              <a:rPr kumimoji="1" lang="ja-JP" altLang="en-US"/>
              <a:t>オンラインに配置した秘密鍵が漏洩してもいいように</a:t>
            </a:r>
            <a:r>
              <a:rPr kumimoji="1" lang="en-US" altLang="ja-JP"/>
              <a:t>, </a:t>
            </a:r>
            <a:r>
              <a:rPr kumimoji="1" lang="ja-JP" altLang="en-US"/>
              <a:t>オフラインにスペアキーと更新鍵を保存すればよい</a:t>
            </a:r>
            <a:r>
              <a:rPr kumimoji="1" lang="en-US" altLang="ja-JP"/>
              <a:t>.</a:t>
            </a:r>
          </a:p>
        </p:txBody>
      </p:sp>
      <p:sp>
        <p:nvSpPr>
          <p:cNvPr id="6" name="テキスト ボックス 5">
            <a:extLst>
              <a:ext uri="{FF2B5EF4-FFF2-40B4-BE49-F238E27FC236}">
                <a16:creationId xmlns:a16="http://schemas.microsoft.com/office/drawing/2014/main" id="{1C394C2E-94B0-2985-A32F-94D77581FC1A}"/>
              </a:ext>
            </a:extLst>
          </p:cNvPr>
          <p:cNvSpPr txBox="1"/>
          <p:nvPr/>
        </p:nvSpPr>
        <p:spPr>
          <a:xfrm>
            <a:off x="180000" y="1411106"/>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スペアキー</a:t>
            </a:r>
            <a:endParaRPr kumimoji="1" lang="ja-JP" altLang="en-US" sz="2000" b="1" dirty="0"/>
          </a:p>
        </p:txBody>
      </p:sp>
      <p:sp>
        <p:nvSpPr>
          <p:cNvPr id="7" name="テキスト ボックス 6">
            <a:extLst>
              <a:ext uri="{FF2B5EF4-FFF2-40B4-BE49-F238E27FC236}">
                <a16:creationId xmlns:a16="http://schemas.microsoft.com/office/drawing/2014/main" id="{2FE9A66E-C307-38C9-6850-76FA1EC19E8F}"/>
              </a:ext>
            </a:extLst>
          </p:cNvPr>
          <p:cNvSpPr txBox="1"/>
          <p:nvPr/>
        </p:nvSpPr>
        <p:spPr>
          <a:xfrm>
            <a:off x="180000" y="2549880"/>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プロキシ署名</a:t>
            </a:r>
            <a:endParaRPr kumimoji="1" lang="ja-JP" altLang="en-US" sz="2000" b="1" dirty="0"/>
          </a:p>
        </p:txBody>
      </p:sp>
      <p:sp>
        <p:nvSpPr>
          <p:cNvPr id="16" name="テキスト ボックス 15">
            <a:extLst>
              <a:ext uri="{FF2B5EF4-FFF2-40B4-BE49-F238E27FC236}">
                <a16:creationId xmlns:a16="http://schemas.microsoft.com/office/drawing/2014/main" id="{4DA40297-96CE-F90B-5224-8C87BCF5E801}"/>
              </a:ext>
            </a:extLst>
          </p:cNvPr>
          <p:cNvSpPr txBox="1"/>
          <p:nvPr/>
        </p:nvSpPr>
        <p:spPr>
          <a:xfrm>
            <a:off x="180000" y="3728876"/>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タイムスタンプ</a:t>
            </a:r>
            <a:endParaRPr kumimoji="1" lang="ja-JP" altLang="en-US" sz="2000" b="1" dirty="0"/>
          </a:p>
        </p:txBody>
      </p:sp>
      <p:sp>
        <p:nvSpPr>
          <p:cNvPr id="18" name="テキスト ボックス 17">
            <a:extLst>
              <a:ext uri="{FF2B5EF4-FFF2-40B4-BE49-F238E27FC236}">
                <a16:creationId xmlns:a16="http://schemas.microsoft.com/office/drawing/2014/main" id="{0A3F4273-103C-98DF-A093-3C0C12FE7147}"/>
              </a:ext>
            </a:extLst>
          </p:cNvPr>
          <p:cNvSpPr txBox="1"/>
          <p:nvPr/>
        </p:nvSpPr>
        <p:spPr>
          <a:xfrm>
            <a:off x="180000" y="4321030"/>
            <a:ext cx="11235656" cy="646331"/>
          </a:xfrm>
          <a:prstGeom prst="rect">
            <a:avLst/>
          </a:prstGeom>
          <a:noFill/>
        </p:spPr>
        <p:txBody>
          <a:bodyPr wrap="square" rtlCol="0">
            <a:spAutoFit/>
          </a:bodyPr>
          <a:lstStyle/>
          <a:p>
            <a:r>
              <a:rPr lang="ja-JP" altLang="en-US"/>
              <a:t>公開鍵を定期的に更新することで</a:t>
            </a:r>
            <a:r>
              <a:rPr lang="en-US" altLang="ja-JP"/>
              <a:t>, </a:t>
            </a:r>
            <a:r>
              <a:rPr lang="ja-JP" altLang="en-US"/>
              <a:t>「どのバージョンの公開鍵で検証が通るか」をもって署名された時間をある程度証明できる</a:t>
            </a:r>
            <a:r>
              <a:rPr lang="en-US" altLang="ja-JP"/>
              <a:t>. </a:t>
            </a:r>
            <a:r>
              <a:rPr lang="ja-JP" altLang="en-US"/>
              <a:t>その際</a:t>
            </a:r>
            <a:r>
              <a:rPr lang="en-US" altLang="ja-JP"/>
              <a:t>, </a:t>
            </a:r>
            <a:r>
              <a:rPr lang="ja-JP" altLang="en-US"/>
              <a:t>特定の秘密鍵を除外しないようにすることで</a:t>
            </a:r>
            <a:r>
              <a:rPr lang="en-US" altLang="ja-JP"/>
              <a:t>, </a:t>
            </a:r>
            <a:r>
              <a:rPr lang="ja-JP" altLang="en-US"/>
              <a:t>公開鍵の連続性を証明できる</a:t>
            </a:r>
            <a:r>
              <a:rPr lang="en-US" altLang="ja-JP"/>
              <a:t>.</a:t>
            </a:r>
            <a:endParaRPr kumimoji="1" lang="en-US" altLang="ja-JP"/>
          </a:p>
        </p:txBody>
      </p:sp>
      <p:sp>
        <p:nvSpPr>
          <p:cNvPr id="19" name="テキスト ボックス 18">
            <a:extLst>
              <a:ext uri="{FF2B5EF4-FFF2-40B4-BE49-F238E27FC236}">
                <a16:creationId xmlns:a16="http://schemas.microsoft.com/office/drawing/2014/main" id="{E822CEF2-3D08-838F-6973-9169FD77E60E}"/>
              </a:ext>
            </a:extLst>
          </p:cNvPr>
          <p:cNvSpPr txBox="1"/>
          <p:nvPr/>
        </p:nvSpPr>
        <p:spPr>
          <a:xfrm>
            <a:off x="180000" y="3042097"/>
            <a:ext cx="11235656" cy="369332"/>
          </a:xfrm>
          <a:prstGeom prst="rect">
            <a:avLst/>
          </a:prstGeom>
          <a:noFill/>
        </p:spPr>
        <p:txBody>
          <a:bodyPr wrap="square" rtlCol="0">
            <a:spAutoFit/>
          </a:bodyPr>
          <a:lstStyle/>
          <a:p>
            <a:r>
              <a:rPr kumimoji="1" lang="ja-JP" altLang="en-US"/>
              <a:t>スペアキーと同様にして</a:t>
            </a:r>
            <a:r>
              <a:rPr kumimoji="1" lang="en-US" altLang="ja-JP"/>
              <a:t>, </a:t>
            </a:r>
            <a:r>
              <a:rPr kumimoji="1" lang="ja-JP" altLang="en-US"/>
              <a:t>代理人へ署名権限を一時的に貸与できる</a:t>
            </a:r>
            <a:endParaRPr kumimoji="1" lang="en-US" altLang="ja-JP"/>
          </a:p>
        </p:txBody>
      </p:sp>
    </p:spTree>
    <p:extLst>
      <p:ext uri="{BB962C8B-B14F-4D97-AF65-F5344CB8AC3E}">
        <p14:creationId xmlns:p14="http://schemas.microsoft.com/office/powerpoint/2010/main" val="1655203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2C078-B151-C5FF-ACF0-770D4C442ECA}"/>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EF5BD41-0CAA-3101-A22D-93ECAEF4EC60}"/>
              </a:ext>
            </a:extLst>
          </p:cNvPr>
          <p:cNvSpPr txBox="1"/>
          <p:nvPr/>
        </p:nvSpPr>
        <p:spPr>
          <a:xfrm>
            <a:off x="180000" y="180000"/>
            <a:ext cx="5558070" cy="584775"/>
          </a:xfrm>
          <a:prstGeom prst="rect">
            <a:avLst/>
          </a:prstGeom>
          <a:noFill/>
        </p:spPr>
        <p:txBody>
          <a:bodyPr wrap="square" rtlCol="0">
            <a:spAutoFit/>
          </a:bodyPr>
          <a:lstStyle/>
          <a:p>
            <a:r>
              <a:rPr lang="en-US" altLang="ja-JP" sz="3200" b="1">
                <a:solidFill>
                  <a:schemeClr val="accent4">
                    <a:lumMod val="75000"/>
                  </a:schemeClr>
                </a:solidFill>
              </a:rPr>
              <a:t>4.</a:t>
            </a:r>
            <a:r>
              <a:rPr lang="ja-JP" altLang="en-US" sz="3200" b="1">
                <a:solidFill>
                  <a:schemeClr val="accent4">
                    <a:lumMod val="75000"/>
                  </a:schemeClr>
                </a:solidFill>
              </a:rPr>
              <a:t> まとめ</a:t>
            </a:r>
            <a:endParaRPr lang="en-US" altLang="ja-JP" sz="3200" b="1" dirty="0">
              <a:solidFill>
                <a:schemeClr val="accent4">
                  <a:lumMod val="75000"/>
                </a:schemeClr>
              </a:solidFill>
            </a:endParaRPr>
          </a:p>
        </p:txBody>
      </p:sp>
      <p:sp>
        <p:nvSpPr>
          <p:cNvPr id="2" name="テキスト ボックス 1">
            <a:extLst>
              <a:ext uri="{FF2B5EF4-FFF2-40B4-BE49-F238E27FC236}">
                <a16:creationId xmlns:a16="http://schemas.microsoft.com/office/drawing/2014/main" id="{D27B2D7B-EDDA-0B05-28E7-688F0BF8C1AD}"/>
              </a:ext>
            </a:extLst>
          </p:cNvPr>
          <p:cNvSpPr txBox="1"/>
          <p:nvPr/>
        </p:nvSpPr>
        <p:spPr>
          <a:xfrm>
            <a:off x="179996" y="1575131"/>
            <a:ext cx="11791091" cy="1477328"/>
          </a:xfrm>
          <a:prstGeom prst="rect">
            <a:avLst/>
          </a:prstGeom>
          <a:noFill/>
        </p:spPr>
        <p:txBody>
          <a:bodyPr wrap="square" rtlCol="0">
            <a:spAutoFit/>
          </a:bodyPr>
          <a:lstStyle/>
          <a:p>
            <a:pPr marL="285750" indent="-285750">
              <a:buFont typeface="Arial" panose="020B0604020202020204" pitchFamily="34" charset="0"/>
              <a:buChar char="•"/>
            </a:pPr>
            <a:r>
              <a:rPr lang="en-US" altLang="ja-JP"/>
              <a:t>UOV</a:t>
            </a:r>
            <a:r>
              <a:rPr lang="ja-JP" altLang="en-US"/>
              <a:t>のトラップドアは</a:t>
            </a:r>
            <a:r>
              <a:rPr lang="en-US" altLang="ja-JP"/>
              <a:t>, </a:t>
            </a:r>
            <a:r>
              <a:rPr lang="ja-JP" altLang="en-US"/>
              <a:t>一つの公開鍵に対し</a:t>
            </a:r>
            <a:r>
              <a:rPr lang="en-US" altLang="ja-JP"/>
              <a:t>, </a:t>
            </a:r>
            <a:r>
              <a:rPr lang="ja-JP" altLang="en-US"/>
              <a:t>同時に複数の秘密鍵を対応させることができる</a:t>
            </a:r>
            <a:r>
              <a:rPr lang="en-US" altLang="ja-JP"/>
              <a:t>.	</a:t>
            </a:r>
            <a:br>
              <a:rPr lang="en-US" altLang="ja-JP"/>
            </a:br>
            <a:r>
              <a:rPr lang="ja-JP" altLang="en-US"/>
              <a:t>→ マルチトラップドア</a:t>
            </a:r>
            <a:endParaRPr lang="en-US" altLang="ja-JP"/>
          </a:p>
          <a:p>
            <a:pPr marL="285750" indent="-285750">
              <a:buFont typeface="Arial" panose="020B0604020202020204" pitchFamily="34" charset="0"/>
              <a:buChar char="•"/>
            </a:pPr>
            <a:r>
              <a:rPr lang="ja-JP" altLang="en-US"/>
              <a:t>それらの秘密鍵を後天的に追加・除外できる</a:t>
            </a:r>
            <a:r>
              <a:rPr lang="en-US" altLang="ja-JP"/>
              <a:t>.</a:t>
            </a:r>
            <a:br>
              <a:rPr lang="en-US" altLang="ja-JP"/>
            </a:br>
            <a:r>
              <a:rPr lang="ja-JP" altLang="en-US"/>
              <a:t>→ 動的メンバーシップ</a:t>
            </a:r>
            <a:endParaRPr lang="en-US" altLang="ja-JP"/>
          </a:p>
          <a:p>
            <a:pPr marL="285750" indent="-285750">
              <a:buFont typeface="Arial" panose="020B0604020202020204" pitchFamily="34" charset="0"/>
              <a:buChar char="•"/>
            </a:pPr>
            <a:r>
              <a:rPr lang="ja-JP" altLang="en-US"/>
              <a:t>これにより</a:t>
            </a:r>
            <a:r>
              <a:rPr lang="en-US" altLang="ja-JP"/>
              <a:t>, </a:t>
            </a:r>
            <a:r>
              <a:rPr lang="ja-JP" altLang="en-US"/>
              <a:t>リング署名やスペアキーなどを実装できる</a:t>
            </a:r>
            <a:r>
              <a:rPr lang="en-US" altLang="ja-JP"/>
              <a:t>.</a:t>
            </a:r>
          </a:p>
        </p:txBody>
      </p:sp>
      <p:sp>
        <p:nvSpPr>
          <p:cNvPr id="6" name="テキスト ボックス 5">
            <a:extLst>
              <a:ext uri="{FF2B5EF4-FFF2-40B4-BE49-F238E27FC236}">
                <a16:creationId xmlns:a16="http://schemas.microsoft.com/office/drawing/2014/main" id="{9F20575E-DEB1-B15B-B031-095515CD92BC}"/>
              </a:ext>
            </a:extLst>
          </p:cNvPr>
          <p:cNvSpPr txBox="1"/>
          <p:nvPr/>
        </p:nvSpPr>
        <p:spPr>
          <a:xfrm>
            <a:off x="179996" y="1074806"/>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まとめ</a:t>
            </a:r>
            <a:endParaRPr kumimoji="1" lang="ja-JP" altLang="en-US" sz="2000" b="1" dirty="0"/>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8B57B6D8-1455-AAF8-4812-A3A3F0F01E30}"/>
                  </a:ext>
                </a:extLst>
              </p:cNvPr>
              <p:cNvSpPr txBox="1"/>
              <p:nvPr/>
            </p:nvSpPr>
            <p:spPr>
              <a:xfrm>
                <a:off x="179997" y="3853429"/>
                <a:ext cx="11791091" cy="2585323"/>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a:t>鍵生成が遅い</a:t>
                </a:r>
                <a:endParaRPr kumimoji="1" lang="en-US" altLang="ja-JP"/>
              </a:p>
              <a:p>
                <a:pPr marL="742950" lvl="1" indent="-285750">
                  <a:buFont typeface="Arial" panose="020B0604020202020204" pitchFamily="34" charset="0"/>
                  <a:buChar char="•"/>
                </a:pPr>
                <a:r>
                  <a:rPr lang="ja-JP" altLang="en-US"/>
                  <a:t>これが一番致命的</a:t>
                </a:r>
                <a:r>
                  <a:rPr lang="en-US" altLang="ja-JP"/>
                  <a:t>. </a:t>
                </a:r>
                <a:r>
                  <a:rPr lang="ja-JP" altLang="en-US"/>
                  <a:t>現在の実装では</a:t>
                </a:r>
                <a:r>
                  <a:rPr lang="en-US" altLang="ja-JP"/>
                  <a:t> </a:t>
                </a:r>
                <a14:m>
                  <m:oMath xmlns:m="http://schemas.openxmlformats.org/officeDocument/2006/math">
                    <m:r>
                      <a:rPr lang="en-US" altLang="ja-JP" b="0" i="1" smtClean="0">
                        <a:latin typeface="Cambria Math" panose="02040503050406030204" pitchFamily="18" charset="0"/>
                      </a:rPr>
                      <m:t>𝑂</m:t>
                    </m:r>
                    <m:r>
                      <a:rPr lang="en-US" altLang="ja-JP" b="0" i="1" smtClean="0">
                        <a:latin typeface="Cambria Math" panose="02040503050406030204" pitchFamily="18" charset="0"/>
                      </a:rPr>
                      <m:t>(</m:t>
                    </m:r>
                    <m:sSup>
                      <m:sSupPr>
                        <m:ctrlPr>
                          <a:rPr lang="en-US" altLang="ja-JP" b="0" i="1" smtClean="0">
                            <a:latin typeface="Cambria Math" panose="02040503050406030204" pitchFamily="18" charset="0"/>
                          </a:rPr>
                        </m:ctrlPr>
                      </m:sSupPr>
                      <m:e>
                        <m:r>
                          <a:rPr lang="en-US" altLang="ja-JP" b="0" i="1" smtClean="0">
                            <a:latin typeface="Cambria Math" panose="02040503050406030204" pitchFamily="18" charset="0"/>
                          </a:rPr>
                          <m:t>𝑛</m:t>
                        </m:r>
                      </m:e>
                      <m:sup>
                        <m:r>
                          <a:rPr lang="en-US" altLang="ja-JP" b="0" i="1" smtClean="0">
                            <a:latin typeface="Cambria Math" panose="02040503050406030204" pitchFamily="18" charset="0"/>
                          </a:rPr>
                          <m:t>2</m:t>
                        </m:r>
                        <m:r>
                          <a:rPr lang="en-US" altLang="ja-JP" b="0" i="1" smtClean="0">
                            <a:latin typeface="Cambria Math" panose="02040503050406030204" pitchFamily="18" charset="0"/>
                          </a:rPr>
                          <m:t>𝜔</m:t>
                        </m:r>
                      </m:sup>
                    </m:sSup>
                    <m:r>
                      <a:rPr lang="en-US" altLang="ja-JP" b="0" i="1" smtClean="0">
                        <a:latin typeface="Cambria Math" panose="02040503050406030204" pitchFamily="18" charset="0"/>
                      </a:rPr>
                      <m:t>)</m:t>
                    </m:r>
                  </m:oMath>
                </a14:m>
                <a:r>
                  <a:rPr kumimoji="1" lang="en-US" altLang="ja-JP"/>
                  <a:t> </a:t>
                </a:r>
                <a:r>
                  <a:rPr kumimoji="1" lang="ja-JP" altLang="en-US"/>
                  <a:t>くらいの効率で</a:t>
                </a:r>
                <a:r>
                  <a:rPr kumimoji="1" lang="en-US" altLang="ja-JP"/>
                  <a:t>, UOV-Ip</a:t>
                </a:r>
                <a:r>
                  <a:rPr kumimoji="1" lang="ja-JP" altLang="en-US"/>
                  <a:t>のパラメータを流用すると</a:t>
                </a:r>
                <a:r>
                  <a:rPr kumimoji="1" lang="en-US" altLang="ja-JP"/>
                  <a:t>5</a:t>
                </a:r>
                <a:r>
                  <a:rPr kumimoji="1" lang="ja-JP" altLang="en-US"/>
                  <a:t>分くらいかかる</a:t>
                </a:r>
                <a:r>
                  <a:rPr kumimoji="1" lang="en-US" altLang="ja-JP"/>
                  <a:t>.</a:t>
                </a:r>
                <a:r>
                  <a:rPr lang="en-US" altLang="ja-JP"/>
                  <a:t> </a:t>
                </a:r>
                <a:r>
                  <a:rPr lang="ja-JP" altLang="en-US"/>
                  <a:t>同様に公開鍵の更新も遅い</a:t>
                </a:r>
                <a:r>
                  <a:rPr lang="en-US" altLang="ja-JP"/>
                  <a:t>.</a:t>
                </a:r>
                <a:endParaRPr kumimoji="1" lang="en-US" altLang="ja-JP"/>
              </a:p>
              <a:p>
                <a:pPr marL="285750" indent="-285750">
                  <a:buFont typeface="Arial" panose="020B0604020202020204" pitchFamily="34" charset="0"/>
                  <a:buChar char="•"/>
                </a:pPr>
                <a:r>
                  <a:rPr lang="ja-JP" altLang="en-US"/>
                  <a:t>更新鍵が大きい</a:t>
                </a:r>
                <a:endParaRPr lang="en-US" altLang="ja-JP"/>
              </a:p>
              <a:p>
                <a:pPr marL="742950" lvl="1" indent="-285750">
                  <a:buFont typeface="Arial" panose="020B0604020202020204" pitchFamily="34" charset="0"/>
                  <a:buChar char="•"/>
                </a:pPr>
                <a:r>
                  <a:rPr lang="ja-JP" altLang="en-US"/>
                  <a:t>更新鍵は公開鍵</a:t>
                </a:r>
                <a:r>
                  <a:rPr lang="en-US" altLang="ja-JP"/>
                  <a:t>×(</a:t>
                </a:r>
                <a:r>
                  <a:rPr lang="ja-JP" altLang="en-US"/>
                  <a:t>メンバの総数</a:t>
                </a:r>
                <a:r>
                  <a:rPr lang="en-US" altLang="ja-JP"/>
                  <a:t>)</a:t>
                </a:r>
                <a:r>
                  <a:rPr lang="ja-JP" altLang="en-US"/>
                  <a:t>くらい巨大</a:t>
                </a:r>
                <a:r>
                  <a:rPr lang="en-US" altLang="ja-JP"/>
                  <a:t>(</a:t>
                </a:r>
                <a:r>
                  <a:rPr lang="ja-JP" altLang="en-US"/>
                  <a:t>最大で数</a:t>
                </a:r>
                <a:r>
                  <a:rPr lang="en-US" altLang="ja-JP"/>
                  <a:t>MB</a:t>
                </a:r>
                <a:r>
                  <a:rPr lang="ja-JP" altLang="en-US"/>
                  <a:t>級</a:t>
                </a:r>
                <a:r>
                  <a:rPr lang="en-US" altLang="ja-JP"/>
                  <a:t>?).</a:t>
                </a:r>
              </a:p>
              <a:p>
                <a:pPr marL="285750" indent="-285750">
                  <a:buFont typeface="Arial" panose="020B0604020202020204" pitchFamily="34" charset="0"/>
                  <a:buChar char="•"/>
                </a:pPr>
                <a:r>
                  <a:rPr lang="ja-JP" altLang="en-US"/>
                  <a:t>メンバ上限が低い</a:t>
                </a:r>
                <a:endParaRPr lang="en-US" altLang="ja-JP"/>
              </a:p>
              <a:p>
                <a:pPr marL="742950" lvl="1" indent="-285750">
                  <a:buFont typeface="Arial" panose="020B0604020202020204" pitchFamily="34" charset="0"/>
                  <a:buChar char="•"/>
                </a:pPr>
                <a:r>
                  <a:rPr lang="en-US" altLang="ja-JP"/>
                  <a:t>UOV</a:t>
                </a:r>
                <a:r>
                  <a:rPr lang="ja-JP" altLang="en-US"/>
                  <a:t>のパラメータを流用すると</a:t>
                </a:r>
                <a:r>
                  <a:rPr lang="en-US" altLang="ja-JP"/>
                  <a:t>6</a:t>
                </a:r>
                <a:r>
                  <a:rPr lang="ja-JP" altLang="en-US"/>
                  <a:t>人程度</a:t>
                </a:r>
                <a:r>
                  <a:rPr lang="en-US" altLang="ja-JP"/>
                  <a:t>.</a:t>
                </a:r>
              </a:p>
              <a:p>
                <a:pPr marL="285750" indent="-285750">
                  <a:buFont typeface="Arial" panose="020B0604020202020204" pitchFamily="34" charset="0"/>
                  <a:buChar char="•"/>
                </a:pPr>
                <a:r>
                  <a:rPr lang="ja-JP" altLang="en-US"/>
                  <a:t>安全性</a:t>
                </a:r>
                <a:endParaRPr lang="en-US" altLang="ja-JP"/>
              </a:p>
              <a:p>
                <a:pPr marL="742950" lvl="1" indent="-285750">
                  <a:buFont typeface="Arial" panose="020B0604020202020204" pitchFamily="34" charset="0"/>
                  <a:buChar char="•"/>
                </a:pPr>
                <a:r>
                  <a:rPr lang="en-US" altLang="ja-JP"/>
                  <a:t>UOV</a:t>
                </a:r>
                <a:r>
                  <a:rPr lang="ja-JP" altLang="en-US"/>
                  <a:t>と同じくらい安全だと思うけど</a:t>
                </a:r>
                <a:r>
                  <a:rPr lang="en-US" altLang="ja-JP"/>
                  <a:t>, </a:t>
                </a:r>
                <a:r>
                  <a:rPr lang="ja-JP" altLang="en-US"/>
                  <a:t>要検討</a:t>
                </a:r>
                <a:r>
                  <a:rPr lang="en-US" altLang="ja-JP"/>
                  <a:t>. </a:t>
                </a:r>
                <a:r>
                  <a:rPr lang="ja-JP" altLang="en-US"/>
                  <a:t>特に漏洩連鎖</a:t>
                </a:r>
                <a:r>
                  <a:rPr lang="en-US" altLang="ja-JP"/>
                  <a:t>.</a:t>
                </a:r>
              </a:p>
            </p:txBody>
          </p:sp>
        </mc:Choice>
        <mc:Fallback xmlns="">
          <p:sp>
            <p:nvSpPr>
              <p:cNvPr id="7" name="テキスト ボックス 6">
                <a:extLst>
                  <a:ext uri="{FF2B5EF4-FFF2-40B4-BE49-F238E27FC236}">
                    <a16:creationId xmlns:a16="http://schemas.microsoft.com/office/drawing/2014/main" id="{8B57B6D8-1455-AAF8-4812-A3A3F0F01E30}"/>
                  </a:ext>
                </a:extLst>
              </p:cNvPr>
              <p:cNvSpPr txBox="1">
                <a:spLocks noRot="1" noChangeAspect="1" noMove="1" noResize="1" noEditPoints="1" noAdjustHandles="1" noChangeArrowheads="1" noChangeShapeType="1" noTextEdit="1"/>
              </p:cNvSpPr>
              <p:nvPr/>
            </p:nvSpPr>
            <p:spPr>
              <a:xfrm>
                <a:off x="179997" y="3853429"/>
                <a:ext cx="11791091" cy="2585323"/>
              </a:xfrm>
              <a:prstGeom prst="rect">
                <a:avLst/>
              </a:prstGeom>
              <a:blipFill>
                <a:blip r:embed="rId2"/>
                <a:stretch>
                  <a:fillRect l="-362" t="-1179" b="-2830"/>
                </a:stretch>
              </a:blipFill>
            </p:spPr>
            <p:txBody>
              <a:bodyPr/>
              <a:lstStyle/>
              <a:p>
                <a:r>
                  <a:rPr lang="ja-JP" altLang="en-US">
                    <a:noFill/>
                  </a:rPr>
                  <a:t> </a:t>
                </a:r>
              </a:p>
            </p:txBody>
          </p:sp>
        </mc:Fallback>
      </mc:AlternateContent>
      <p:sp>
        <p:nvSpPr>
          <p:cNvPr id="8" name="テキスト ボックス 7">
            <a:extLst>
              <a:ext uri="{FF2B5EF4-FFF2-40B4-BE49-F238E27FC236}">
                <a16:creationId xmlns:a16="http://schemas.microsoft.com/office/drawing/2014/main" id="{B42D7DFC-E114-403C-B443-3E59FA0C661C}"/>
              </a:ext>
            </a:extLst>
          </p:cNvPr>
          <p:cNvSpPr txBox="1"/>
          <p:nvPr/>
        </p:nvSpPr>
        <p:spPr>
          <a:xfrm>
            <a:off x="179997" y="3252889"/>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課題</a:t>
            </a:r>
            <a:endParaRPr kumimoji="1" lang="ja-JP" altLang="en-US" sz="2000" b="1" dirty="0"/>
          </a:p>
        </p:txBody>
      </p:sp>
    </p:spTree>
    <p:extLst>
      <p:ext uri="{BB962C8B-B14F-4D97-AF65-F5344CB8AC3E}">
        <p14:creationId xmlns:p14="http://schemas.microsoft.com/office/powerpoint/2010/main" val="3637303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ACB21E0-37E1-92AA-D912-814E2BA5F9F2}"/>
              </a:ext>
            </a:extLst>
          </p:cNvPr>
          <p:cNvSpPr txBox="1"/>
          <p:nvPr/>
        </p:nvSpPr>
        <p:spPr>
          <a:xfrm>
            <a:off x="180000" y="180000"/>
            <a:ext cx="5558070" cy="584775"/>
          </a:xfrm>
          <a:prstGeom prst="rect">
            <a:avLst/>
          </a:prstGeom>
          <a:noFill/>
        </p:spPr>
        <p:txBody>
          <a:bodyPr wrap="square" rtlCol="0">
            <a:spAutoFit/>
          </a:bodyPr>
          <a:lstStyle/>
          <a:p>
            <a:r>
              <a:rPr lang="en-US" altLang="ja-JP" sz="3200" b="1">
                <a:solidFill>
                  <a:schemeClr val="accent4">
                    <a:lumMod val="75000"/>
                  </a:schemeClr>
                </a:solidFill>
              </a:rPr>
              <a:t>7.</a:t>
            </a:r>
            <a:r>
              <a:rPr lang="ja-JP" altLang="en-US" sz="3200" b="1">
                <a:solidFill>
                  <a:schemeClr val="accent4">
                    <a:lumMod val="75000"/>
                  </a:schemeClr>
                </a:solidFill>
              </a:rPr>
              <a:t> 特殊な</a:t>
            </a:r>
            <a:r>
              <a:rPr lang="en-US" altLang="ja-JP" sz="3200" b="1">
                <a:solidFill>
                  <a:schemeClr val="accent4">
                    <a:lumMod val="75000"/>
                  </a:schemeClr>
                </a:solidFill>
              </a:rPr>
              <a:t>MZUOV</a:t>
            </a:r>
            <a:endParaRPr lang="en-US" altLang="ja-JP" sz="3200" b="1" dirty="0">
              <a:solidFill>
                <a:schemeClr val="accent4">
                  <a:lumMod val="75000"/>
                </a:schemeClr>
              </a:solidFill>
            </a:endParaRP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D57B4AD5-CDDC-9237-F690-A6D6A96E60BC}"/>
                  </a:ext>
                </a:extLst>
              </p:cNvPr>
              <p:cNvSpPr txBox="1"/>
              <p:nvPr/>
            </p:nvSpPr>
            <p:spPr>
              <a:xfrm>
                <a:off x="180000" y="1468073"/>
                <a:ext cx="11453768" cy="646331"/>
              </a:xfrm>
              <a:prstGeom prst="rect">
                <a:avLst/>
              </a:prstGeom>
              <a:noFill/>
            </p:spPr>
            <p:txBody>
              <a:bodyPr wrap="square" rtlCol="0">
                <a:spAutoFit/>
              </a:bodyPr>
              <a:lstStyle/>
              <a:p>
                <a:r>
                  <a:rPr kumimoji="1" lang="ja-JP" altLang="en-US"/>
                  <a:t>既存の</a:t>
                </a:r>
                <a:r>
                  <a:rPr kumimoji="1" lang="en-US" altLang="ja-JP"/>
                  <a:t>UOV</a:t>
                </a:r>
                <a:r>
                  <a:rPr kumimoji="1" lang="ja-JP" altLang="en-US"/>
                  <a:t>のパラメータを流用し</a:t>
                </a:r>
                <a:r>
                  <a:rPr kumimoji="1" lang="en-US" altLang="ja-JP"/>
                  <a:t>, </a:t>
                </a:r>
                <a14:m>
                  <m:oMath xmlns:m="http://schemas.openxmlformats.org/officeDocument/2006/math">
                    <m:r>
                      <a:rPr kumimoji="1" lang="en-US" altLang="ja-JP" b="0" i="1" smtClean="0">
                        <a:latin typeface="Cambria Math" panose="02040503050406030204" pitchFamily="18" charset="0"/>
                      </a:rPr>
                      <m:t>𝑘</m:t>
                    </m:r>
                    <m:r>
                      <a:rPr kumimoji="1" lang="en-US" altLang="ja-JP" b="0" i="1" smtClean="0">
                        <a:latin typeface="Cambria Math" panose="02040503050406030204" pitchFamily="18" charset="0"/>
                      </a:rPr>
                      <m:t>=2</m:t>
                    </m:r>
                  </m:oMath>
                </a14:m>
                <a:r>
                  <a:rPr kumimoji="1" lang="ja-JP" altLang="en-US"/>
                  <a:t> に限定し</a:t>
                </a:r>
                <a:r>
                  <a:rPr kumimoji="1" lang="en-US" altLang="ja-JP"/>
                  <a:t>, </a:t>
                </a:r>
                <a:r>
                  <a:rPr kumimoji="1" lang="ja-JP" altLang="en-US"/>
                  <a:t>さらに秘密鍵を指定できないという制限を与えたら</a:t>
                </a:r>
                <a:r>
                  <a:rPr kumimoji="1" lang="en-US" altLang="ja-JP"/>
                  <a:t>, MZUOV</a:t>
                </a:r>
                <a:r>
                  <a:rPr kumimoji="1" lang="ja-JP" altLang="en-US"/>
                  <a:t>の鍵生成はかなり速くなる</a:t>
                </a:r>
                <a:r>
                  <a:rPr kumimoji="1" lang="en-US" altLang="ja-JP"/>
                  <a:t>.</a:t>
                </a:r>
                <a:endParaRPr kumimoji="1" lang="ja-JP" altLang="en-US"/>
              </a:p>
            </p:txBody>
          </p:sp>
        </mc:Choice>
        <mc:Fallback xmlns="">
          <p:sp>
            <p:nvSpPr>
              <p:cNvPr id="5" name="テキスト ボックス 4">
                <a:extLst>
                  <a:ext uri="{FF2B5EF4-FFF2-40B4-BE49-F238E27FC236}">
                    <a16:creationId xmlns:a16="http://schemas.microsoft.com/office/drawing/2014/main" id="{D57B4AD5-CDDC-9237-F690-A6D6A96E60BC}"/>
                  </a:ext>
                </a:extLst>
              </p:cNvPr>
              <p:cNvSpPr txBox="1">
                <a:spLocks noRot="1" noChangeAspect="1" noMove="1" noResize="1" noEditPoints="1" noAdjustHandles="1" noChangeArrowheads="1" noChangeShapeType="1" noTextEdit="1"/>
              </p:cNvSpPr>
              <p:nvPr/>
            </p:nvSpPr>
            <p:spPr>
              <a:xfrm>
                <a:off x="180000" y="1468073"/>
                <a:ext cx="11453768" cy="646331"/>
              </a:xfrm>
              <a:prstGeom prst="rect">
                <a:avLst/>
              </a:prstGeom>
              <a:blipFill>
                <a:blip r:embed="rId2"/>
                <a:stretch>
                  <a:fillRect l="-479" t="-4717" b="-1415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18526379-A6FC-F97E-4A69-BFF6CD43130F}"/>
                  </a:ext>
                </a:extLst>
              </p:cNvPr>
              <p:cNvSpPr txBox="1"/>
              <p:nvPr/>
            </p:nvSpPr>
            <p:spPr>
              <a:xfrm>
                <a:off x="180000" y="2365695"/>
                <a:ext cx="11069637" cy="1856534"/>
              </a:xfrm>
              <a:prstGeom prst="rect">
                <a:avLst/>
              </a:prstGeom>
              <a:noFill/>
            </p:spPr>
            <p:txBody>
              <a:bodyPr wrap="square" rtlCol="0">
                <a:spAutoFit/>
              </a:bodyPr>
              <a:lstStyle/>
              <a:p>
                <a:pPr marL="342900" indent="-342900">
                  <a:buFont typeface="+mj-lt"/>
                  <a:buAutoNum type="arabicPeriod"/>
                </a:pPr>
                <a:r>
                  <a:rPr kumimoji="1" lang="ja-JP" altLang="en-US"/>
                  <a:t>ランダムな正則行列 </a:t>
                </a:r>
                <a14:m>
                  <m:oMath xmlns:m="http://schemas.openxmlformats.org/officeDocument/2006/math">
                    <m:r>
                      <a:rPr kumimoji="1" lang="ja-JP" altLang="en-US" i="1" smtClean="0">
                        <a:latin typeface="Cambria Math" panose="02040503050406030204" pitchFamily="18" charset="0"/>
                      </a:rPr>
                      <m:t>𝒮</m:t>
                    </m:r>
                  </m:oMath>
                </a14:m>
                <a:r>
                  <a:rPr kumimoji="1" lang="ja-JP" altLang="en-US"/>
                  <a:t> をとる</a:t>
                </a:r>
                <a:r>
                  <a:rPr kumimoji="1" lang="en-US" altLang="ja-JP"/>
                  <a:t>.</a:t>
                </a:r>
              </a:p>
              <a:p>
                <a:pPr marL="342900" indent="-342900">
                  <a:buFont typeface="+mj-lt"/>
                  <a:buAutoNum type="arabicPeriod"/>
                </a:pPr>
                <a:r>
                  <a:rPr lang="ja-JP" altLang="en-US"/>
                  <a:t>中心写像 </a:t>
                </a:r>
                <a14:m>
                  <m:oMath xmlns:m="http://schemas.openxmlformats.org/officeDocument/2006/math">
                    <m:sSub>
                      <m:sSubPr>
                        <m:ctrlPr>
                          <a:rPr lang="en-US" altLang="ja-JP" b="0" i="1" smtClean="0">
                            <a:latin typeface="Cambria Math" panose="02040503050406030204" pitchFamily="18" charset="0"/>
                            <a:ea typeface="Cambria Math" panose="02040503050406030204" pitchFamily="18" charset="0"/>
                          </a:rPr>
                        </m:ctrlPr>
                      </m:sSubPr>
                      <m:e>
                        <m:r>
                          <a:rPr lang="en-US" altLang="ja-JP" i="1" smtClean="0">
                            <a:latin typeface="Cambria Math" panose="02040503050406030204" pitchFamily="18" charset="0"/>
                            <a:ea typeface="Cambria Math" panose="02040503050406030204" pitchFamily="18" charset="0"/>
                          </a:rPr>
                          <m:t>ℱ</m:t>
                        </m:r>
                      </m:e>
                      <m:sub>
                        <m:r>
                          <a:rPr lang="en-US" altLang="ja-JP" b="0" i="1" smtClean="0">
                            <a:latin typeface="Cambria Math" panose="02040503050406030204" pitchFamily="18" charset="0"/>
                            <a:ea typeface="Cambria Math" panose="02040503050406030204" pitchFamily="18" charset="0"/>
                          </a:rPr>
                          <m:t>𝑖</m:t>
                        </m:r>
                      </m:sub>
                    </m:sSub>
                    <m:r>
                      <a:rPr lang="en-US" altLang="ja-JP" b="0" i="1" smtClean="0">
                        <a:latin typeface="Cambria Math" panose="02040503050406030204" pitchFamily="18" charset="0"/>
                        <a:ea typeface="Cambria Math" panose="02040503050406030204" pitchFamily="18" charset="0"/>
                      </a:rPr>
                      <m:t>=</m:t>
                    </m:r>
                    <m:d>
                      <m:dPr>
                        <m:ctrlPr>
                          <a:rPr lang="en-US" altLang="ja-JP" b="0" i="1" smtClean="0">
                            <a:latin typeface="Cambria Math" panose="02040503050406030204" pitchFamily="18" charset="0"/>
                            <a:ea typeface="Cambria Math" panose="02040503050406030204" pitchFamily="18" charset="0"/>
                          </a:rPr>
                        </m:ctrlPr>
                      </m:dPr>
                      <m:e>
                        <m:m>
                          <m:mPr>
                            <m:mcs>
                              <m:mc>
                                <m:mcPr>
                                  <m:count m:val="3"/>
                                  <m:mcJc m:val="center"/>
                                </m:mcPr>
                              </m:mc>
                            </m:mcs>
                            <m:ctrlPr>
                              <a:rPr lang="en-US" altLang="ja-JP" b="0" i="1" smtClean="0">
                                <a:latin typeface="Cambria Math" panose="02040503050406030204" pitchFamily="18" charset="0"/>
                                <a:ea typeface="Cambria Math" panose="02040503050406030204" pitchFamily="18" charset="0"/>
                              </a:rPr>
                            </m:ctrlPr>
                          </m:mPr>
                          <m:mr>
                            <m:e>
                              <m:r>
                                <m:rPr>
                                  <m:brk m:alnAt="7"/>
                                </m:rPr>
                                <a:rPr lang="en-US" altLang="ja-JP" b="0" i="1" smtClean="0">
                                  <a:latin typeface="Cambria Math" panose="02040503050406030204" pitchFamily="18" charset="0"/>
                                  <a:ea typeface="Cambria Math" panose="02040503050406030204" pitchFamily="18" charset="0"/>
                                </a:rPr>
                                <m:t>𝐴</m:t>
                              </m:r>
                            </m:e>
                            <m:e>
                              <m:r>
                                <a:rPr lang="en-US" altLang="ja-JP" b="0" i="1" smtClean="0">
                                  <a:latin typeface="Cambria Math" panose="02040503050406030204" pitchFamily="18" charset="0"/>
                                  <a:ea typeface="Cambria Math" panose="02040503050406030204" pitchFamily="18" charset="0"/>
                                </a:rPr>
                                <m:t>𝐵</m:t>
                              </m:r>
                            </m:e>
                            <m:e>
                              <m:r>
                                <a:rPr lang="en-US" altLang="ja-JP" b="0" i="1" smtClean="0">
                                  <a:latin typeface="Cambria Math" panose="02040503050406030204" pitchFamily="18" charset="0"/>
                                  <a:ea typeface="Cambria Math" panose="02040503050406030204" pitchFamily="18" charset="0"/>
                                </a:rPr>
                                <m:t>𝐶</m:t>
                              </m:r>
                            </m:e>
                          </m:mr>
                          <m:mr>
                            <m:e>
                              <m:sSup>
                                <m:sSupPr>
                                  <m:ctrlPr>
                                    <a:rPr lang="en-US" altLang="ja-JP" b="0" i="1" smtClean="0">
                                      <a:latin typeface="Cambria Math" panose="02040503050406030204" pitchFamily="18" charset="0"/>
                                      <a:ea typeface="Cambria Math" panose="02040503050406030204" pitchFamily="18" charset="0"/>
                                    </a:rPr>
                                  </m:ctrlPr>
                                </m:sSupPr>
                                <m:e>
                                  <m:r>
                                    <a:rPr lang="en-US" altLang="ja-JP" b="0" i="1" smtClean="0">
                                      <a:latin typeface="Cambria Math" panose="02040503050406030204" pitchFamily="18" charset="0"/>
                                      <a:ea typeface="Cambria Math" panose="02040503050406030204" pitchFamily="18" charset="0"/>
                                    </a:rPr>
                                    <m:t>𝐵</m:t>
                                  </m:r>
                                </m:e>
                                <m:sup>
                                  <m:r>
                                    <a:rPr lang="en-US" altLang="ja-JP" b="0" i="1" smtClean="0">
                                      <a:latin typeface="Cambria Math" panose="02040503050406030204" pitchFamily="18" charset="0"/>
                                      <a:ea typeface="Cambria Math" panose="02040503050406030204" pitchFamily="18" charset="0"/>
                                    </a:rPr>
                                    <m:t>𝑇</m:t>
                                  </m:r>
                                </m:sup>
                              </m:sSup>
                            </m:e>
                            <m:e>
                              <m:r>
                                <a:rPr lang="en-US" altLang="ja-JP" b="0" i="1" smtClean="0">
                                  <a:latin typeface="Cambria Math" panose="02040503050406030204" pitchFamily="18" charset="0"/>
                                  <a:ea typeface="Cambria Math" panose="02040503050406030204" pitchFamily="18" charset="0"/>
                                </a:rPr>
                                <m:t>0</m:t>
                              </m:r>
                            </m:e>
                            <m:e>
                              <m:r>
                                <a:rPr lang="en-US" altLang="ja-JP" b="0" i="1" smtClean="0">
                                  <a:latin typeface="Cambria Math" panose="02040503050406030204" pitchFamily="18" charset="0"/>
                                  <a:ea typeface="Cambria Math" panose="02040503050406030204" pitchFamily="18" charset="0"/>
                                </a:rPr>
                                <m:t>𝐷</m:t>
                              </m:r>
                            </m:e>
                          </m:mr>
                          <m:mr>
                            <m:e>
                              <m:sSup>
                                <m:sSupPr>
                                  <m:ctrlPr>
                                    <a:rPr lang="en-US" altLang="ja-JP" b="0" i="1" smtClean="0">
                                      <a:latin typeface="Cambria Math" panose="02040503050406030204" pitchFamily="18" charset="0"/>
                                      <a:ea typeface="Cambria Math" panose="02040503050406030204" pitchFamily="18" charset="0"/>
                                    </a:rPr>
                                  </m:ctrlPr>
                                </m:sSupPr>
                                <m:e>
                                  <m:r>
                                    <a:rPr lang="en-US" altLang="ja-JP" b="0" i="1" smtClean="0">
                                      <a:latin typeface="Cambria Math" panose="02040503050406030204" pitchFamily="18" charset="0"/>
                                      <a:ea typeface="Cambria Math" panose="02040503050406030204" pitchFamily="18" charset="0"/>
                                    </a:rPr>
                                    <m:t>𝐶</m:t>
                                  </m:r>
                                </m:e>
                                <m:sup>
                                  <m:r>
                                    <a:rPr lang="en-US" altLang="ja-JP" b="0" i="1" smtClean="0">
                                      <a:latin typeface="Cambria Math" panose="02040503050406030204" pitchFamily="18" charset="0"/>
                                      <a:ea typeface="Cambria Math" panose="02040503050406030204" pitchFamily="18" charset="0"/>
                                    </a:rPr>
                                    <m:t>𝑇</m:t>
                                  </m:r>
                                </m:sup>
                              </m:sSup>
                            </m:e>
                            <m:e>
                              <m:sSup>
                                <m:sSupPr>
                                  <m:ctrlPr>
                                    <a:rPr lang="en-US" altLang="ja-JP" b="0" i="1" smtClean="0">
                                      <a:latin typeface="Cambria Math" panose="02040503050406030204" pitchFamily="18" charset="0"/>
                                      <a:ea typeface="Cambria Math" panose="02040503050406030204" pitchFamily="18" charset="0"/>
                                    </a:rPr>
                                  </m:ctrlPr>
                                </m:sSupPr>
                                <m:e>
                                  <m:r>
                                    <a:rPr lang="en-US" altLang="ja-JP" b="0" i="1" smtClean="0">
                                      <a:latin typeface="Cambria Math" panose="02040503050406030204" pitchFamily="18" charset="0"/>
                                      <a:ea typeface="Cambria Math" panose="02040503050406030204" pitchFamily="18" charset="0"/>
                                    </a:rPr>
                                    <m:t>𝐷</m:t>
                                  </m:r>
                                </m:e>
                                <m:sup>
                                  <m:r>
                                    <a:rPr lang="en-US" altLang="ja-JP" b="0" i="1" smtClean="0">
                                      <a:latin typeface="Cambria Math" panose="02040503050406030204" pitchFamily="18" charset="0"/>
                                      <a:ea typeface="Cambria Math" panose="02040503050406030204" pitchFamily="18" charset="0"/>
                                    </a:rPr>
                                    <m:t>𝑇</m:t>
                                  </m:r>
                                </m:sup>
                              </m:sSup>
                            </m:e>
                            <m:e>
                              <m:r>
                                <a:rPr lang="en-US" altLang="ja-JP" b="0" i="1" smtClean="0">
                                  <a:latin typeface="Cambria Math" panose="02040503050406030204" pitchFamily="18" charset="0"/>
                                  <a:ea typeface="Cambria Math" panose="02040503050406030204" pitchFamily="18" charset="0"/>
                                </a:rPr>
                                <m:t>0</m:t>
                              </m:r>
                            </m:e>
                          </m:mr>
                        </m:m>
                      </m:e>
                    </m:d>
                    <m:r>
                      <a:rPr lang="en-US" altLang="ja-JP" b="0" i="1" smtClean="0">
                        <a:latin typeface="Cambria Math" panose="02040503050406030204" pitchFamily="18" charset="0"/>
                        <a:ea typeface="Cambria Math" panose="02040503050406030204" pitchFamily="18" charset="0"/>
                      </a:rPr>
                      <m:t>  (</m:t>
                    </m:r>
                    <m:r>
                      <a:rPr lang="en-US" altLang="ja-JP" b="0" i="1" smtClean="0">
                        <a:latin typeface="Cambria Math" panose="02040503050406030204" pitchFamily="18" charset="0"/>
                        <a:ea typeface="Cambria Math" panose="02040503050406030204" pitchFamily="18" charset="0"/>
                      </a:rPr>
                      <m:t>𝑖</m:t>
                    </m:r>
                    <m:r>
                      <a:rPr lang="en-US" altLang="ja-JP" b="0" i="1" smtClean="0">
                        <a:latin typeface="Cambria Math" panose="02040503050406030204" pitchFamily="18" charset="0"/>
                        <a:ea typeface="Cambria Math" panose="02040503050406030204" pitchFamily="18" charset="0"/>
                      </a:rPr>
                      <m:t>=1, ⋯, </m:t>
                    </m:r>
                    <m:r>
                      <a:rPr lang="en-US" altLang="ja-JP" b="0" i="1" smtClean="0">
                        <a:latin typeface="Cambria Math" panose="02040503050406030204" pitchFamily="18" charset="0"/>
                        <a:ea typeface="Cambria Math" panose="02040503050406030204" pitchFamily="18" charset="0"/>
                      </a:rPr>
                      <m:t>𝑚</m:t>
                    </m:r>
                    <m:r>
                      <a:rPr lang="en-US" altLang="ja-JP" b="0" i="1" smtClean="0">
                        <a:latin typeface="Cambria Math" panose="02040503050406030204" pitchFamily="18" charset="0"/>
                        <a:ea typeface="Cambria Math" panose="02040503050406030204" pitchFamily="18" charset="0"/>
                      </a:rPr>
                      <m:t>)</m:t>
                    </m:r>
                  </m:oMath>
                </a14:m>
                <a:r>
                  <a:rPr kumimoji="1" lang="ja-JP" altLang="en-US"/>
                  <a:t> をランダムにとり</a:t>
                </a:r>
                <a:r>
                  <a:rPr kumimoji="1" lang="en-US" altLang="ja-JP"/>
                  <a:t>, </a:t>
                </a:r>
                <a14:m>
                  <m:oMath xmlns:m="http://schemas.openxmlformats.org/officeDocument/2006/math">
                    <m:r>
                      <a:rPr kumimoji="1" lang="ja-JP" altLang="en-US" i="1" smtClean="0">
                        <a:latin typeface="Cambria Math" panose="02040503050406030204" pitchFamily="18" charset="0"/>
                      </a:rPr>
                      <m:t>𝒫</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ℱ</m:t>
                    </m:r>
                    <m:r>
                      <a:rPr kumimoji="1" lang="en-US" altLang="ja-JP" b="0" i="1" smtClean="0">
                        <a:latin typeface="Cambria Math" panose="02040503050406030204" pitchFamily="18" charset="0"/>
                        <a:ea typeface="Cambria Math" panose="02040503050406030204" pitchFamily="18" charset="0"/>
                      </a:rPr>
                      <m:t>∘</m:t>
                    </m:r>
                    <m:r>
                      <a:rPr kumimoji="1" lang="ja-JP" altLang="en-US" b="0" i="1" smtClean="0">
                        <a:latin typeface="Cambria Math" panose="02040503050406030204" pitchFamily="18" charset="0"/>
                        <a:ea typeface="Cambria Math" panose="02040503050406030204" pitchFamily="18" charset="0"/>
                      </a:rPr>
                      <m:t>𝒮</m:t>
                    </m:r>
                  </m:oMath>
                </a14:m>
                <a:r>
                  <a:rPr kumimoji="1" lang="ja-JP" altLang="en-US"/>
                  <a:t> を公開鍵とする</a:t>
                </a:r>
                <a:r>
                  <a:rPr kumimoji="1" lang="en-US" altLang="ja-JP"/>
                  <a:t>.</a:t>
                </a:r>
              </a:p>
              <a:p>
                <a:pPr marL="342900" indent="-342900">
                  <a:buFont typeface="+mj-lt"/>
                  <a:buAutoNum type="arabicPeriod"/>
                </a:pPr>
                <a:r>
                  <a:rPr kumimoji="1" lang="ja-JP" altLang="en-US"/>
                  <a:t> </a:t>
                </a:r>
                <a14:m>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𝑠𝑘</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ja-JP" altLang="en-US" b="0" i="1" smtClean="0">
                            <a:latin typeface="Cambria Math" panose="02040503050406030204" pitchFamily="18" charset="0"/>
                          </a:rPr>
                          <m:t>𝒮</m:t>
                        </m:r>
                      </m:e>
                      <m:sup>
                        <m:r>
                          <a:rPr kumimoji="1" lang="en-US" altLang="ja-JP" b="0" i="1" smtClean="0">
                            <a:latin typeface="Cambria Math" panose="02040503050406030204" pitchFamily="18" charset="0"/>
                          </a:rPr>
                          <m:t>−1</m:t>
                        </m:r>
                      </m:sup>
                    </m:sSup>
                    <m:d>
                      <m:dPr>
                        <m:ctrlPr>
                          <a:rPr kumimoji="1" lang="en-US" altLang="ja-JP" b="0" i="1" smtClean="0">
                            <a:latin typeface="Cambria Math" panose="02040503050406030204" pitchFamily="18" charset="0"/>
                          </a:rPr>
                        </m:ctrlPr>
                      </m:dPr>
                      <m:e>
                        <m:m>
                          <m:mPr>
                            <m:mcs>
                              <m:mc>
                                <m:mcPr>
                                  <m:count m:val="1"/>
                                  <m:mcJc m:val="center"/>
                                </m:mcPr>
                              </m:mc>
                            </m:mcs>
                            <m:ctrlPr>
                              <a:rPr kumimoji="1" lang="en-US" altLang="ja-JP" b="0" i="1" smtClean="0">
                                <a:latin typeface="Cambria Math" panose="02040503050406030204" pitchFamily="18" charset="0"/>
                              </a:rPr>
                            </m:ctrlPr>
                          </m:mPr>
                          <m:mr>
                            <m:e>
                              <m:r>
                                <m:rPr>
                                  <m:brk m:alnAt="7"/>
                                </m:rPr>
                                <a:rPr kumimoji="1" lang="en-US" altLang="ja-JP" b="0" i="1" smtClean="0">
                                  <a:latin typeface="Cambria Math" panose="02040503050406030204" pitchFamily="18" charset="0"/>
                                </a:rPr>
                                <m:t>0</m:t>
                              </m:r>
                            </m:e>
                          </m:mr>
                          <m:mr>
                            <m:e>
                              <m:r>
                                <a:rPr kumimoji="1" lang="en-US" altLang="ja-JP" b="0" i="1" smtClean="0">
                                  <a:latin typeface="Cambria Math" panose="02040503050406030204" pitchFamily="18" charset="0"/>
                                </a:rPr>
                                <m:t>𝑥</m:t>
                              </m:r>
                            </m:e>
                          </m:mr>
                          <m:mr>
                            <m:e>
                              <m:r>
                                <a:rPr kumimoji="1" lang="en-US" altLang="ja-JP" b="0" i="1" smtClean="0">
                                  <a:latin typeface="Cambria Math" panose="02040503050406030204" pitchFamily="18" charset="0"/>
                                </a:rPr>
                                <m:t>0</m:t>
                              </m:r>
                            </m:e>
                          </m:mr>
                        </m:m>
                      </m:e>
                    </m:d>
                    <m:r>
                      <a:rPr kumimoji="1"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𝑠𝑘</m:t>
                        </m:r>
                      </m:e>
                      <m:sub>
                        <m:r>
                          <a:rPr lang="en-US" altLang="ja-JP" b="0" i="1" smtClean="0">
                            <a:latin typeface="Cambria Math" panose="02040503050406030204" pitchFamily="18" charset="0"/>
                          </a:rPr>
                          <m:t>2</m:t>
                        </m:r>
                      </m:sub>
                    </m:sSub>
                    <m:r>
                      <a:rPr lang="en-US" altLang="ja-JP" i="1">
                        <a:latin typeface="Cambria Math" panose="02040503050406030204" pitchFamily="18" charset="0"/>
                      </a:rPr>
                      <m:t>=</m:t>
                    </m:r>
                    <m:sSup>
                      <m:sSupPr>
                        <m:ctrlPr>
                          <a:rPr lang="en-US" altLang="ja-JP" i="1">
                            <a:latin typeface="Cambria Math" panose="02040503050406030204" pitchFamily="18" charset="0"/>
                          </a:rPr>
                        </m:ctrlPr>
                      </m:sSupPr>
                      <m:e>
                        <m:r>
                          <a:rPr lang="ja-JP" altLang="en-US" i="1">
                            <a:latin typeface="Cambria Math" panose="02040503050406030204" pitchFamily="18" charset="0"/>
                          </a:rPr>
                          <m:t>𝒮</m:t>
                        </m:r>
                      </m:e>
                      <m:sup>
                        <m:r>
                          <a:rPr lang="en-US" altLang="ja-JP" i="1">
                            <a:latin typeface="Cambria Math" panose="02040503050406030204" pitchFamily="18" charset="0"/>
                          </a:rPr>
                          <m:t>−1</m:t>
                        </m:r>
                      </m:sup>
                    </m:sSup>
                    <m:d>
                      <m:dPr>
                        <m:ctrlPr>
                          <a:rPr lang="en-US" altLang="ja-JP" i="1">
                            <a:latin typeface="Cambria Math" panose="02040503050406030204" pitchFamily="18" charset="0"/>
                          </a:rPr>
                        </m:ctrlPr>
                      </m:dPr>
                      <m:e>
                        <m:m>
                          <m:mPr>
                            <m:mcs>
                              <m:mc>
                                <m:mcPr>
                                  <m:count m:val="1"/>
                                  <m:mcJc m:val="center"/>
                                </m:mcPr>
                              </m:mc>
                            </m:mcs>
                            <m:ctrlPr>
                              <a:rPr lang="en-US" altLang="ja-JP" i="1">
                                <a:latin typeface="Cambria Math" panose="02040503050406030204" pitchFamily="18" charset="0"/>
                              </a:rPr>
                            </m:ctrlPr>
                          </m:mPr>
                          <m:mr>
                            <m:e>
                              <m:r>
                                <m:rPr>
                                  <m:brk m:alnAt="7"/>
                                </m:rPr>
                                <a:rPr lang="en-US" altLang="ja-JP" i="1">
                                  <a:latin typeface="Cambria Math" panose="02040503050406030204" pitchFamily="18" charset="0"/>
                                </a:rPr>
                                <m:t>0</m:t>
                              </m:r>
                            </m:e>
                          </m:mr>
                          <m:mr>
                            <m:e>
                              <m:r>
                                <a:rPr lang="en-US" altLang="ja-JP" b="0" i="1" smtClean="0">
                                  <a:latin typeface="Cambria Math" panose="02040503050406030204" pitchFamily="18" charset="0"/>
                                </a:rPr>
                                <m:t>0</m:t>
                              </m:r>
                            </m:e>
                          </m:mr>
                          <m:mr>
                            <m:e>
                              <m:r>
                                <a:rPr lang="en-US" altLang="ja-JP" b="0" i="1" smtClean="0">
                                  <a:latin typeface="Cambria Math" panose="02040503050406030204" pitchFamily="18" charset="0"/>
                                </a:rPr>
                                <m:t>𝑥</m:t>
                              </m:r>
                            </m:e>
                          </m:mr>
                        </m:m>
                      </m:e>
                    </m:d>
                  </m:oMath>
                </a14:m>
                <a:r>
                  <a:rPr kumimoji="1" lang="ja-JP" altLang="en-US"/>
                  <a:t> を秘密鍵とする</a:t>
                </a:r>
                <a:r>
                  <a:rPr kumimoji="1" lang="en-US" altLang="ja-JP"/>
                  <a:t>.</a:t>
                </a:r>
                <a:endParaRPr kumimoji="1" lang="ja-JP" altLang="en-US"/>
              </a:p>
            </p:txBody>
          </p:sp>
        </mc:Choice>
        <mc:Fallback xmlns="">
          <p:sp>
            <p:nvSpPr>
              <p:cNvPr id="6" name="テキスト ボックス 5">
                <a:extLst>
                  <a:ext uri="{FF2B5EF4-FFF2-40B4-BE49-F238E27FC236}">
                    <a16:creationId xmlns:a16="http://schemas.microsoft.com/office/drawing/2014/main" id="{18526379-A6FC-F97E-4A69-BFF6CD43130F}"/>
                  </a:ext>
                </a:extLst>
              </p:cNvPr>
              <p:cNvSpPr txBox="1">
                <a:spLocks noRot="1" noChangeAspect="1" noMove="1" noResize="1" noEditPoints="1" noAdjustHandles="1" noChangeArrowheads="1" noChangeShapeType="1" noTextEdit="1"/>
              </p:cNvSpPr>
              <p:nvPr/>
            </p:nvSpPr>
            <p:spPr>
              <a:xfrm>
                <a:off x="180000" y="2365695"/>
                <a:ext cx="11069637" cy="1856534"/>
              </a:xfrm>
              <a:prstGeom prst="rect">
                <a:avLst/>
              </a:prstGeom>
              <a:blipFill>
                <a:blip r:embed="rId3"/>
                <a:stretch>
                  <a:fillRect l="-551" t="-2295"/>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305ECF8C-D44C-435E-616C-249D42997308}"/>
              </a:ext>
            </a:extLst>
          </p:cNvPr>
          <p:cNvSpPr txBox="1"/>
          <p:nvPr/>
        </p:nvSpPr>
        <p:spPr>
          <a:xfrm>
            <a:off x="180000" y="4563611"/>
            <a:ext cx="5645791" cy="646331"/>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a:t>この方法で更新できる</a:t>
            </a:r>
            <a:r>
              <a:rPr kumimoji="1" lang="en-US" altLang="ja-JP"/>
              <a:t>?</a:t>
            </a:r>
          </a:p>
          <a:p>
            <a:pPr marL="285750" indent="-285750">
              <a:buFont typeface="Arial" panose="020B0604020202020204" pitchFamily="34" charset="0"/>
              <a:buChar char="•"/>
            </a:pPr>
            <a:r>
              <a:rPr lang="ja-JP" altLang="en-US"/>
              <a:t>漏洩連鎖の可能性は</a:t>
            </a:r>
            <a:r>
              <a:rPr lang="en-US" altLang="ja-JP"/>
              <a:t>?</a:t>
            </a:r>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D0EA6F3D-9886-91DA-BBDE-BE4F5D43563D}"/>
                  </a:ext>
                </a:extLst>
              </p:cNvPr>
              <p:cNvSpPr txBox="1"/>
              <p:nvPr/>
            </p:nvSpPr>
            <p:spPr>
              <a:xfrm>
                <a:off x="180000" y="764775"/>
                <a:ext cx="7227479" cy="461665"/>
              </a:xfrm>
              <a:prstGeom prst="rect">
                <a:avLst/>
              </a:prstGeom>
              <a:noFill/>
            </p:spPr>
            <p:txBody>
              <a:bodyPr wrap="square" rtlCol="0">
                <a:spAutoFit/>
              </a:bodyPr>
              <a:lstStyle/>
              <a:p>
                <a:r>
                  <a:rPr lang="en-US" altLang="ja-JP" sz="2400" b="1">
                    <a:solidFill>
                      <a:schemeClr val="accent4">
                        <a:lumMod val="75000"/>
                      </a:schemeClr>
                    </a:solidFill>
                  </a:rPr>
                  <a:t>7</a:t>
                </a:r>
                <a:r>
                  <a:rPr kumimoji="1" lang="en-US" altLang="ja-JP" sz="2400" b="1">
                    <a:solidFill>
                      <a:schemeClr val="accent4">
                        <a:lumMod val="75000"/>
                      </a:schemeClr>
                    </a:solidFill>
                  </a:rPr>
                  <a:t>-1. </a:t>
                </a:r>
                <a14:m>
                  <m:oMath xmlns:m="http://schemas.openxmlformats.org/officeDocument/2006/math">
                    <m:r>
                      <a:rPr lang="en-US" altLang="ja-JP" sz="2400" b="1" i="1" smtClean="0">
                        <a:solidFill>
                          <a:schemeClr val="accent4">
                            <a:lumMod val="75000"/>
                          </a:schemeClr>
                        </a:solidFill>
                        <a:latin typeface="Cambria Math" panose="02040503050406030204" pitchFamily="18" charset="0"/>
                      </a:rPr>
                      <m:t>𝒌</m:t>
                    </m:r>
                    <m:r>
                      <a:rPr lang="en-US" altLang="ja-JP" sz="2400" b="1" i="1" smtClean="0">
                        <a:solidFill>
                          <a:schemeClr val="accent4">
                            <a:lumMod val="75000"/>
                          </a:schemeClr>
                        </a:solidFill>
                        <a:latin typeface="Cambria Math" panose="02040503050406030204" pitchFamily="18" charset="0"/>
                      </a:rPr>
                      <m:t>=</m:t>
                    </m:r>
                    <m:r>
                      <a:rPr lang="en-US" altLang="ja-JP" sz="2400" b="1" i="1" smtClean="0">
                        <a:solidFill>
                          <a:schemeClr val="accent4">
                            <a:lumMod val="75000"/>
                          </a:schemeClr>
                        </a:solidFill>
                        <a:latin typeface="Cambria Math" panose="02040503050406030204" pitchFamily="18" charset="0"/>
                      </a:rPr>
                      <m:t>𝟐</m:t>
                    </m:r>
                  </m:oMath>
                </a14:m>
                <a:r>
                  <a:rPr lang="ja-JP" altLang="en-US" sz="2400" b="1">
                    <a:solidFill>
                      <a:schemeClr val="accent4">
                        <a:lumMod val="75000"/>
                      </a:schemeClr>
                    </a:solidFill>
                  </a:rPr>
                  <a:t> の特化</a:t>
                </a:r>
                <a:endParaRPr kumimoji="1" lang="ja-JP" altLang="en-US" sz="2400" b="1" dirty="0">
                  <a:solidFill>
                    <a:schemeClr val="accent4">
                      <a:lumMod val="75000"/>
                    </a:schemeClr>
                  </a:solidFill>
                </a:endParaRPr>
              </a:p>
            </p:txBody>
          </p:sp>
        </mc:Choice>
        <mc:Fallback xmlns="">
          <p:sp>
            <p:nvSpPr>
              <p:cNvPr id="9" name="テキスト ボックス 8">
                <a:extLst>
                  <a:ext uri="{FF2B5EF4-FFF2-40B4-BE49-F238E27FC236}">
                    <a16:creationId xmlns:a16="http://schemas.microsoft.com/office/drawing/2014/main" id="{D0EA6F3D-9886-91DA-BBDE-BE4F5D43563D}"/>
                  </a:ext>
                </a:extLst>
              </p:cNvPr>
              <p:cNvSpPr txBox="1">
                <a:spLocks noRot="1" noChangeAspect="1" noMove="1" noResize="1" noEditPoints="1" noAdjustHandles="1" noChangeArrowheads="1" noChangeShapeType="1" noTextEdit="1"/>
              </p:cNvSpPr>
              <p:nvPr/>
            </p:nvSpPr>
            <p:spPr>
              <a:xfrm>
                <a:off x="180000" y="764775"/>
                <a:ext cx="7227479" cy="461665"/>
              </a:xfrm>
              <a:prstGeom prst="rect">
                <a:avLst/>
              </a:prstGeom>
              <a:blipFill>
                <a:blip r:embed="rId4"/>
                <a:stretch>
                  <a:fillRect l="-1350" t="-10526" b="-2894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567717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EB7F970-9736-2228-783C-4B878BA77E80}"/>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77AE221-632B-FF30-12A7-AD45075971A8}"/>
              </a:ext>
            </a:extLst>
          </p:cNvPr>
          <p:cNvSpPr txBox="1"/>
          <p:nvPr/>
        </p:nvSpPr>
        <p:spPr>
          <a:xfrm>
            <a:off x="180000" y="180000"/>
            <a:ext cx="5558070" cy="584775"/>
          </a:xfrm>
          <a:prstGeom prst="rect">
            <a:avLst/>
          </a:prstGeom>
          <a:noFill/>
        </p:spPr>
        <p:txBody>
          <a:bodyPr wrap="square" rtlCol="0">
            <a:spAutoFit/>
          </a:bodyPr>
          <a:lstStyle/>
          <a:p>
            <a:r>
              <a:rPr lang="en-US" altLang="ja-JP" sz="3200" b="1">
                <a:solidFill>
                  <a:schemeClr val="accent4">
                    <a:lumMod val="75000"/>
                  </a:schemeClr>
                </a:solidFill>
              </a:rPr>
              <a:t>7.</a:t>
            </a:r>
            <a:r>
              <a:rPr lang="ja-JP" altLang="en-US" sz="3200" b="1">
                <a:solidFill>
                  <a:schemeClr val="accent4">
                    <a:lumMod val="75000"/>
                  </a:schemeClr>
                </a:solidFill>
              </a:rPr>
              <a:t> 特殊な</a:t>
            </a:r>
            <a:r>
              <a:rPr lang="en-US" altLang="ja-JP" sz="3200" b="1">
                <a:solidFill>
                  <a:schemeClr val="accent4">
                    <a:lumMod val="75000"/>
                  </a:schemeClr>
                </a:solidFill>
              </a:rPr>
              <a:t>MZUOV</a:t>
            </a:r>
            <a:endParaRPr lang="en-US" altLang="ja-JP" sz="3200" b="1" dirty="0">
              <a:solidFill>
                <a:schemeClr val="accent4">
                  <a:lumMod val="75000"/>
                </a:schemeClr>
              </a:solidFill>
            </a:endParaRP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4858F530-FEA5-2F46-D834-C69C97511193}"/>
                  </a:ext>
                </a:extLst>
              </p:cNvPr>
              <p:cNvSpPr txBox="1"/>
              <p:nvPr/>
            </p:nvSpPr>
            <p:spPr>
              <a:xfrm>
                <a:off x="180000" y="1468073"/>
                <a:ext cx="11453768" cy="369332"/>
              </a:xfrm>
              <a:prstGeom prst="rect">
                <a:avLst/>
              </a:prstGeom>
              <a:noFill/>
            </p:spPr>
            <p:txBody>
              <a:bodyPr wrap="square" rtlCol="0">
                <a:spAutoFit/>
              </a:bodyPr>
              <a:lstStyle/>
              <a:p>
                <a14:m>
                  <m:oMath xmlns:m="http://schemas.openxmlformats.org/officeDocument/2006/math">
                    <m:r>
                      <a:rPr kumimoji="1" lang="en-US" altLang="ja-JP" b="0" i="1" smtClean="0">
                        <a:latin typeface="Cambria Math" panose="02040503050406030204" pitchFamily="18" charset="0"/>
                      </a:rPr>
                      <m:t>𝑛</m:t>
                    </m:r>
                    <m:r>
                      <a:rPr kumimoji="1" lang="en-US" altLang="ja-JP" b="0" i="1" smtClean="0">
                        <a:latin typeface="Cambria Math" panose="02040503050406030204" pitchFamily="18" charset="0"/>
                      </a:rPr>
                      <m:t>=3</m:t>
                    </m:r>
                    <m:r>
                      <a:rPr kumimoji="1" lang="en-US" altLang="ja-JP" b="0" i="1" smtClean="0">
                        <a:latin typeface="Cambria Math" panose="02040503050406030204" pitchFamily="18" charset="0"/>
                      </a:rPr>
                      <m:t>𝑜</m:t>
                    </m:r>
                  </m:oMath>
                </a14:m>
                <a:r>
                  <a:rPr kumimoji="1" lang="en-US" altLang="ja-JP"/>
                  <a:t> </a:t>
                </a:r>
                <a:r>
                  <a:rPr kumimoji="1" lang="ja-JP" altLang="en-US"/>
                  <a:t>かつ</a:t>
                </a:r>
                <a:r>
                  <a:rPr kumimoji="1" lang="en-US" altLang="ja-JP"/>
                  <a:t> </a:t>
                </a:r>
                <a14:m>
                  <m:oMath xmlns:m="http://schemas.openxmlformats.org/officeDocument/2006/math">
                    <m:r>
                      <a:rPr kumimoji="1" lang="en-US" altLang="ja-JP" b="0" i="1" smtClean="0">
                        <a:latin typeface="Cambria Math" panose="02040503050406030204" pitchFamily="18" charset="0"/>
                      </a:rPr>
                      <m:t>𝑘</m:t>
                    </m:r>
                    <m:r>
                      <a:rPr kumimoji="1" lang="en-US" altLang="ja-JP" b="0" i="1" smtClean="0">
                        <a:latin typeface="Cambria Math" panose="02040503050406030204" pitchFamily="18" charset="0"/>
                      </a:rPr>
                      <m:t>=3</m:t>
                    </m:r>
                  </m:oMath>
                </a14:m>
                <a:r>
                  <a:rPr kumimoji="1" lang="ja-JP" altLang="en-US"/>
                  <a:t> に限定し</a:t>
                </a:r>
                <a:r>
                  <a:rPr kumimoji="1" lang="en-US" altLang="ja-JP"/>
                  <a:t>, </a:t>
                </a:r>
                <a:r>
                  <a:rPr kumimoji="1" lang="ja-JP" altLang="en-US"/>
                  <a:t>さらに秘密鍵</a:t>
                </a:r>
                <a:r>
                  <a:rPr lang="ja-JP" altLang="en-US"/>
                  <a:t>の基底を一部制限したら</a:t>
                </a:r>
                <a:r>
                  <a:rPr kumimoji="1" lang="en-US" altLang="ja-JP"/>
                  <a:t>, MZUOV</a:t>
                </a:r>
                <a:r>
                  <a:rPr kumimoji="1" lang="ja-JP" altLang="en-US"/>
                  <a:t>の鍵生成はかなり速くなる</a:t>
                </a:r>
                <a:r>
                  <a:rPr kumimoji="1" lang="en-US" altLang="ja-JP"/>
                  <a:t>.</a:t>
                </a:r>
                <a:endParaRPr kumimoji="1" lang="ja-JP" altLang="en-US"/>
              </a:p>
            </p:txBody>
          </p:sp>
        </mc:Choice>
        <mc:Fallback xmlns="">
          <p:sp>
            <p:nvSpPr>
              <p:cNvPr id="5" name="テキスト ボックス 4">
                <a:extLst>
                  <a:ext uri="{FF2B5EF4-FFF2-40B4-BE49-F238E27FC236}">
                    <a16:creationId xmlns:a16="http://schemas.microsoft.com/office/drawing/2014/main" id="{4858F530-FEA5-2F46-D834-C69C97511193}"/>
                  </a:ext>
                </a:extLst>
              </p:cNvPr>
              <p:cNvSpPr txBox="1">
                <a:spLocks noRot="1" noChangeAspect="1" noMove="1" noResize="1" noEditPoints="1" noAdjustHandles="1" noChangeArrowheads="1" noChangeShapeType="1" noTextEdit="1"/>
              </p:cNvSpPr>
              <p:nvPr/>
            </p:nvSpPr>
            <p:spPr>
              <a:xfrm>
                <a:off x="180000" y="1468073"/>
                <a:ext cx="11453768" cy="369332"/>
              </a:xfrm>
              <a:prstGeom prst="rect">
                <a:avLst/>
              </a:prstGeom>
              <a:blipFill>
                <a:blip r:embed="rId2"/>
                <a:stretch>
                  <a:fillRect t="-8333" b="-28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93932A21-5A3D-262A-673E-1520E31CFC96}"/>
                  </a:ext>
                </a:extLst>
              </p:cNvPr>
              <p:cNvSpPr txBox="1"/>
              <p:nvPr/>
            </p:nvSpPr>
            <p:spPr>
              <a:xfrm>
                <a:off x="180000" y="2365695"/>
                <a:ext cx="11069637" cy="2608343"/>
              </a:xfrm>
              <a:prstGeom prst="rect">
                <a:avLst/>
              </a:prstGeom>
              <a:noFill/>
            </p:spPr>
            <p:txBody>
              <a:bodyPr wrap="square" rtlCol="0">
                <a:spAutoFit/>
              </a:bodyPr>
              <a:lstStyle/>
              <a:p>
                <a:pPr marL="342900" indent="-342900">
                  <a:buFont typeface="+mj-lt"/>
                  <a:buAutoNum type="arabicPeriod"/>
                </a:pPr>
                <a:r>
                  <a:rPr lang="ja-JP" altLang="en-US"/>
                  <a:t>秘密鍵の</a:t>
                </a:r>
                <a:r>
                  <a:rPr lang="en-US" altLang="ja-JP"/>
                  <a:t>(</a:t>
                </a:r>
                <a:r>
                  <a:rPr lang="ja-JP" altLang="en-US"/>
                  <a:t>列</a:t>
                </a:r>
                <a:r>
                  <a:rPr lang="en-US" altLang="ja-JP"/>
                  <a:t>)</a:t>
                </a:r>
                <a:r>
                  <a:rPr lang="ja-JP" altLang="en-US"/>
                  <a:t>基底をそれぞれ </a:t>
                </a:r>
                <a14:m>
                  <m:oMath xmlns:m="http://schemas.openxmlformats.org/officeDocument/2006/math">
                    <m:sSub>
                      <m:sSubPr>
                        <m:ctrlPr>
                          <a:rPr lang="en-US" altLang="ja-JP" i="1" smtClean="0">
                            <a:latin typeface="Cambria Math" panose="02040503050406030204" pitchFamily="18" charset="0"/>
                          </a:rPr>
                        </m:ctrlPr>
                      </m:sSubPr>
                      <m:e>
                        <m:r>
                          <a:rPr lang="en-US" altLang="ja-JP" b="0" i="1" smtClean="0">
                            <a:latin typeface="Cambria Math" panose="02040503050406030204" pitchFamily="18" charset="0"/>
                          </a:rPr>
                          <m:t>𝑠𝑘</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d>
                      <m:dPr>
                        <m:ctrlPr>
                          <a:rPr lang="en-US" altLang="ja-JP" b="0" i="1" smtClean="0">
                            <a:latin typeface="Cambria Math" panose="02040503050406030204" pitchFamily="18" charset="0"/>
                          </a:rPr>
                        </m:ctrlPr>
                      </m:dPr>
                      <m:e>
                        <m:m>
                          <m:mPr>
                            <m:mcs>
                              <m:mc>
                                <m:mcPr>
                                  <m:count m:val="1"/>
                                  <m:mcJc m:val="center"/>
                                </m:mcPr>
                              </m:mc>
                            </m:mcs>
                            <m:ctrlPr>
                              <a:rPr lang="en-US" altLang="ja-JP" b="0" i="1" smtClean="0">
                                <a:latin typeface="Cambria Math" panose="02040503050406030204" pitchFamily="18" charset="0"/>
                              </a:rPr>
                            </m:ctrlPr>
                          </m:mPr>
                          <m:mr>
                            <m:e>
                              <m:r>
                                <m:rPr>
                                  <m:brk m:alnAt="7"/>
                                </m:rPr>
                                <a:rPr lang="en-US" altLang="ja-JP" b="0" i="1" smtClean="0">
                                  <a:latin typeface="Cambria Math" panose="02040503050406030204" pitchFamily="18" charset="0"/>
                                </a:rPr>
                                <m:t>𝐼</m:t>
                              </m:r>
                            </m:e>
                          </m:mr>
                          <m:mr>
                            <m:e>
                              <m:r>
                                <a:rPr lang="en-US" altLang="ja-JP" b="0" i="1" smtClean="0">
                                  <a:latin typeface="Cambria Math" panose="02040503050406030204" pitchFamily="18" charset="0"/>
                                </a:rPr>
                                <m:t>0</m:t>
                              </m:r>
                            </m:e>
                          </m:mr>
                          <m:m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m:t>
                                  </m:r>
                                  <m:r>
                                    <a:rPr lang="en-US" altLang="ja-JP" b="0" i="1" smtClean="0">
                                      <a:latin typeface="Cambria Math" panose="02040503050406030204" pitchFamily="18" charset="0"/>
                                    </a:rPr>
                                    <m:t>𝑆</m:t>
                                  </m:r>
                                </m:e>
                                <m:sub>
                                  <m:r>
                                    <a:rPr lang="en-US" altLang="ja-JP" b="0" i="1" smtClean="0">
                                      <a:latin typeface="Cambria Math" panose="02040503050406030204" pitchFamily="18" charset="0"/>
                                    </a:rPr>
                                    <m:t>1</m:t>
                                  </m:r>
                                </m:sub>
                              </m:sSub>
                            </m:e>
                          </m:mr>
                        </m:m>
                      </m:e>
                    </m:d>
                    <m:r>
                      <a:rPr lang="en-US" altLang="ja-JP" b="0" i="1" smtClean="0">
                        <a:latin typeface="Cambria Math" panose="02040503050406030204" pitchFamily="18" charset="0"/>
                      </a:rPr>
                      <m:t>, </m:t>
                    </m:r>
                    <m:sSub>
                      <m:sSubPr>
                        <m:ctrlPr>
                          <a:rPr lang="en-US" altLang="ja-JP" i="1">
                            <a:latin typeface="Cambria Math" panose="02040503050406030204" pitchFamily="18" charset="0"/>
                          </a:rPr>
                        </m:ctrlPr>
                      </m:sSubPr>
                      <m:e>
                        <m:r>
                          <a:rPr lang="en-US" altLang="ja-JP" i="1">
                            <a:latin typeface="Cambria Math" panose="02040503050406030204" pitchFamily="18" charset="0"/>
                          </a:rPr>
                          <m:t>𝑠𝑘</m:t>
                        </m:r>
                      </m:e>
                      <m:sub>
                        <m:r>
                          <a:rPr lang="en-US" altLang="ja-JP" b="0" i="1" smtClean="0">
                            <a:latin typeface="Cambria Math" panose="02040503050406030204" pitchFamily="18" charset="0"/>
                          </a:rPr>
                          <m:t>2</m:t>
                        </m:r>
                      </m:sub>
                    </m:sSub>
                    <m:r>
                      <a:rPr lang="en-US" altLang="ja-JP" i="1">
                        <a:latin typeface="Cambria Math" panose="02040503050406030204" pitchFamily="18" charset="0"/>
                      </a:rPr>
                      <m:t>=</m:t>
                    </m:r>
                    <m:d>
                      <m:dPr>
                        <m:ctrlPr>
                          <a:rPr lang="en-US" altLang="ja-JP" i="1">
                            <a:latin typeface="Cambria Math" panose="02040503050406030204" pitchFamily="18" charset="0"/>
                          </a:rPr>
                        </m:ctrlPr>
                      </m:dPr>
                      <m:e>
                        <m:m>
                          <m:mPr>
                            <m:mcs>
                              <m:mc>
                                <m:mcPr>
                                  <m:count m:val="1"/>
                                  <m:mcJc m:val="center"/>
                                </m:mcPr>
                              </m:mc>
                            </m:mcs>
                            <m:ctrlPr>
                              <a:rPr lang="en-US" altLang="ja-JP" i="1">
                                <a:latin typeface="Cambria Math" panose="02040503050406030204" pitchFamily="18" charset="0"/>
                              </a:rPr>
                            </m:ctrlPr>
                          </m:mPr>
                          <m:m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m:t>
                                  </m:r>
                                  <m:r>
                                    <m:rPr>
                                      <m:brk m:alnAt="7"/>
                                    </m:rPr>
                                    <a:rPr lang="en-US" altLang="ja-JP" b="0" i="1" smtClean="0">
                                      <a:latin typeface="Cambria Math" panose="02040503050406030204" pitchFamily="18" charset="0"/>
                                    </a:rPr>
                                    <m:t>𝑆</m:t>
                                  </m:r>
                                </m:e>
                                <m:sub>
                                  <m:r>
                                    <m:rPr>
                                      <m:brk m:alnAt="7"/>
                                    </m:rPr>
                                    <a:rPr lang="en-US" altLang="ja-JP" b="0" i="1" smtClean="0">
                                      <a:latin typeface="Cambria Math" panose="02040503050406030204" pitchFamily="18" charset="0"/>
                                    </a:rPr>
                                    <m:t>2</m:t>
                                  </m:r>
                                </m:sub>
                              </m:sSub>
                            </m:e>
                          </m:mr>
                          <m:mr>
                            <m:e>
                              <m:r>
                                <a:rPr lang="en-US" altLang="ja-JP" b="0" i="1" smtClean="0">
                                  <a:latin typeface="Cambria Math" panose="02040503050406030204" pitchFamily="18" charset="0"/>
                                </a:rPr>
                                <m:t>𝐼</m:t>
                              </m:r>
                            </m:e>
                          </m:mr>
                          <m:mr>
                            <m:e>
                              <m:r>
                                <a:rPr lang="en-US" altLang="ja-JP" b="0" i="1" smtClean="0">
                                  <a:latin typeface="Cambria Math" panose="02040503050406030204" pitchFamily="18" charset="0"/>
                                </a:rPr>
                                <m:t>0</m:t>
                              </m:r>
                            </m:e>
                          </m:mr>
                        </m:m>
                      </m:e>
                    </m:d>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𝑠𝑘</m:t>
                        </m:r>
                      </m:e>
                      <m:sub>
                        <m:r>
                          <a:rPr lang="en-US" altLang="ja-JP" b="0" i="1" smtClean="0">
                            <a:latin typeface="Cambria Math" panose="02040503050406030204" pitchFamily="18" charset="0"/>
                          </a:rPr>
                          <m:t>3</m:t>
                        </m:r>
                      </m:sub>
                    </m:sSub>
                    <m:r>
                      <a:rPr lang="en-US" altLang="ja-JP" i="1">
                        <a:latin typeface="Cambria Math" panose="02040503050406030204" pitchFamily="18" charset="0"/>
                      </a:rPr>
                      <m:t>=</m:t>
                    </m:r>
                    <m:d>
                      <m:dPr>
                        <m:ctrlPr>
                          <a:rPr lang="en-US" altLang="ja-JP" i="1">
                            <a:latin typeface="Cambria Math" panose="02040503050406030204" pitchFamily="18" charset="0"/>
                          </a:rPr>
                        </m:ctrlPr>
                      </m:dPr>
                      <m:e>
                        <m:r>
                          <a:rPr lang="en-US" altLang="ja-JP" b="0" i="1" smtClean="0">
                            <a:latin typeface="Cambria Math" panose="02040503050406030204" pitchFamily="18" charset="0"/>
                          </a:rPr>
                          <m:t>−</m:t>
                        </m:r>
                        <m:m>
                          <m:mPr>
                            <m:mcs>
                              <m:mc>
                                <m:mcPr>
                                  <m:count m:val="1"/>
                                  <m:mcJc m:val="center"/>
                                </m:mcPr>
                              </m:mc>
                            </m:mcs>
                            <m:ctrlPr>
                              <a:rPr lang="en-US" altLang="ja-JP" i="1">
                                <a:latin typeface="Cambria Math" panose="02040503050406030204" pitchFamily="18" charset="0"/>
                              </a:rPr>
                            </m:ctrlPr>
                          </m:mPr>
                          <m:mr>
                            <m:e>
                              <m:r>
                                <m:rPr>
                                  <m:brk m:alnAt="7"/>
                                </m:rPr>
                                <a:rPr lang="en-US" altLang="ja-JP" b="0" i="1" smtClean="0">
                                  <a:latin typeface="Cambria Math" panose="02040503050406030204" pitchFamily="18" charset="0"/>
                                </a:rPr>
                                <m:t>0</m:t>
                              </m:r>
                            </m:e>
                          </m:mr>
                          <m:m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𝑆</m:t>
                                  </m:r>
                                </m:e>
                                <m:sub>
                                  <m:r>
                                    <a:rPr lang="en-US" altLang="ja-JP" b="0" i="1" smtClean="0">
                                      <a:latin typeface="Cambria Math" panose="02040503050406030204" pitchFamily="18" charset="0"/>
                                    </a:rPr>
                                    <m:t>3</m:t>
                                  </m:r>
                                </m:sub>
                              </m:sSub>
                            </m:e>
                          </m:mr>
                          <m:mr>
                            <m:e>
                              <m:r>
                                <a:rPr lang="en-US" altLang="ja-JP" b="0" i="1" smtClean="0">
                                  <a:latin typeface="Cambria Math" panose="02040503050406030204" pitchFamily="18" charset="0"/>
                                </a:rPr>
                                <m:t>𝐼</m:t>
                              </m:r>
                            </m:e>
                          </m:mr>
                        </m:m>
                      </m:e>
                    </m:d>
                  </m:oMath>
                </a14:m>
                <a:r>
                  <a:rPr lang="en-US" altLang="ja-JP"/>
                  <a:t> </a:t>
                </a:r>
                <a:r>
                  <a:rPr lang="ja-JP" altLang="en-US"/>
                  <a:t>とする</a:t>
                </a:r>
                <a:r>
                  <a:rPr lang="en-US" altLang="ja-JP"/>
                  <a:t>.</a:t>
                </a:r>
              </a:p>
              <a:p>
                <a:pPr marL="342900" indent="-342900">
                  <a:buFont typeface="+mj-lt"/>
                  <a:buAutoNum type="arabicPeriod"/>
                </a:pPr>
                <a:r>
                  <a:rPr kumimoji="1" lang="ja-JP" altLang="en-US"/>
                  <a:t>正則行列 </a:t>
                </a:r>
                <a14:m>
                  <m:oMath xmlns:m="http://schemas.openxmlformats.org/officeDocument/2006/math">
                    <m:r>
                      <a:rPr kumimoji="1" lang="ja-JP" altLang="en-US" i="1" smtClean="0">
                        <a:latin typeface="Cambria Math" panose="02040503050406030204" pitchFamily="18" charset="0"/>
                      </a:rPr>
                      <m:t>𝒮</m:t>
                    </m:r>
                    <m:r>
                      <a:rPr kumimoji="1" lang="en-US" altLang="ja-JP" b="0" i="1" smtClean="0">
                        <a:latin typeface="Cambria Math" panose="02040503050406030204" pitchFamily="18" charset="0"/>
                      </a:rPr>
                      <m:t>=</m:t>
                    </m:r>
                    <m:d>
                      <m:dPr>
                        <m:ctrlPr>
                          <a:rPr kumimoji="1" lang="en-US" altLang="ja-JP" b="0" i="1" smtClean="0">
                            <a:latin typeface="Cambria Math" panose="02040503050406030204" pitchFamily="18" charset="0"/>
                          </a:rPr>
                        </m:ctrlPr>
                      </m:dPr>
                      <m:e>
                        <m:m>
                          <m:mPr>
                            <m:mcs>
                              <m:mc>
                                <m:mcPr>
                                  <m:count m:val="3"/>
                                  <m:mcJc m:val="center"/>
                                </m:mcPr>
                              </m:mc>
                            </m:mcs>
                            <m:ctrlPr>
                              <a:rPr kumimoji="1" lang="en-US" altLang="ja-JP" b="0" i="1" smtClean="0">
                                <a:latin typeface="Cambria Math" panose="02040503050406030204" pitchFamily="18" charset="0"/>
                              </a:rPr>
                            </m:ctrlPr>
                          </m:mPr>
                          <m:mr>
                            <m:e>
                              <m:r>
                                <m:rPr>
                                  <m:brk m:alnAt="7"/>
                                </m:rPr>
                                <a:rPr kumimoji="1" lang="en-US" altLang="ja-JP" b="0" i="1" smtClean="0">
                                  <a:latin typeface="Cambria Math" panose="02040503050406030204" pitchFamily="18" charset="0"/>
                                </a:rPr>
                                <m:t>𝐼</m:t>
                              </m:r>
                            </m:e>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𝑆</m:t>
                                  </m:r>
                                </m:e>
                                <m:sub>
                                  <m:r>
                                    <a:rPr kumimoji="1" lang="en-US" altLang="ja-JP" b="0" i="1" smtClean="0">
                                      <a:latin typeface="Cambria Math" panose="02040503050406030204" pitchFamily="18" charset="0"/>
                                    </a:rPr>
                                    <m:t>2</m:t>
                                  </m:r>
                                </m:sub>
                              </m:sSub>
                            </m:e>
                            <m:e>
                              <m:r>
                                <a:rPr kumimoji="1" lang="en-US" altLang="ja-JP" b="0" i="1" smtClean="0">
                                  <a:latin typeface="Cambria Math" panose="02040503050406030204" pitchFamily="18" charset="0"/>
                                </a:rPr>
                                <m:t>0</m:t>
                              </m:r>
                            </m:e>
                          </m:mr>
                          <m:mr>
                            <m:e>
                              <m:r>
                                <a:rPr kumimoji="1" lang="en-US" altLang="ja-JP" b="0" i="1" smtClean="0">
                                  <a:latin typeface="Cambria Math" panose="02040503050406030204" pitchFamily="18" charset="0"/>
                                </a:rPr>
                                <m:t>0</m:t>
                              </m:r>
                            </m:e>
                            <m:e>
                              <m:r>
                                <a:rPr kumimoji="1" lang="en-US" altLang="ja-JP" b="0" i="1" smtClean="0">
                                  <a:latin typeface="Cambria Math" panose="02040503050406030204" pitchFamily="18" charset="0"/>
                                </a:rPr>
                                <m:t>𝐼</m:t>
                              </m:r>
                            </m:e>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𝑆</m:t>
                                  </m:r>
                                </m:e>
                                <m:sub>
                                  <m:r>
                                    <a:rPr kumimoji="1" lang="en-US" altLang="ja-JP" b="0" i="1" smtClean="0">
                                      <a:latin typeface="Cambria Math" panose="02040503050406030204" pitchFamily="18" charset="0"/>
                                    </a:rPr>
                                    <m:t>3</m:t>
                                  </m:r>
                                </m:sub>
                              </m:sSub>
                            </m:e>
                          </m:mr>
                          <m:m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𝑆</m:t>
                                  </m:r>
                                </m:e>
                                <m:sub>
                                  <m:r>
                                    <a:rPr kumimoji="1" lang="en-US" altLang="ja-JP" b="0" i="1" smtClean="0">
                                      <a:latin typeface="Cambria Math" panose="02040503050406030204" pitchFamily="18" charset="0"/>
                                    </a:rPr>
                                    <m:t>1</m:t>
                                  </m:r>
                                </m:sub>
                              </m:sSub>
                            </m:e>
                            <m:e>
                              <m:r>
                                <a:rPr kumimoji="1" lang="en-US" altLang="ja-JP" b="0" i="1" smtClean="0">
                                  <a:latin typeface="Cambria Math" panose="02040503050406030204" pitchFamily="18" charset="0"/>
                                </a:rPr>
                                <m:t>0</m:t>
                              </m:r>
                            </m:e>
                            <m:e>
                              <m:r>
                                <a:rPr kumimoji="1" lang="en-US" altLang="ja-JP" b="0" i="1" smtClean="0">
                                  <a:latin typeface="Cambria Math" panose="02040503050406030204" pitchFamily="18" charset="0"/>
                                </a:rPr>
                                <m:t>𝐼</m:t>
                              </m:r>
                            </m:e>
                          </m:mr>
                        </m:m>
                      </m:e>
                    </m:d>
                  </m:oMath>
                </a14:m>
                <a:r>
                  <a:rPr kumimoji="1" lang="ja-JP" altLang="en-US"/>
                  <a:t> をとる</a:t>
                </a:r>
                <a:r>
                  <a:rPr kumimoji="1" lang="en-US" altLang="ja-JP"/>
                  <a:t>.</a:t>
                </a:r>
              </a:p>
              <a:p>
                <a:pPr marL="342900" indent="-342900">
                  <a:buFont typeface="+mj-lt"/>
                  <a:buAutoNum type="arabicPeriod"/>
                </a:pPr>
                <a:r>
                  <a:rPr lang="ja-JP" altLang="en-US"/>
                  <a:t>中心写像 </a:t>
                </a:r>
                <a14:m>
                  <m:oMath xmlns:m="http://schemas.openxmlformats.org/officeDocument/2006/math">
                    <m:sSub>
                      <m:sSubPr>
                        <m:ctrlPr>
                          <a:rPr lang="en-US" altLang="ja-JP" b="0" i="1" smtClean="0">
                            <a:latin typeface="Cambria Math" panose="02040503050406030204" pitchFamily="18" charset="0"/>
                            <a:ea typeface="Cambria Math" panose="02040503050406030204" pitchFamily="18" charset="0"/>
                          </a:rPr>
                        </m:ctrlPr>
                      </m:sSubPr>
                      <m:e>
                        <m:r>
                          <a:rPr lang="en-US" altLang="ja-JP" i="1" smtClean="0">
                            <a:latin typeface="Cambria Math" panose="02040503050406030204" pitchFamily="18" charset="0"/>
                            <a:ea typeface="Cambria Math" panose="02040503050406030204" pitchFamily="18" charset="0"/>
                          </a:rPr>
                          <m:t>ℱ</m:t>
                        </m:r>
                      </m:e>
                      <m:sub>
                        <m:r>
                          <a:rPr lang="en-US" altLang="ja-JP" b="0" i="1" smtClean="0">
                            <a:latin typeface="Cambria Math" panose="02040503050406030204" pitchFamily="18" charset="0"/>
                            <a:ea typeface="Cambria Math" panose="02040503050406030204" pitchFamily="18" charset="0"/>
                          </a:rPr>
                          <m:t>𝑖</m:t>
                        </m:r>
                      </m:sub>
                    </m:sSub>
                    <m:r>
                      <a:rPr lang="en-US" altLang="ja-JP" b="0" i="1" smtClean="0">
                        <a:latin typeface="Cambria Math" panose="02040503050406030204" pitchFamily="18" charset="0"/>
                        <a:ea typeface="Cambria Math" panose="02040503050406030204" pitchFamily="18" charset="0"/>
                      </a:rPr>
                      <m:t>=</m:t>
                    </m:r>
                    <m:d>
                      <m:dPr>
                        <m:ctrlPr>
                          <a:rPr lang="en-US" altLang="ja-JP" b="0" i="1" smtClean="0">
                            <a:latin typeface="Cambria Math" panose="02040503050406030204" pitchFamily="18" charset="0"/>
                            <a:ea typeface="Cambria Math" panose="02040503050406030204" pitchFamily="18" charset="0"/>
                          </a:rPr>
                        </m:ctrlPr>
                      </m:dPr>
                      <m:e>
                        <m:m>
                          <m:mPr>
                            <m:mcs>
                              <m:mc>
                                <m:mcPr>
                                  <m:count m:val="3"/>
                                  <m:mcJc m:val="center"/>
                                </m:mcPr>
                              </m:mc>
                            </m:mcs>
                            <m:ctrlPr>
                              <a:rPr lang="en-US" altLang="ja-JP" b="0" i="1" smtClean="0">
                                <a:latin typeface="Cambria Math" panose="02040503050406030204" pitchFamily="18" charset="0"/>
                                <a:ea typeface="Cambria Math" panose="02040503050406030204" pitchFamily="18" charset="0"/>
                              </a:rPr>
                            </m:ctrlPr>
                          </m:mPr>
                          <m:mr>
                            <m:e>
                              <m:r>
                                <m:rPr>
                                  <m:brk m:alnAt="7"/>
                                </m:rPr>
                                <a:rPr lang="en-US" altLang="ja-JP" b="0" i="1" smtClean="0">
                                  <a:latin typeface="Cambria Math" panose="02040503050406030204" pitchFamily="18" charset="0"/>
                                  <a:ea typeface="Cambria Math" panose="02040503050406030204" pitchFamily="18" charset="0"/>
                                </a:rPr>
                                <m:t>0</m:t>
                              </m:r>
                            </m:e>
                            <m:e>
                              <m:r>
                                <a:rPr lang="en-US" altLang="ja-JP" b="0" i="1" smtClean="0">
                                  <a:latin typeface="Cambria Math" panose="02040503050406030204" pitchFamily="18" charset="0"/>
                                  <a:ea typeface="Cambria Math" panose="02040503050406030204" pitchFamily="18" charset="0"/>
                                </a:rPr>
                                <m:t>𝐴</m:t>
                              </m:r>
                            </m:e>
                            <m:e>
                              <m:r>
                                <a:rPr lang="en-US" altLang="ja-JP" b="0" i="1" smtClean="0">
                                  <a:latin typeface="Cambria Math" panose="02040503050406030204" pitchFamily="18" charset="0"/>
                                  <a:ea typeface="Cambria Math" panose="02040503050406030204" pitchFamily="18" charset="0"/>
                                </a:rPr>
                                <m:t>𝐵</m:t>
                              </m:r>
                            </m:e>
                          </m:mr>
                          <m:mr>
                            <m:e>
                              <m:sSup>
                                <m:sSupPr>
                                  <m:ctrlPr>
                                    <a:rPr lang="en-US" altLang="ja-JP" b="0" i="1" smtClean="0">
                                      <a:latin typeface="Cambria Math" panose="02040503050406030204" pitchFamily="18" charset="0"/>
                                      <a:ea typeface="Cambria Math" panose="02040503050406030204" pitchFamily="18" charset="0"/>
                                    </a:rPr>
                                  </m:ctrlPr>
                                </m:sSupPr>
                                <m:e>
                                  <m:r>
                                    <a:rPr lang="en-US" altLang="ja-JP" b="0" i="1" smtClean="0">
                                      <a:latin typeface="Cambria Math" panose="02040503050406030204" pitchFamily="18" charset="0"/>
                                      <a:ea typeface="Cambria Math" panose="02040503050406030204" pitchFamily="18" charset="0"/>
                                    </a:rPr>
                                    <m:t>𝐴</m:t>
                                  </m:r>
                                </m:e>
                                <m:sup>
                                  <m:r>
                                    <a:rPr lang="en-US" altLang="ja-JP" b="0" i="1" smtClean="0">
                                      <a:latin typeface="Cambria Math" panose="02040503050406030204" pitchFamily="18" charset="0"/>
                                      <a:ea typeface="Cambria Math" panose="02040503050406030204" pitchFamily="18" charset="0"/>
                                    </a:rPr>
                                    <m:t>𝑇</m:t>
                                  </m:r>
                                </m:sup>
                              </m:sSup>
                            </m:e>
                            <m:e>
                              <m:r>
                                <a:rPr lang="en-US" altLang="ja-JP" b="0" i="1" smtClean="0">
                                  <a:latin typeface="Cambria Math" panose="02040503050406030204" pitchFamily="18" charset="0"/>
                                  <a:ea typeface="Cambria Math" panose="02040503050406030204" pitchFamily="18" charset="0"/>
                                </a:rPr>
                                <m:t>0</m:t>
                              </m:r>
                            </m:e>
                            <m:e>
                              <m:r>
                                <a:rPr lang="en-US" altLang="ja-JP" b="0" i="1" smtClean="0">
                                  <a:latin typeface="Cambria Math" panose="02040503050406030204" pitchFamily="18" charset="0"/>
                                  <a:ea typeface="Cambria Math" panose="02040503050406030204" pitchFamily="18" charset="0"/>
                                </a:rPr>
                                <m:t>𝐶</m:t>
                              </m:r>
                            </m:e>
                          </m:mr>
                          <m:mr>
                            <m:e>
                              <m:sSup>
                                <m:sSupPr>
                                  <m:ctrlPr>
                                    <a:rPr lang="en-US" altLang="ja-JP" b="0" i="1" smtClean="0">
                                      <a:latin typeface="Cambria Math" panose="02040503050406030204" pitchFamily="18" charset="0"/>
                                      <a:ea typeface="Cambria Math" panose="02040503050406030204" pitchFamily="18" charset="0"/>
                                    </a:rPr>
                                  </m:ctrlPr>
                                </m:sSupPr>
                                <m:e>
                                  <m:r>
                                    <a:rPr lang="en-US" altLang="ja-JP" b="0" i="1" smtClean="0">
                                      <a:latin typeface="Cambria Math" panose="02040503050406030204" pitchFamily="18" charset="0"/>
                                      <a:ea typeface="Cambria Math" panose="02040503050406030204" pitchFamily="18" charset="0"/>
                                    </a:rPr>
                                    <m:t>𝐵</m:t>
                                  </m:r>
                                </m:e>
                                <m:sup>
                                  <m:r>
                                    <a:rPr lang="en-US" altLang="ja-JP" b="0" i="1" smtClean="0">
                                      <a:latin typeface="Cambria Math" panose="02040503050406030204" pitchFamily="18" charset="0"/>
                                      <a:ea typeface="Cambria Math" panose="02040503050406030204" pitchFamily="18" charset="0"/>
                                    </a:rPr>
                                    <m:t>𝑇</m:t>
                                  </m:r>
                                </m:sup>
                              </m:sSup>
                            </m:e>
                            <m:e>
                              <m:sSup>
                                <m:sSupPr>
                                  <m:ctrlPr>
                                    <a:rPr lang="en-US" altLang="ja-JP" b="0" i="1" smtClean="0">
                                      <a:latin typeface="Cambria Math" panose="02040503050406030204" pitchFamily="18" charset="0"/>
                                      <a:ea typeface="Cambria Math" panose="02040503050406030204" pitchFamily="18" charset="0"/>
                                    </a:rPr>
                                  </m:ctrlPr>
                                </m:sSupPr>
                                <m:e>
                                  <m:r>
                                    <a:rPr lang="en-US" altLang="ja-JP" b="0" i="1" smtClean="0">
                                      <a:latin typeface="Cambria Math" panose="02040503050406030204" pitchFamily="18" charset="0"/>
                                      <a:ea typeface="Cambria Math" panose="02040503050406030204" pitchFamily="18" charset="0"/>
                                    </a:rPr>
                                    <m:t>𝐶</m:t>
                                  </m:r>
                                </m:e>
                                <m:sup>
                                  <m:r>
                                    <a:rPr lang="en-US" altLang="ja-JP" b="0" i="1" smtClean="0">
                                      <a:latin typeface="Cambria Math" panose="02040503050406030204" pitchFamily="18" charset="0"/>
                                      <a:ea typeface="Cambria Math" panose="02040503050406030204" pitchFamily="18" charset="0"/>
                                    </a:rPr>
                                    <m:t>𝑇</m:t>
                                  </m:r>
                                </m:sup>
                              </m:sSup>
                            </m:e>
                            <m:e>
                              <m:r>
                                <a:rPr lang="en-US" altLang="ja-JP" b="0" i="1" smtClean="0">
                                  <a:latin typeface="Cambria Math" panose="02040503050406030204" pitchFamily="18" charset="0"/>
                                  <a:ea typeface="Cambria Math" panose="02040503050406030204" pitchFamily="18" charset="0"/>
                                </a:rPr>
                                <m:t>0</m:t>
                              </m:r>
                            </m:e>
                          </m:mr>
                        </m:m>
                      </m:e>
                    </m:d>
                    <m:r>
                      <a:rPr lang="en-US" altLang="ja-JP" b="0" i="1" smtClean="0">
                        <a:latin typeface="Cambria Math" panose="02040503050406030204" pitchFamily="18" charset="0"/>
                        <a:ea typeface="Cambria Math" panose="02040503050406030204" pitchFamily="18" charset="0"/>
                      </a:rPr>
                      <m:t>  (</m:t>
                    </m:r>
                    <m:r>
                      <a:rPr lang="en-US" altLang="ja-JP" b="0" i="1" smtClean="0">
                        <a:latin typeface="Cambria Math" panose="02040503050406030204" pitchFamily="18" charset="0"/>
                        <a:ea typeface="Cambria Math" panose="02040503050406030204" pitchFamily="18" charset="0"/>
                      </a:rPr>
                      <m:t>𝑖</m:t>
                    </m:r>
                    <m:r>
                      <a:rPr lang="en-US" altLang="ja-JP" b="0" i="1" smtClean="0">
                        <a:latin typeface="Cambria Math" panose="02040503050406030204" pitchFamily="18" charset="0"/>
                        <a:ea typeface="Cambria Math" panose="02040503050406030204" pitchFamily="18" charset="0"/>
                      </a:rPr>
                      <m:t>=1, ⋯, </m:t>
                    </m:r>
                    <m:r>
                      <a:rPr lang="en-US" altLang="ja-JP" b="0" i="1" smtClean="0">
                        <a:latin typeface="Cambria Math" panose="02040503050406030204" pitchFamily="18" charset="0"/>
                        <a:ea typeface="Cambria Math" panose="02040503050406030204" pitchFamily="18" charset="0"/>
                      </a:rPr>
                      <m:t>𝑚</m:t>
                    </m:r>
                    <m:r>
                      <a:rPr lang="en-US" altLang="ja-JP" b="0" i="1" smtClean="0">
                        <a:latin typeface="Cambria Math" panose="02040503050406030204" pitchFamily="18" charset="0"/>
                        <a:ea typeface="Cambria Math" panose="02040503050406030204" pitchFamily="18" charset="0"/>
                      </a:rPr>
                      <m:t>)</m:t>
                    </m:r>
                  </m:oMath>
                </a14:m>
                <a:r>
                  <a:rPr kumimoji="1" lang="ja-JP" altLang="en-US"/>
                  <a:t> をランダムにとり</a:t>
                </a:r>
                <a:r>
                  <a:rPr kumimoji="1" lang="en-US" altLang="ja-JP"/>
                  <a:t>, </a:t>
                </a:r>
                <a14:m>
                  <m:oMath xmlns:m="http://schemas.openxmlformats.org/officeDocument/2006/math">
                    <m:r>
                      <a:rPr kumimoji="1" lang="ja-JP" altLang="en-US" i="1" smtClean="0">
                        <a:latin typeface="Cambria Math" panose="02040503050406030204" pitchFamily="18" charset="0"/>
                      </a:rPr>
                      <m:t>𝒫</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ℱ</m:t>
                    </m:r>
                    <m:r>
                      <a:rPr kumimoji="1" lang="en-US" altLang="ja-JP" b="0" i="1" smtClean="0">
                        <a:latin typeface="Cambria Math" panose="02040503050406030204" pitchFamily="18" charset="0"/>
                        <a:ea typeface="Cambria Math" panose="02040503050406030204" pitchFamily="18" charset="0"/>
                      </a:rPr>
                      <m:t>∘</m:t>
                    </m:r>
                    <m:r>
                      <a:rPr kumimoji="1" lang="ja-JP" altLang="en-US" b="0" i="1" smtClean="0">
                        <a:latin typeface="Cambria Math" panose="02040503050406030204" pitchFamily="18" charset="0"/>
                        <a:ea typeface="Cambria Math" panose="02040503050406030204" pitchFamily="18" charset="0"/>
                      </a:rPr>
                      <m:t>𝒮</m:t>
                    </m:r>
                  </m:oMath>
                </a14:m>
                <a:r>
                  <a:rPr kumimoji="1" lang="ja-JP" altLang="en-US"/>
                  <a:t> を公開鍵とする</a:t>
                </a:r>
                <a:r>
                  <a:rPr lang="en-US" altLang="ja-JP"/>
                  <a:t>.</a:t>
                </a:r>
                <a:endParaRPr kumimoji="1" lang="en-US" altLang="ja-JP"/>
              </a:p>
            </p:txBody>
          </p:sp>
        </mc:Choice>
        <mc:Fallback xmlns="">
          <p:sp>
            <p:nvSpPr>
              <p:cNvPr id="6" name="テキスト ボックス 5">
                <a:extLst>
                  <a:ext uri="{FF2B5EF4-FFF2-40B4-BE49-F238E27FC236}">
                    <a16:creationId xmlns:a16="http://schemas.microsoft.com/office/drawing/2014/main" id="{93932A21-5A3D-262A-673E-1520E31CFC96}"/>
                  </a:ext>
                </a:extLst>
              </p:cNvPr>
              <p:cNvSpPr txBox="1">
                <a:spLocks noRot="1" noChangeAspect="1" noMove="1" noResize="1" noEditPoints="1" noAdjustHandles="1" noChangeArrowheads="1" noChangeShapeType="1" noTextEdit="1"/>
              </p:cNvSpPr>
              <p:nvPr/>
            </p:nvSpPr>
            <p:spPr>
              <a:xfrm>
                <a:off x="180000" y="2365695"/>
                <a:ext cx="11069637" cy="2608343"/>
              </a:xfrm>
              <a:prstGeom prst="rect">
                <a:avLst/>
              </a:prstGeom>
              <a:blipFill>
                <a:blip r:embed="rId3"/>
                <a:stretch>
                  <a:fillRect l="-55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7A8C8FC1-13AE-1280-AB74-6F8D123DE6E8}"/>
                  </a:ext>
                </a:extLst>
              </p:cNvPr>
              <p:cNvSpPr txBox="1"/>
              <p:nvPr/>
            </p:nvSpPr>
            <p:spPr>
              <a:xfrm>
                <a:off x="180000" y="764775"/>
                <a:ext cx="7227479" cy="461665"/>
              </a:xfrm>
              <a:prstGeom prst="rect">
                <a:avLst/>
              </a:prstGeom>
              <a:noFill/>
            </p:spPr>
            <p:txBody>
              <a:bodyPr wrap="square" rtlCol="0">
                <a:spAutoFit/>
              </a:bodyPr>
              <a:lstStyle/>
              <a:p>
                <a:r>
                  <a:rPr lang="en-US" altLang="ja-JP" sz="2400" b="1">
                    <a:solidFill>
                      <a:schemeClr val="accent4">
                        <a:lumMod val="75000"/>
                      </a:schemeClr>
                    </a:solidFill>
                  </a:rPr>
                  <a:t>7</a:t>
                </a:r>
                <a:r>
                  <a:rPr kumimoji="1" lang="en-US" altLang="ja-JP" sz="2400" b="1">
                    <a:solidFill>
                      <a:schemeClr val="accent4">
                        <a:lumMod val="75000"/>
                      </a:schemeClr>
                    </a:solidFill>
                  </a:rPr>
                  <a:t>-2. </a:t>
                </a:r>
                <a14:m>
                  <m:oMath xmlns:m="http://schemas.openxmlformats.org/officeDocument/2006/math">
                    <m:r>
                      <a:rPr lang="en-US" altLang="ja-JP" sz="2400" b="1" i="1" smtClean="0">
                        <a:solidFill>
                          <a:schemeClr val="accent4">
                            <a:lumMod val="75000"/>
                          </a:schemeClr>
                        </a:solidFill>
                        <a:latin typeface="Cambria Math" panose="02040503050406030204" pitchFamily="18" charset="0"/>
                      </a:rPr>
                      <m:t>𝒌</m:t>
                    </m:r>
                    <m:r>
                      <a:rPr lang="en-US" altLang="ja-JP" sz="2400" b="1" i="1" smtClean="0">
                        <a:solidFill>
                          <a:schemeClr val="accent4">
                            <a:lumMod val="75000"/>
                          </a:schemeClr>
                        </a:solidFill>
                        <a:latin typeface="Cambria Math" panose="02040503050406030204" pitchFamily="18" charset="0"/>
                      </a:rPr>
                      <m:t>=</m:t>
                    </m:r>
                    <m:r>
                      <a:rPr lang="en-US" altLang="ja-JP" sz="2400" b="1" i="1" smtClean="0">
                        <a:solidFill>
                          <a:schemeClr val="accent4">
                            <a:lumMod val="75000"/>
                          </a:schemeClr>
                        </a:solidFill>
                        <a:latin typeface="Cambria Math" panose="02040503050406030204" pitchFamily="18" charset="0"/>
                      </a:rPr>
                      <m:t>𝟑</m:t>
                    </m:r>
                  </m:oMath>
                </a14:m>
                <a:r>
                  <a:rPr lang="ja-JP" altLang="en-US" sz="2400" b="1">
                    <a:solidFill>
                      <a:schemeClr val="accent4">
                        <a:lumMod val="75000"/>
                      </a:schemeClr>
                    </a:solidFill>
                  </a:rPr>
                  <a:t> の特化</a:t>
                </a:r>
                <a:endParaRPr kumimoji="1" lang="ja-JP" altLang="en-US" sz="2400" b="1" dirty="0">
                  <a:solidFill>
                    <a:schemeClr val="accent4">
                      <a:lumMod val="75000"/>
                    </a:schemeClr>
                  </a:solidFill>
                </a:endParaRPr>
              </a:p>
            </p:txBody>
          </p:sp>
        </mc:Choice>
        <mc:Fallback xmlns="">
          <p:sp>
            <p:nvSpPr>
              <p:cNvPr id="9" name="テキスト ボックス 8">
                <a:extLst>
                  <a:ext uri="{FF2B5EF4-FFF2-40B4-BE49-F238E27FC236}">
                    <a16:creationId xmlns:a16="http://schemas.microsoft.com/office/drawing/2014/main" id="{7A8C8FC1-13AE-1280-AB74-6F8D123DE6E8}"/>
                  </a:ext>
                </a:extLst>
              </p:cNvPr>
              <p:cNvSpPr txBox="1">
                <a:spLocks noRot="1" noChangeAspect="1" noMove="1" noResize="1" noEditPoints="1" noAdjustHandles="1" noChangeArrowheads="1" noChangeShapeType="1" noTextEdit="1"/>
              </p:cNvSpPr>
              <p:nvPr/>
            </p:nvSpPr>
            <p:spPr>
              <a:xfrm>
                <a:off x="180000" y="764775"/>
                <a:ext cx="7227479" cy="461665"/>
              </a:xfrm>
              <a:prstGeom prst="rect">
                <a:avLst/>
              </a:prstGeom>
              <a:blipFill>
                <a:blip r:embed="rId4"/>
                <a:stretch>
                  <a:fillRect l="-1350" t="-10526" b="-28947"/>
                </a:stretch>
              </a:blipFill>
            </p:spPr>
            <p:txBody>
              <a:bodyPr/>
              <a:lstStyle/>
              <a:p>
                <a:r>
                  <a:rPr lang="ja-JP" altLang="en-US">
                    <a:noFill/>
                  </a:rPr>
                  <a:t> </a:t>
                </a:r>
              </a:p>
            </p:txBody>
          </p:sp>
        </mc:Fallback>
      </mc:AlternateContent>
      <p:sp>
        <p:nvSpPr>
          <p:cNvPr id="2" name="テキスト ボックス 1">
            <a:extLst>
              <a:ext uri="{FF2B5EF4-FFF2-40B4-BE49-F238E27FC236}">
                <a16:creationId xmlns:a16="http://schemas.microsoft.com/office/drawing/2014/main" id="{D65FF489-9805-D60D-CEF1-4375B9C1B199}"/>
              </a:ext>
            </a:extLst>
          </p:cNvPr>
          <p:cNvSpPr txBox="1"/>
          <p:nvPr/>
        </p:nvSpPr>
        <p:spPr>
          <a:xfrm>
            <a:off x="180000" y="5754670"/>
            <a:ext cx="5461233"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a:t>既存の鍵復元攻撃への耐性は</a:t>
            </a:r>
            <a:r>
              <a:rPr lang="en-US" altLang="ja-JP"/>
              <a:t>?</a:t>
            </a:r>
          </a:p>
          <a:p>
            <a:pPr marL="285750" indent="-285750">
              <a:buFont typeface="Arial" panose="020B0604020202020204" pitchFamily="34" charset="0"/>
              <a:buChar char="•"/>
            </a:pPr>
            <a:r>
              <a:rPr kumimoji="1" lang="ja-JP" altLang="en-US"/>
              <a:t>公開鍵は大きくなる</a:t>
            </a:r>
            <a:r>
              <a:rPr kumimoji="1" lang="en-US" altLang="ja-JP"/>
              <a:t>.</a:t>
            </a:r>
            <a:endParaRPr kumimoji="1" lang="ja-JP" altLang="en-US"/>
          </a:p>
        </p:txBody>
      </p:sp>
    </p:spTree>
    <p:extLst>
      <p:ext uri="{BB962C8B-B14F-4D97-AF65-F5344CB8AC3E}">
        <p14:creationId xmlns:p14="http://schemas.microsoft.com/office/powerpoint/2010/main" val="3342240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41C84-5C19-017A-271E-BD9A2FEF6EEA}"/>
            </a:ext>
          </a:extLst>
        </p:cNvPr>
        <p:cNvGrpSpPr/>
        <p:nvPr/>
      </p:nvGrpSpPr>
      <p:grpSpPr>
        <a:xfrm>
          <a:off x="0" y="0"/>
          <a:ext cx="0" cy="0"/>
          <a:chOff x="0" y="0"/>
          <a:chExt cx="0" cy="0"/>
        </a:xfrm>
      </p:grpSpPr>
      <p:sp>
        <p:nvSpPr>
          <p:cNvPr id="37" name="テキスト ボックス 36">
            <a:extLst>
              <a:ext uri="{FF2B5EF4-FFF2-40B4-BE49-F238E27FC236}">
                <a16:creationId xmlns:a16="http://schemas.microsoft.com/office/drawing/2014/main" id="{9094ED5A-356B-0921-CC4B-3CF1B52EE511}"/>
              </a:ext>
            </a:extLst>
          </p:cNvPr>
          <p:cNvSpPr txBox="1"/>
          <p:nvPr/>
        </p:nvSpPr>
        <p:spPr>
          <a:xfrm>
            <a:off x="179999" y="180000"/>
            <a:ext cx="10935414" cy="584775"/>
          </a:xfrm>
          <a:prstGeom prst="rect">
            <a:avLst/>
          </a:prstGeom>
          <a:noFill/>
        </p:spPr>
        <p:txBody>
          <a:bodyPr wrap="square" rtlCol="0">
            <a:spAutoFit/>
          </a:bodyPr>
          <a:lstStyle/>
          <a:p>
            <a:r>
              <a:rPr lang="ja-JP" altLang="en-US" sz="3200" b="1">
                <a:solidFill>
                  <a:schemeClr val="accent4">
                    <a:lumMod val="75000"/>
                  </a:schemeClr>
                </a:solidFill>
              </a:rPr>
              <a:t>動的メンバーシップに対する</a:t>
            </a:r>
            <a:r>
              <a:rPr lang="en-US" altLang="ja-JP" sz="3200" b="1">
                <a:solidFill>
                  <a:schemeClr val="accent4">
                    <a:lumMod val="75000"/>
                  </a:schemeClr>
                </a:solidFill>
              </a:rPr>
              <a:t> “</a:t>
            </a:r>
            <a:r>
              <a:rPr lang="ja-JP" altLang="en-US" sz="3200" b="1">
                <a:solidFill>
                  <a:schemeClr val="accent4">
                    <a:lumMod val="75000"/>
                  </a:schemeClr>
                </a:solidFill>
              </a:rPr>
              <a:t>選択秘密鍵</a:t>
            </a:r>
            <a:r>
              <a:rPr lang="en-US" altLang="ja-JP" sz="3200" b="1">
                <a:solidFill>
                  <a:schemeClr val="accent4">
                    <a:lumMod val="75000"/>
                  </a:schemeClr>
                </a:solidFill>
              </a:rPr>
              <a:t>” </a:t>
            </a:r>
            <a:r>
              <a:rPr lang="ja-JP" altLang="en-US" sz="3200" b="1">
                <a:solidFill>
                  <a:schemeClr val="accent4">
                    <a:lumMod val="75000"/>
                  </a:schemeClr>
                </a:solidFill>
              </a:rPr>
              <a:t>攻撃</a:t>
            </a:r>
            <a:endParaRPr lang="en-US" altLang="ja-JP" sz="3200" b="1" dirty="0">
              <a:solidFill>
                <a:schemeClr val="accent4">
                  <a:lumMod val="75000"/>
                </a:schemeClr>
              </a:solidFill>
            </a:endParaRPr>
          </a:p>
        </p:txBody>
      </p:sp>
      <mc:AlternateContent xmlns:mc="http://schemas.openxmlformats.org/markup-compatibility/2006">
        <mc:Choice xmlns:a14="http://schemas.microsoft.com/office/drawing/2010/main" Requires="a14">
          <p:sp>
            <p:nvSpPr>
              <p:cNvPr id="29" name="テキスト ボックス 28">
                <a:extLst>
                  <a:ext uri="{FF2B5EF4-FFF2-40B4-BE49-F238E27FC236}">
                    <a16:creationId xmlns:a16="http://schemas.microsoft.com/office/drawing/2014/main" id="{CAE3067D-F0E0-5E18-56C1-6E3CC0FB1CB4}"/>
                  </a:ext>
                </a:extLst>
              </p:cNvPr>
              <p:cNvSpPr txBox="1"/>
              <p:nvPr/>
            </p:nvSpPr>
            <p:spPr>
              <a:xfrm>
                <a:off x="387124" y="2543595"/>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solidFill>
                                <a:schemeClr val="bg1">
                                  <a:lumMod val="50000"/>
                                </a:schemeClr>
                              </a:solidFill>
                              <a:latin typeface="Cambria Math" panose="02040503050406030204" pitchFamily="18" charset="0"/>
                            </a:rPr>
                          </m:ctrlPr>
                        </m:sSubPr>
                        <m:e>
                          <m:r>
                            <m:rPr>
                              <m:sty m:val="p"/>
                            </m:rPr>
                            <a:rPr kumimoji="1" lang="en-US" altLang="ja-JP" sz="2400" b="0" i="0" smtClean="0">
                              <a:solidFill>
                                <a:schemeClr val="bg1">
                                  <a:lumMod val="50000"/>
                                </a:schemeClr>
                              </a:solidFill>
                              <a:latin typeface="Cambria Math" panose="02040503050406030204" pitchFamily="18" charset="0"/>
                            </a:rPr>
                            <m:t>sk</m:t>
                          </m:r>
                        </m:e>
                        <m:sub>
                          <m:r>
                            <a:rPr kumimoji="1" lang="en-US" altLang="ja-JP" sz="2400" b="0" i="1" smtClean="0">
                              <a:solidFill>
                                <a:schemeClr val="bg1">
                                  <a:lumMod val="50000"/>
                                </a:schemeClr>
                              </a:solidFill>
                              <a:latin typeface="Cambria Math" panose="02040503050406030204" pitchFamily="18" charset="0"/>
                            </a:rPr>
                            <m:t>1</m:t>
                          </m:r>
                        </m:sub>
                      </m:sSub>
                    </m:oMath>
                  </m:oMathPara>
                </a14:m>
                <a:endParaRPr kumimoji="1" lang="ja-JP" altLang="en-US" sz="2400"/>
              </a:p>
            </p:txBody>
          </p:sp>
        </mc:Choice>
        <mc:Fallback>
          <p:sp>
            <p:nvSpPr>
              <p:cNvPr id="29" name="テキスト ボックス 28">
                <a:extLst>
                  <a:ext uri="{FF2B5EF4-FFF2-40B4-BE49-F238E27FC236}">
                    <a16:creationId xmlns:a16="http://schemas.microsoft.com/office/drawing/2014/main" id="{CAE3067D-F0E0-5E18-56C1-6E3CC0FB1CB4}"/>
                  </a:ext>
                </a:extLst>
              </p:cNvPr>
              <p:cNvSpPr txBox="1">
                <a:spLocks noRot="1" noChangeAspect="1" noMove="1" noResize="1" noEditPoints="1" noAdjustHandles="1" noChangeArrowheads="1" noChangeShapeType="1" noTextEdit="1"/>
              </p:cNvSpPr>
              <p:nvPr/>
            </p:nvSpPr>
            <p:spPr>
              <a:xfrm>
                <a:off x="387124" y="2543595"/>
                <a:ext cx="1115736" cy="461665"/>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0" name="テキスト ボックス 29">
                <a:extLst>
                  <a:ext uri="{FF2B5EF4-FFF2-40B4-BE49-F238E27FC236}">
                    <a16:creationId xmlns:a16="http://schemas.microsoft.com/office/drawing/2014/main" id="{89C82931-CB4B-E1C7-CA7B-748E3924B36F}"/>
                  </a:ext>
                </a:extLst>
              </p:cNvPr>
              <p:cNvSpPr txBox="1"/>
              <p:nvPr/>
            </p:nvSpPr>
            <p:spPr>
              <a:xfrm>
                <a:off x="1502860" y="2543594"/>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solidFill>
                                <a:srgbClr val="C00000"/>
                              </a:solidFill>
                              <a:latin typeface="Cambria Math" panose="02040503050406030204" pitchFamily="18" charset="0"/>
                            </a:rPr>
                          </m:ctrlPr>
                        </m:sSubPr>
                        <m:e>
                          <m:r>
                            <m:rPr>
                              <m:sty m:val="p"/>
                            </m:rPr>
                            <a:rPr kumimoji="1" lang="en-US" altLang="ja-JP" sz="2400" b="0" i="0" smtClean="0">
                              <a:solidFill>
                                <a:srgbClr val="C00000"/>
                              </a:solidFill>
                              <a:latin typeface="Cambria Math" panose="02040503050406030204" pitchFamily="18" charset="0"/>
                            </a:rPr>
                            <m:t>sk</m:t>
                          </m:r>
                        </m:e>
                        <m:sub>
                          <m:r>
                            <a:rPr kumimoji="1" lang="en-US" altLang="ja-JP" sz="2400" b="0" i="1" smtClean="0">
                              <a:solidFill>
                                <a:srgbClr val="C00000"/>
                              </a:solidFill>
                              <a:latin typeface="Cambria Math" panose="02040503050406030204" pitchFamily="18" charset="0"/>
                            </a:rPr>
                            <m:t>2</m:t>
                          </m:r>
                        </m:sub>
                      </m:sSub>
                    </m:oMath>
                  </m:oMathPara>
                </a14:m>
                <a:endParaRPr kumimoji="1" lang="ja-JP" altLang="en-US" sz="2400"/>
              </a:p>
            </p:txBody>
          </p:sp>
        </mc:Choice>
        <mc:Fallback>
          <p:sp>
            <p:nvSpPr>
              <p:cNvPr id="30" name="テキスト ボックス 29">
                <a:extLst>
                  <a:ext uri="{FF2B5EF4-FFF2-40B4-BE49-F238E27FC236}">
                    <a16:creationId xmlns:a16="http://schemas.microsoft.com/office/drawing/2014/main" id="{89C82931-CB4B-E1C7-CA7B-748E3924B36F}"/>
                  </a:ext>
                </a:extLst>
              </p:cNvPr>
              <p:cNvSpPr txBox="1">
                <a:spLocks noRot="1" noChangeAspect="1" noMove="1" noResize="1" noEditPoints="1" noAdjustHandles="1" noChangeArrowheads="1" noChangeShapeType="1" noTextEdit="1"/>
              </p:cNvSpPr>
              <p:nvPr/>
            </p:nvSpPr>
            <p:spPr>
              <a:xfrm>
                <a:off x="1502860" y="2543594"/>
                <a:ext cx="1115736" cy="461665"/>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1" name="テキスト ボックス 30">
                <a:extLst>
                  <a:ext uri="{FF2B5EF4-FFF2-40B4-BE49-F238E27FC236}">
                    <a16:creationId xmlns:a16="http://schemas.microsoft.com/office/drawing/2014/main" id="{57573F93-BF28-3E6F-9AE8-5508DF7E69F8}"/>
                  </a:ext>
                </a:extLst>
              </p:cNvPr>
              <p:cNvSpPr txBox="1"/>
              <p:nvPr/>
            </p:nvSpPr>
            <p:spPr>
              <a:xfrm>
                <a:off x="789796" y="1239202"/>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pk</m:t>
                          </m:r>
                        </m:e>
                        <m:sub>
                          <m:r>
                            <a:rPr kumimoji="1" lang="en-US" altLang="ja-JP" sz="2400" b="0" i="1" smtClean="0">
                              <a:latin typeface="Cambria Math" panose="02040503050406030204" pitchFamily="18" charset="0"/>
                            </a:rPr>
                            <m:t>1</m:t>
                          </m:r>
                        </m:sub>
                      </m:sSub>
                    </m:oMath>
                  </m:oMathPara>
                </a14:m>
                <a:endParaRPr kumimoji="1" lang="ja-JP" altLang="en-US" sz="2400"/>
              </a:p>
            </p:txBody>
          </p:sp>
        </mc:Choice>
        <mc:Fallback>
          <p:sp>
            <p:nvSpPr>
              <p:cNvPr id="31" name="テキスト ボックス 30">
                <a:extLst>
                  <a:ext uri="{FF2B5EF4-FFF2-40B4-BE49-F238E27FC236}">
                    <a16:creationId xmlns:a16="http://schemas.microsoft.com/office/drawing/2014/main" id="{57573F93-BF28-3E6F-9AE8-5508DF7E69F8}"/>
                  </a:ext>
                </a:extLst>
              </p:cNvPr>
              <p:cNvSpPr txBox="1">
                <a:spLocks noRot="1" noChangeAspect="1" noMove="1" noResize="1" noEditPoints="1" noAdjustHandles="1" noChangeArrowheads="1" noChangeShapeType="1" noTextEdit="1"/>
              </p:cNvSpPr>
              <p:nvPr/>
            </p:nvSpPr>
            <p:spPr>
              <a:xfrm>
                <a:off x="789796" y="1239202"/>
                <a:ext cx="1115736" cy="461665"/>
              </a:xfrm>
              <a:prstGeom prst="rect">
                <a:avLst/>
              </a:prstGeom>
              <a:blipFill>
                <a:blip r:embed="rId4"/>
                <a:stretch>
                  <a:fillRect b="-15789"/>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2" name="テキスト ボックス 31">
                <a:extLst>
                  <a:ext uri="{FF2B5EF4-FFF2-40B4-BE49-F238E27FC236}">
                    <a16:creationId xmlns:a16="http://schemas.microsoft.com/office/drawing/2014/main" id="{D5617CA5-D0BE-5538-14ED-C37056B00DB3}"/>
                  </a:ext>
                </a:extLst>
              </p:cNvPr>
              <p:cNvSpPr txBox="1"/>
              <p:nvPr/>
            </p:nvSpPr>
            <p:spPr>
              <a:xfrm>
                <a:off x="1905532" y="1239202"/>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pk</m:t>
                          </m:r>
                        </m:e>
                        <m:sub>
                          <m:r>
                            <a:rPr kumimoji="1" lang="en-US" altLang="ja-JP" sz="2400" b="0" i="1" smtClean="0">
                              <a:latin typeface="Cambria Math" panose="02040503050406030204" pitchFamily="18" charset="0"/>
                            </a:rPr>
                            <m:t>2</m:t>
                          </m:r>
                        </m:sub>
                      </m:sSub>
                    </m:oMath>
                  </m:oMathPara>
                </a14:m>
                <a:endParaRPr kumimoji="1" lang="ja-JP" altLang="en-US" sz="2400"/>
              </a:p>
            </p:txBody>
          </p:sp>
        </mc:Choice>
        <mc:Fallback>
          <p:sp>
            <p:nvSpPr>
              <p:cNvPr id="32" name="テキスト ボックス 31">
                <a:extLst>
                  <a:ext uri="{FF2B5EF4-FFF2-40B4-BE49-F238E27FC236}">
                    <a16:creationId xmlns:a16="http://schemas.microsoft.com/office/drawing/2014/main" id="{D5617CA5-D0BE-5538-14ED-C37056B00DB3}"/>
                  </a:ext>
                </a:extLst>
              </p:cNvPr>
              <p:cNvSpPr txBox="1">
                <a:spLocks noRot="1" noChangeAspect="1" noMove="1" noResize="1" noEditPoints="1" noAdjustHandles="1" noChangeArrowheads="1" noChangeShapeType="1" noTextEdit="1"/>
              </p:cNvSpPr>
              <p:nvPr/>
            </p:nvSpPr>
            <p:spPr>
              <a:xfrm>
                <a:off x="1905532" y="1239202"/>
                <a:ext cx="1115736" cy="461665"/>
              </a:xfrm>
              <a:prstGeom prst="rect">
                <a:avLst/>
              </a:prstGeom>
              <a:blipFill>
                <a:blip r:embed="rId5"/>
                <a:stretch>
                  <a:fillRect b="-15789"/>
                </a:stretch>
              </a:blipFill>
            </p:spPr>
            <p:txBody>
              <a:bodyPr/>
              <a:lstStyle/>
              <a:p>
                <a:r>
                  <a:rPr lang="ja-JP" altLang="en-US">
                    <a:noFill/>
                  </a:rPr>
                  <a:t> </a:t>
                </a:r>
              </a:p>
            </p:txBody>
          </p:sp>
        </mc:Fallback>
      </mc:AlternateContent>
      <p:cxnSp>
        <p:nvCxnSpPr>
          <p:cNvPr id="33" name="直線矢印コネクタ 32">
            <a:extLst>
              <a:ext uri="{FF2B5EF4-FFF2-40B4-BE49-F238E27FC236}">
                <a16:creationId xmlns:a16="http://schemas.microsoft.com/office/drawing/2014/main" id="{922D3F2B-15D5-10E5-D921-6D53578C366A}"/>
              </a:ext>
            </a:extLst>
          </p:cNvPr>
          <p:cNvCxnSpPr/>
          <p:nvPr/>
        </p:nvCxnSpPr>
        <p:spPr>
          <a:xfrm flipV="1">
            <a:off x="944992" y="1828799"/>
            <a:ext cx="296580" cy="5956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直線矢印コネクタ 33">
            <a:extLst>
              <a:ext uri="{FF2B5EF4-FFF2-40B4-BE49-F238E27FC236}">
                <a16:creationId xmlns:a16="http://schemas.microsoft.com/office/drawing/2014/main" id="{F84924B2-C706-70A9-4390-888CC2BF77BF}"/>
              </a:ext>
            </a:extLst>
          </p:cNvPr>
          <p:cNvCxnSpPr>
            <a:cxnSpLocks/>
          </p:cNvCxnSpPr>
          <p:nvPr/>
        </p:nvCxnSpPr>
        <p:spPr>
          <a:xfrm flipH="1" flipV="1">
            <a:off x="1502860" y="1862023"/>
            <a:ext cx="292385" cy="5623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直線矢印コネクタ 39">
            <a:extLst>
              <a:ext uri="{FF2B5EF4-FFF2-40B4-BE49-F238E27FC236}">
                <a16:creationId xmlns:a16="http://schemas.microsoft.com/office/drawing/2014/main" id="{CB8EF1A6-FBC0-0F19-9B16-B119944C29AD}"/>
              </a:ext>
            </a:extLst>
          </p:cNvPr>
          <p:cNvCxnSpPr/>
          <p:nvPr/>
        </p:nvCxnSpPr>
        <p:spPr>
          <a:xfrm flipV="1">
            <a:off x="2056533" y="1828799"/>
            <a:ext cx="296580" cy="5956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直線矢印コネクタ 40">
            <a:extLst>
              <a:ext uri="{FF2B5EF4-FFF2-40B4-BE49-F238E27FC236}">
                <a16:creationId xmlns:a16="http://schemas.microsoft.com/office/drawing/2014/main" id="{0ADC5E4D-A680-04DB-4C60-82ECC35EBD97}"/>
              </a:ext>
            </a:extLst>
          </p:cNvPr>
          <p:cNvCxnSpPr>
            <a:cxnSpLocks/>
          </p:cNvCxnSpPr>
          <p:nvPr/>
        </p:nvCxnSpPr>
        <p:spPr>
          <a:xfrm flipH="1" flipV="1">
            <a:off x="2643763" y="1828799"/>
            <a:ext cx="292385" cy="5623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3" name="テキスト ボックス 42">
                <a:extLst>
                  <a:ext uri="{FF2B5EF4-FFF2-40B4-BE49-F238E27FC236}">
                    <a16:creationId xmlns:a16="http://schemas.microsoft.com/office/drawing/2014/main" id="{65D1F46A-045E-A151-6B65-151E62E477F4}"/>
                  </a:ext>
                </a:extLst>
              </p:cNvPr>
              <p:cNvSpPr txBox="1"/>
              <p:nvPr/>
            </p:nvSpPr>
            <p:spPr>
              <a:xfrm>
                <a:off x="2618596" y="2543594"/>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solidFill>
                                <a:schemeClr val="bg1">
                                  <a:lumMod val="50000"/>
                                </a:schemeClr>
                              </a:solidFill>
                              <a:latin typeface="Cambria Math" panose="02040503050406030204" pitchFamily="18" charset="0"/>
                            </a:rPr>
                          </m:ctrlPr>
                        </m:sSubPr>
                        <m:e>
                          <m:r>
                            <m:rPr>
                              <m:sty m:val="p"/>
                            </m:rPr>
                            <a:rPr kumimoji="1" lang="en-US" altLang="ja-JP" sz="2400" b="0" i="0" smtClean="0">
                              <a:solidFill>
                                <a:schemeClr val="bg1">
                                  <a:lumMod val="50000"/>
                                </a:schemeClr>
                              </a:solidFill>
                              <a:latin typeface="Cambria Math" panose="02040503050406030204" pitchFamily="18" charset="0"/>
                            </a:rPr>
                            <m:t>sk</m:t>
                          </m:r>
                        </m:e>
                        <m:sub>
                          <m:r>
                            <a:rPr kumimoji="1" lang="en-US" altLang="ja-JP" sz="2400" b="0" i="1" smtClean="0">
                              <a:solidFill>
                                <a:schemeClr val="bg1">
                                  <a:lumMod val="50000"/>
                                </a:schemeClr>
                              </a:solidFill>
                              <a:latin typeface="Cambria Math" panose="02040503050406030204" pitchFamily="18" charset="0"/>
                            </a:rPr>
                            <m:t>3</m:t>
                          </m:r>
                        </m:sub>
                      </m:sSub>
                    </m:oMath>
                  </m:oMathPara>
                </a14:m>
                <a:endParaRPr kumimoji="1" lang="ja-JP" altLang="en-US" sz="2400"/>
              </a:p>
            </p:txBody>
          </p:sp>
        </mc:Choice>
        <mc:Fallback>
          <p:sp>
            <p:nvSpPr>
              <p:cNvPr id="43" name="テキスト ボックス 42">
                <a:extLst>
                  <a:ext uri="{FF2B5EF4-FFF2-40B4-BE49-F238E27FC236}">
                    <a16:creationId xmlns:a16="http://schemas.microsoft.com/office/drawing/2014/main" id="{65D1F46A-045E-A151-6B65-151E62E477F4}"/>
                  </a:ext>
                </a:extLst>
              </p:cNvPr>
              <p:cNvSpPr txBox="1">
                <a:spLocks noRot="1" noChangeAspect="1" noMove="1" noResize="1" noEditPoints="1" noAdjustHandles="1" noChangeArrowheads="1" noChangeShapeType="1" noTextEdit="1"/>
              </p:cNvSpPr>
              <p:nvPr/>
            </p:nvSpPr>
            <p:spPr>
              <a:xfrm>
                <a:off x="2618596" y="2543594"/>
                <a:ext cx="1115736" cy="461665"/>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4" name="テキスト ボックス 43">
                <a:extLst>
                  <a:ext uri="{FF2B5EF4-FFF2-40B4-BE49-F238E27FC236}">
                    <a16:creationId xmlns:a16="http://schemas.microsoft.com/office/drawing/2014/main" id="{5876B229-E763-D064-0077-F66AECC450DA}"/>
                  </a:ext>
                </a:extLst>
              </p:cNvPr>
              <p:cNvSpPr txBox="1"/>
              <p:nvPr/>
            </p:nvSpPr>
            <p:spPr>
              <a:xfrm>
                <a:off x="4497730" y="1239201"/>
                <a:ext cx="7171358" cy="1477328"/>
              </a:xfrm>
              <a:prstGeom prst="rect">
                <a:avLst/>
              </a:prstGeom>
              <a:noFill/>
            </p:spPr>
            <p:txBody>
              <a:bodyPr wrap="square" rtlCol="0">
                <a:spAutoFit/>
              </a:bodyPr>
              <a:lstStyle/>
              <a:p>
                <a:r>
                  <a:rPr kumimoji="1" lang="en-US" altLang="ja-JP"/>
                  <a:t>UOV</a:t>
                </a:r>
                <a:r>
                  <a:rPr kumimoji="1" lang="ja-JP" altLang="en-US"/>
                  <a:t>コピー方式との差別化を図るためには</a:t>
                </a:r>
                <a:r>
                  <a:rPr kumimoji="1" lang="en-US" altLang="ja-JP"/>
                  <a:t>, </a:t>
                </a:r>
                <a:r>
                  <a:rPr kumimoji="1" lang="ja-JP" altLang="en-US"/>
                  <a:t>必ずこのように特定の秘密鍵を軸にピボットするように公開鍵を更新する必要がある</a:t>
                </a:r>
                <a:r>
                  <a:rPr kumimoji="1" lang="en-US" altLang="ja-JP"/>
                  <a:t>.</a:t>
                </a:r>
              </a:p>
              <a:p>
                <a:endParaRPr kumimoji="1" lang="en-US" altLang="ja-JP"/>
              </a:p>
              <a:p>
                <a:r>
                  <a:rPr lang="ja-JP" altLang="en-US"/>
                  <a:t>したがって</a:t>
                </a:r>
                <a:r>
                  <a:rPr lang="en-US" altLang="ja-JP"/>
                  <a:t>, </a:t>
                </a:r>
                <a:r>
                  <a:rPr lang="ja-JP" altLang="en-US"/>
                  <a:t>攻撃者は </a:t>
                </a:r>
                <a14:m>
                  <m:oMath xmlns:m="http://schemas.openxmlformats.org/officeDocument/2006/math">
                    <m:r>
                      <a:rPr lang="en-US" altLang="ja-JP" i="1">
                        <a:latin typeface="Cambria Math" panose="02040503050406030204" pitchFamily="18" charset="0"/>
                      </a:rPr>
                      <m:t>𝑚</m:t>
                    </m:r>
                  </m:oMath>
                </a14:m>
                <a:r>
                  <a:rPr lang="ja-JP" altLang="en-US"/>
                  <a:t> が</a:t>
                </a:r>
                <a:r>
                  <a:rPr lang="en-US" altLang="ja-JP"/>
                  <a:t>2</a:t>
                </a:r>
                <a:r>
                  <a:rPr lang="ja-JP" altLang="en-US"/>
                  <a:t>倍になる</a:t>
                </a:r>
                <a:r>
                  <a:rPr lang="en-US" altLang="ja-JP"/>
                  <a:t>UOV</a:t>
                </a:r>
                <a:r>
                  <a:rPr lang="ja-JP" altLang="en-US"/>
                  <a:t>インスタンスを得ることができる</a:t>
                </a:r>
                <a:r>
                  <a:rPr lang="en-US" altLang="ja-JP"/>
                  <a:t>. </a:t>
                </a:r>
                <a:r>
                  <a:rPr lang="ja-JP" altLang="en-US"/>
                  <a:t>これにより</a:t>
                </a:r>
                <a:r>
                  <a:rPr lang="en-US" altLang="ja-JP"/>
                  <a:t>, </a:t>
                </a:r>
                <a:r>
                  <a:rPr lang="ja-JP" altLang="en-US"/>
                  <a:t>ピボット軸の復元がいくらか簡単になる</a:t>
                </a:r>
                <a:r>
                  <a:rPr lang="en-US" altLang="ja-JP"/>
                  <a:t>.</a:t>
                </a:r>
                <a:endParaRPr lang="ja-JP" altLang="en-US"/>
              </a:p>
            </p:txBody>
          </p:sp>
        </mc:Choice>
        <mc:Fallback>
          <p:sp>
            <p:nvSpPr>
              <p:cNvPr id="44" name="テキスト ボックス 43">
                <a:extLst>
                  <a:ext uri="{FF2B5EF4-FFF2-40B4-BE49-F238E27FC236}">
                    <a16:creationId xmlns:a16="http://schemas.microsoft.com/office/drawing/2014/main" id="{5876B229-E763-D064-0077-F66AECC450DA}"/>
                  </a:ext>
                </a:extLst>
              </p:cNvPr>
              <p:cNvSpPr txBox="1">
                <a:spLocks noRot="1" noChangeAspect="1" noMove="1" noResize="1" noEditPoints="1" noAdjustHandles="1" noChangeArrowheads="1" noChangeShapeType="1" noTextEdit="1"/>
              </p:cNvSpPr>
              <p:nvPr/>
            </p:nvSpPr>
            <p:spPr>
              <a:xfrm>
                <a:off x="4497730" y="1239201"/>
                <a:ext cx="7171358" cy="1477328"/>
              </a:xfrm>
              <a:prstGeom prst="rect">
                <a:avLst/>
              </a:prstGeom>
              <a:blipFill>
                <a:blip r:embed="rId7"/>
                <a:stretch>
                  <a:fillRect l="-765" t="-2058" b="-535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56" name="テキスト ボックス 55">
                <a:extLst>
                  <a:ext uri="{FF2B5EF4-FFF2-40B4-BE49-F238E27FC236}">
                    <a16:creationId xmlns:a16="http://schemas.microsoft.com/office/drawing/2014/main" id="{A81A7748-3764-011D-0F48-BBC3D64B1521}"/>
                  </a:ext>
                </a:extLst>
              </p:cNvPr>
              <p:cNvSpPr txBox="1"/>
              <p:nvPr/>
            </p:nvSpPr>
            <p:spPr>
              <a:xfrm>
                <a:off x="179999" y="3479686"/>
                <a:ext cx="11287752" cy="1488806"/>
              </a:xfrm>
              <a:prstGeom prst="rect">
                <a:avLst/>
              </a:prstGeom>
              <a:noFill/>
            </p:spPr>
            <p:txBody>
              <a:bodyPr wrap="square" rtlCol="0">
                <a:spAutoFit/>
              </a:bodyPr>
              <a:lstStyle/>
              <a:p>
                <a:r>
                  <a:rPr kumimoji="1" lang="ja-JP" altLang="en-US"/>
                  <a:t>具体的には</a:t>
                </a:r>
                <a:r>
                  <a:rPr kumimoji="1" lang="en-US" altLang="ja-JP"/>
                  <a:t>, </a:t>
                </a:r>
                <a:r>
                  <a:rPr kumimoji="1" lang="ja-JP" altLang="en-US"/>
                  <a:t>もとの</a:t>
                </a:r>
                <a:r>
                  <a:rPr kumimoji="1" lang="en-US" altLang="ja-JP"/>
                  <a:t>MZ-UOV</a:t>
                </a:r>
                <a:r>
                  <a:rPr kumimoji="1" lang="ja-JP" altLang="en-US"/>
                  <a:t>が </a:t>
                </a:r>
                <a14:m>
                  <m:oMath xmlns:m="http://schemas.openxmlformats.org/officeDocument/2006/math">
                    <m:sSup>
                      <m:sSupPr>
                        <m:ctrlPr>
                          <a:rPr kumimoji="1" lang="en-US" altLang="ja-JP" i="1" smtClean="0">
                            <a:latin typeface="Cambria Math" panose="02040503050406030204" pitchFamily="18" charset="0"/>
                          </a:rPr>
                        </m:ctrlPr>
                      </m:sSupPr>
                      <m:e>
                        <m:r>
                          <m:rPr>
                            <m:sty m:val="p"/>
                          </m:rPr>
                          <a:rPr kumimoji="1" lang="en-US" altLang="ja-JP" b="0" i="0" smtClean="0">
                            <a:latin typeface="Cambria Math" panose="02040503050406030204" pitchFamily="18" charset="0"/>
                          </a:rPr>
                          <m:t>UOV</m:t>
                        </m:r>
                      </m:e>
                      <m:sup>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m:t>
                        </m:r>
                      </m:sup>
                    </m:sSup>
                  </m:oMath>
                </a14:m>
                <a:r>
                  <a:rPr kumimoji="1" lang="ja-JP" altLang="en-US"/>
                  <a:t> に属するならば</a:t>
                </a:r>
                <a:r>
                  <a:rPr kumimoji="1" lang="en-US" altLang="ja-JP"/>
                  <a:t>, 1</a:t>
                </a:r>
                <a:r>
                  <a:rPr kumimoji="1" lang="ja-JP" altLang="en-US"/>
                  <a:t>回のピボットで </a:t>
                </a:r>
                <a14:m>
                  <m:oMath xmlns:m="http://schemas.openxmlformats.org/officeDocument/2006/math">
                    <m:sSup>
                      <m:sSupPr>
                        <m:ctrlPr>
                          <a:rPr lang="en-US" altLang="ja-JP" i="1">
                            <a:latin typeface="Cambria Math" panose="02040503050406030204" pitchFamily="18" charset="0"/>
                          </a:rPr>
                        </m:ctrlPr>
                      </m:sSupPr>
                      <m:e>
                        <m:r>
                          <m:rPr>
                            <m:sty m:val="p"/>
                          </m:rPr>
                          <a:rPr lang="en-US" altLang="ja-JP">
                            <a:latin typeface="Cambria Math" panose="02040503050406030204" pitchFamily="18" charset="0"/>
                          </a:rPr>
                          <m:t>UOV</m:t>
                        </m:r>
                      </m:e>
                      <m:sup>
                        <m:r>
                          <a:rPr lang="en-US" altLang="ja-JP" i="1">
                            <a:latin typeface="Cambria Math" panose="02040503050406030204" pitchFamily="18" charset="0"/>
                          </a:rPr>
                          <m:t>(</m:t>
                        </m:r>
                        <m:r>
                          <a:rPr lang="en-US" altLang="ja-JP" i="1">
                            <a:latin typeface="Cambria Math" panose="02040503050406030204" pitchFamily="18" charset="0"/>
                          </a:rPr>
                          <m:t>𝑠</m:t>
                        </m:r>
                        <m:r>
                          <a:rPr lang="en-US" altLang="ja-JP" b="0" i="1" smtClean="0">
                            <a:latin typeface="Cambria Math" panose="02040503050406030204" pitchFamily="18" charset="0"/>
                          </a:rPr>
                          <m:t>−1</m:t>
                        </m:r>
                        <m:r>
                          <a:rPr lang="en-US" altLang="ja-JP" i="1">
                            <a:latin typeface="Cambria Math" panose="02040503050406030204" pitchFamily="18" charset="0"/>
                          </a:rPr>
                          <m:t>)</m:t>
                        </m:r>
                      </m:sup>
                    </m:sSup>
                  </m:oMath>
                </a14:m>
                <a:r>
                  <a:rPr kumimoji="1" lang="ja-JP" altLang="en-US"/>
                  <a:t> にシフトする</a:t>
                </a:r>
                <a:r>
                  <a:rPr lang="en-US" altLang="ja-JP"/>
                  <a:t>.</a:t>
                </a:r>
              </a:p>
              <a:p>
                <a:r>
                  <a:rPr kumimoji="1" lang="ja-JP" altLang="en-US"/>
                  <a:t>そのため</a:t>
                </a:r>
                <a:r>
                  <a:rPr kumimoji="1" lang="en-US" altLang="ja-JP"/>
                  <a:t>, </a:t>
                </a:r>
                <a:r>
                  <a:rPr kumimoji="1" lang="ja-JP" altLang="en-US"/>
                  <a:t>この攻撃に耐性のあるパラメータに設定する必要があり</a:t>
                </a:r>
                <a:r>
                  <a:rPr kumimoji="1" lang="en-US" altLang="ja-JP"/>
                  <a:t>, </a:t>
                </a:r>
                <a:r>
                  <a:rPr kumimoji="1" lang="ja-JP" altLang="en-US"/>
                  <a:t>公開鍵がある程度大きくなる</a:t>
                </a:r>
                <a:r>
                  <a:rPr kumimoji="1" lang="en-US" altLang="ja-JP"/>
                  <a:t>.</a:t>
                </a:r>
              </a:p>
              <a:p>
                <a:r>
                  <a:rPr kumimoji="1" lang="en-US" altLang="ja-JP"/>
                  <a:t>(</a:t>
                </a:r>
                <a:r>
                  <a:rPr kumimoji="1" lang="ja-JP" altLang="en-US"/>
                  <a:t>とは言え</a:t>
                </a:r>
                <a:r>
                  <a:rPr kumimoji="1" lang="en-US" altLang="ja-JP"/>
                  <a:t>, </a:t>
                </a:r>
                <a:r>
                  <a:rPr kumimoji="1" lang="ja-JP" altLang="en-US"/>
                  <a:t>最近</a:t>
                </a:r>
                <a:r>
                  <a:rPr kumimoji="1" lang="en-US" altLang="ja-JP"/>
                  <a:t>UOV</a:t>
                </a:r>
                <a:r>
                  <a:rPr kumimoji="1" lang="ja-JP" altLang="en-US"/>
                  <a:t>に対する新しい攻撃が提案されたので</a:t>
                </a:r>
                <a:r>
                  <a:rPr kumimoji="1" lang="en-US" altLang="ja-JP"/>
                  <a:t>, </a:t>
                </a:r>
                <a:r>
                  <a:rPr kumimoji="1" lang="ja-JP" altLang="en-US"/>
                  <a:t>動的メンバーシップとか関係なく </a:t>
                </a:r>
                <a14:m>
                  <m:oMath xmlns:m="http://schemas.openxmlformats.org/officeDocument/2006/math">
                    <m:r>
                      <a:rPr kumimoji="1" lang="en-US" altLang="ja-JP" b="0" i="1" smtClean="0">
                        <a:latin typeface="Cambria Math" panose="02040503050406030204" pitchFamily="18" charset="0"/>
                      </a:rPr>
                      <m:t>𝑛</m:t>
                    </m:r>
                  </m:oMath>
                </a14:m>
                <a:r>
                  <a:rPr kumimoji="1" lang="en-US" altLang="ja-JP"/>
                  <a:t> </a:t>
                </a:r>
                <a:r>
                  <a:rPr kumimoji="1" lang="ja-JP" altLang="en-US"/>
                  <a:t>を大きくする必要がある</a:t>
                </a:r>
                <a:r>
                  <a:rPr kumimoji="1" lang="en-US" altLang="ja-JP"/>
                  <a:t>)</a:t>
                </a:r>
              </a:p>
              <a:p>
                <a:r>
                  <a:rPr kumimoji="1" lang="ja-JP" altLang="en-US"/>
                  <a:t>また</a:t>
                </a:r>
                <a:r>
                  <a:rPr kumimoji="1" lang="en-US" altLang="ja-JP"/>
                  <a:t>, </a:t>
                </a:r>
                <a:r>
                  <a:rPr kumimoji="1" lang="ja-JP" altLang="en-US"/>
                  <a:t>ピボットは高々</a:t>
                </a:r>
                <a:r>
                  <a:rPr kumimoji="1" lang="en-US" altLang="ja-JP"/>
                  <a:t>1</a:t>
                </a:r>
                <a:r>
                  <a:rPr kumimoji="1" lang="ja-JP" altLang="en-US"/>
                  <a:t>回程度に留める必要がある</a:t>
                </a:r>
                <a:r>
                  <a:rPr kumimoji="1" lang="en-US" altLang="ja-JP"/>
                  <a:t>.</a:t>
                </a:r>
                <a:endParaRPr kumimoji="1" lang="ja-JP" altLang="en-US"/>
              </a:p>
            </p:txBody>
          </p:sp>
        </mc:Choice>
        <mc:Fallback>
          <p:sp>
            <p:nvSpPr>
              <p:cNvPr id="56" name="テキスト ボックス 55">
                <a:extLst>
                  <a:ext uri="{FF2B5EF4-FFF2-40B4-BE49-F238E27FC236}">
                    <a16:creationId xmlns:a16="http://schemas.microsoft.com/office/drawing/2014/main" id="{A81A7748-3764-011D-0F48-BBC3D64B1521}"/>
                  </a:ext>
                </a:extLst>
              </p:cNvPr>
              <p:cNvSpPr txBox="1">
                <a:spLocks noRot="1" noChangeAspect="1" noMove="1" noResize="1" noEditPoints="1" noAdjustHandles="1" noChangeArrowheads="1" noChangeShapeType="1" noTextEdit="1"/>
              </p:cNvSpPr>
              <p:nvPr/>
            </p:nvSpPr>
            <p:spPr>
              <a:xfrm>
                <a:off x="179999" y="3479686"/>
                <a:ext cx="11287752" cy="1488806"/>
              </a:xfrm>
              <a:prstGeom prst="rect">
                <a:avLst/>
              </a:prstGeom>
              <a:blipFill>
                <a:blip r:embed="rId8"/>
                <a:stretch>
                  <a:fillRect l="-486" t="-1230" b="-5738"/>
                </a:stretch>
              </a:blipFill>
            </p:spPr>
            <p:txBody>
              <a:bodyPr/>
              <a:lstStyle/>
              <a:p>
                <a:r>
                  <a:rPr lang="ja-JP" altLang="en-US">
                    <a:noFill/>
                  </a:rPr>
                  <a:t> </a:t>
                </a:r>
              </a:p>
            </p:txBody>
          </p:sp>
        </mc:Fallback>
      </mc:AlternateContent>
      <p:cxnSp>
        <p:nvCxnSpPr>
          <p:cNvPr id="58" name="直線矢印コネクタ 57">
            <a:extLst>
              <a:ext uri="{FF2B5EF4-FFF2-40B4-BE49-F238E27FC236}">
                <a16:creationId xmlns:a16="http://schemas.microsoft.com/office/drawing/2014/main" id="{4837A41B-DDCD-23FF-C9AD-21B5925CAE04}"/>
              </a:ext>
            </a:extLst>
          </p:cNvPr>
          <p:cNvCxnSpPr>
            <a:cxnSpLocks/>
          </p:cNvCxnSpPr>
          <p:nvPr/>
        </p:nvCxnSpPr>
        <p:spPr>
          <a:xfrm>
            <a:off x="1661636" y="1518407"/>
            <a:ext cx="487792"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60" name="テキスト ボックス 59">
            <a:extLst>
              <a:ext uri="{FF2B5EF4-FFF2-40B4-BE49-F238E27FC236}">
                <a16:creationId xmlns:a16="http://schemas.microsoft.com/office/drawing/2014/main" id="{C0BEC4B6-BC71-E405-13C5-203EB665F830}"/>
              </a:ext>
            </a:extLst>
          </p:cNvPr>
          <p:cNvSpPr txBox="1"/>
          <p:nvPr/>
        </p:nvSpPr>
        <p:spPr>
          <a:xfrm>
            <a:off x="1478309" y="1111270"/>
            <a:ext cx="854446" cy="369332"/>
          </a:xfrm>
          <a:prstGeom prst="rect">
            <a:avLst/>
          </a:prstGeom>
          <a:noFill/>
        </p:spPr>
        <p:txBody>
          <a:bodyPr wrap="square" rtlCol="0">
            <a:spAutoFit/>
          </a:bodyPr>
          <a:lstStyle/>
          <a:p>
            <a:pPr algn="ctr"/>
            <a:r>
              <a:rPr kumimoji="1" lang="ja-JP" altLang="en-US"/>
              <a:t>更新</a:t>
            </a:r>
          </a:p>
        </p:txBody>
      </p:sp>
    </p:spTree>
    <p:extLst>
      <p:ext uri="{BB962C8B-B14F-4D97-AF65-F5344CB8AC3E}">
        <p14:creationId xmlns:p14="http://schemas.microsoft.com/office/powerpoint/2010/main" val="108444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1CB7DAAE-8007-8233-1BD7-391B7D551442}"/>
                  </a:ext>
                </a:extLst>
              </p:cNvPr>
              <p:cNvSpPr txBox="1"/>
              <p:nvPr/>
            </p:nvSpPr>
            <p:spPr>
              <a:xfrm>
                <a:off x="512958" y="2887544"/>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sk</m:t>
                          </m:r>
                        </m:e>
                        <m:sub>
                          <m:r>
                            <a:rPr kumimoji="1" lang="en-US" altLang="ja-JP" sz="2400" b="0" i="1" smtClean="0">
                              <a:latin typeface="Cambria Math" panose="02040503050406030204" pitchFamily="18" charset="0"/>
                            </a:rPr>
                            <m:t>1</m:t>
                          </m:r>
                        </m:sub>
                      </m:sSub>
                    </m:oMath>
                  </m:oMathPara>
                </a14:m>
                <a:endParaRPr kumimoji="1" lang="ja-JP" altLang="en-US" sz="2400"/>
              </a:p>
            </p:txBody>
          </p:sp>
        </mc:Choice>
        <mc:Fallback xmlns="">
          <p:sp>
            <p:nvSpPr>
              <p:cNvPr id="4" name="テキスト ボックス 3">
                <a:extLst>
                  <a:ext uri="{FF2B5EF4-FFF2-40B4-BE49-F238E27FC236}">
                    <a16:creationId xmlns:a16="http://schemas.microsoft.com/office/drawing/2014/main" id="{1CB7DAAE-8007-8233-1BD7-391B7D551442}"/>
                  </a:ext>
                </a:extLst>
              </p:cNvPr>
              <p:cNvSpPr txBox="1">
                <a:spLocks noRot="1" noChangeAspect="1" noMove="1" noResize="1" noEditPoints="1" noAdjustHandles="1" noChangeArrowheads="1" noChangeShapeType="1" noTextEdit="1"/>
              </p:cNvSpPr>
              <p:nvPr/>
            </p:nvSpPr>
            <p:spPr>
              <a:xfrm>
                <a:off x="512958" y="2887544"/>
                <a:ext cx="1115736" cy="461665"/>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3C6402B3-3D0A-7B61-C7DC-5B6000FE7525}"/>
                  </a:ext>
                </a:extLst>
              </p:cNvPr>
              <p:cNvSpPr txBox="1"/>
              <p:nvPr/>
            </p:nvSpPr>
            <p:spPr>
              <a:xfrm>
                <a:off x="1628694" y="2887543"/>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sk</m:t>
                          </m:r>
                        </m:e>
                        <m:sub>
                          <m:r>
                            <a:rPr kumimoji="1" lang="en-US" altLang="ja-JP" sz="2400" b="0" i="1" smtClean="0">
                              <a:latin typeface="Cambria Math" panose="02040503050406030204" pitchFamily="18" charset="0"/>
                            </a:rPr>
                            <m:t>2</m:t>
                          </m:r>
                        </m:sub>
                      </m:sSub>
                    </m:oMath>
                  </m:oMathPara>
                </a14:m>
                <a:endParaRPr kumimoji="1" lang="ja-JP" altLang="en-US" sz="2400"/>
              </a:p>
            </p:txBody>
          </p:sp>
        </mc:Choice>
        <mc:Fallback xmlns="">
          <p:sp>
            <p:nvSpPr>
              <p:cNvPr id="5" name="テキスト ボックス 4">
                <a:extLst>
                  <a:ext uri="{FF2B5EF4-FFF2-40B4-BE49-F238E27FC236}">
                    <a16:creationId xmlns:a16="http://schemas.microsoft.com/office/drawing/2014/main" id="{3C6402B3-3D0A-7B61-C7DC-5B6000FE7525}"/>
                  </a:ext>
                </a:extLst>
              </p:cNvPr>
              <p:cNvSpPr txBox="1">
                <a:spLocks noRot="1" noChangeAspect="1" noMove="1" noResize="1" noEditPoints="1" noAdjustHandles="1" noChangeArrowheads="1" noChangeShapeType="1" noTextEdit="1"/>
              </p:cNvSpPr>
              <p:nvPr/>
            </p:nvSpPr>
            <p:spPr>
              <a:xfrm>
                <a:off x="1628694" y="2887543"/>
                <a:ext cx="1115736" cy="461665"/>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675AAFD9-7395-D899-EFCF-284E8057753E}"/>
                  </a:ext>
                </a:extLst>
              </p:cNvPr>
              <p:cNvSpPr txBox="1"/>
              <p:nvPr/>
            </p:nvSpPr>
            <p:spPr>
              <a:xfrm>
                <a:off x="2744430" y="2887543"/>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sk</m:t>
                          </m:r>
                        </m:e>
                        <m:sub>
                          <m:r>
                            <a:rPr kumimoji="1" lang="en-US" altLang="ja-JP" sz="2400" b="0" i="1" smtClean="0">
                              <a:latin typeface="Cambria Math" panose="02040503050406030204" pitchFamily="18" charset="0"/>
                            </a:rPr>
                            <m:t>3</m:t>
                          </m:r>
                        </m:sub>
                      </m:sSub>
                    </m:oMath>
                  </m:oMathPara>
                </a14:m>
                <a:endParaRPr kumimoji="1" lang="ja-JP" altLang="en-US" sz="2400"/>
              </a:p>
            </p:txBody>
          </p:sp>
        </mc:Choice>
        <mc:Fallback xmlns="">
          <p:sp>
            <p:nvSpPr>
              <p:cNvPr id="6" name="テキスト ボックス 5">
                <a:extLst>
                  <a:ext uri="{FF2B5EF4-FFF2-40B4-BE49-F238E27FC236}">
                    <a16:creationId xmlns:a16="http://schemas.microsoft.com/office/drawing/2014/main" id="{675AAFD9-7395-D899-EFCF-284E8057753E}"/>
                  </a:ext>
                </a:extLst>
              </p:cNvPr>
              <p:cNvSpPr txBox="1">
                <a:spLocks noRot="1" noChangeAspect="1" noMove="1" noResize="1" noEditPoints="1" noAdjustHandles="1" noChangeArrowheads="1" noChangeShapeType="1" noTextEdit="1"/>
              </p:cNvSpPr>
              <p:nvPr/>
            </p:nvSpPr>
            <p:spPr>
              <a:xfrm>
                <a:off x="2744430" y="2887543"/>
                <a:ext cx="1115736" cy="461665"/>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B62764D3-92D6-69C6-81BD-73EF11B7573D}"/>
                  </a:ext>
                </a:extLst>
              </p:cNvPr>
              <p:cNvSpPr txBox="1"/>
              <p:nvPr/>
            </p:nvSpPr>
            <p:spPr>
              <a:xfrm>
                <a:off x="915630" y="1583151"/>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pk</m:t>
                          </m:r>
                        </m:e>
                        <m:sub>
                          <m:r>
                            <a:rPr kumimoji="1" lang="en-US" altLang="ja-JP" sz="2400" b="0" i="1" smtClean="0">
                              <a:latin typeface="Cambria Math" panose="02040503050406030204" pitchFamily="18" charset="0"/>
                            </a:rPr>
                            <m:t>1</m:t>
                          </m:r>
                        </m:sub>
                      </m:sSub>
                    </m:oMath>
                  </m:oMathPara>
                </a14:m>
                <a:endParaRPr kumimoji="1" lang="ja-JP" altLang="en-US" sz="2400"/>
              </a:p>
            </p:txBody>
          </p:sp>
        </mc:Choice>
        <mc:Fallback xmlns="">
          <p:sp>
            <p:nvSpPr>
              <p:cNvPr id="7" name="テキスト ボックス 6">
                <a:extLst>
                  <a:ext uri="{FF2B5EF4-FFF2-40B4-BE49-F238E27FC236}">
                    <a16:creationId xmlns:a16="http://schemas.microsoft.com/office/drawing/2014/main" id="{B62764D3-92D6-69C6-81BD-73EF11B7573D}"/>
                  </a:ext>
                </a:extLst>
              </p:cNvPr>
              <p:cNvSpPr txBox="1">
                <a:spLocks noRot="1" noChangeAspect="1" noMove="1" noResize="1" noEditPoints="1" noAdjustHandles="1" noChangeArrowheads="1" noChangeShapeType="1" noTextEdit="1"/>
              </p:cNvSpPr>
              <p:nvPr/>
            </p:nvSpPr>
            <p:spPr>
              <a:xfrm>
                <a:off x="915630" y="1583151"/>
                <a:ext cx="1115736" cy="461665"/>
              </a:xfrm>
              <a:prstGeom prst="rect">
                <a:avLst/>
              </a:prstGeom>
              <a:blipFill>
                <a:blip r:embed="rId5"/>
                <a:stretch>
                  <a:fillRect b="-9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ACDD62CE-515F-D688-D01C-C5A02E9EAC20}"/>
                  </a:ext>
                </a:extLst>
              </p:cNvPr>
              <p:cNvSpPr txBox="1"/>
              <p:nvPr/>
            </p:nvSpPr>
            <p:spPr>
              <a:xfrm>
                <a:off x="3147102" y="1583150"/>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pk</m:t>
                          </m:r>
                        </m:e>
                        <m:sub>
                          <m:r>
                            <a:rPr kumimoji="1" lang="en-US" altLang="ja-JP" sz="2400" b="0" i="1" smtClean="0">
                              <a:latin typeface="Cambria Math" panose="02040503050406030204" pitchFamily="18" charset="0"/>
                            </a:rPr>
                            <m:t>3</m:t>
                          </m:r>
                        </m:sub>
                      </m:sSub>
                    </m:oMath>
                  </m:oMathPara>
                </a14:m>
                <a:endParaRPr kumimoji="1" lang="ja-JP" altLang="en-US" sz="2400"/>
              </a:p>
            </p:txBody>
          </p:sp>
        </mc:Choice>
        <mc:Fallback xmlns="">
          <p:sp>
            <p:nvSpPr>
              <p:cNvPr id="8" name="テキスト ボックス 7">
                <a:extLst>
                  <a:ext uri="{FF2B5EF4-FFF2-40B4-BE49-F238E27FC236}">
                    <a16:creationId xmlns:a16="http://schemas.microsoft.com/office/drawing/2014/main" id="{ACDD62CE-515F-D688-D01C-C5A02E9EAC20}"/>
                  </a:ext>
                </a:extLst>
              </p:cNvPr>
              <p:cNvSpPr txBox="1">
                <a:spLocks noRot="1" noChangeAspect="1" noMove="1" noResize="1" noEditPoints="1" noAdjustHandles="1" noChangeArrowheads="1" noChangeShapeType="1" noTextEdit="1"/>
              </p:cNvSpPr>
              <p:nvPr/>
            </p:nvSpPr>
            <p:spPr>
              <a:xfrm>
                <a:off x="3147102" y="1583150"/>
                <a:ext cx="1115736" cy="461665"/>
              </a:xfrm>
              <a:prstGeom prst="rect">
                <a:avLst/>
              </a:prstGeom>
              <a:blipFill>
                <a:blip r:embed="rId6"/>
                <a:stretch>
                  <a:fillRect b="-9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EDFE7F14-9402-5032-0694-49C8C0C92549}"/>
                  </a:ext>
                </a:extLst>
              </p:cNvPr>
              <p:cNvSpPr txBox="1"/>
              <p:nvPr/>
            </p:nvSpPr>
            <p:spPr>
              <a:xfrm>
                <a:off x="2031366" y="1583151"/>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pk</m:t>
                          </m:r>
                        </m:e>
                        <m:sub>
                          <m:r>
                            <a:rPr kumimoji="1" lang="en-US" altLang="ja-JP" sz="2400" b="0" i="1" smtClean="0">
                              <a:latin typeface="Cambria Math" panose="02040503050406030204" pitchFamily="18" charset="0"/>
                            </a:rPr>
                            <m:t>2</m:t>
                          </m:r>
                        </m:sub>
                      </m:sSub>
                    </m:oMath>
                  </m:oMathPara>
                </a14:m>
                <a:endParaRPr kumimoji="1" lang="ja-JP" altLang="en-US" sz="2400"/>
              </a:p>
            </p:txBody>
          </p:sp>
        </mc:Choice>
        <mc:Fallback xmlns="">
          <p:sp>
            <p:nvSpPr>
              <p:cNvPr id="9" name="テキスト ボックス 8">
                <a:extLst>
                  <a:ext uri="{FF2B5EF4-FFF2-40B4-BE49-F238E27FC236}">
                    <a16:creationId xmlns:a16="http://schemas.microsoft.com/office/drawing/2014/main" id="{EDFE7F14-9402-5032-0694-49C8C0C92549}"/>
                  </a:ext>
                </a:extLst>
              </p:cNvPr>
              <p:cNvSpPr txBox="1">
                <a:spLocks noRot="1" noChangeAspect="1" noMove="1" noResize="1" noEditPoints="1" noAdjustHandles="1" noChangeArrowheads="1" noChangeShapeType="1" noTextEdit="1"/>
              </p:cNvSpPr>
              <p:nvPr/>
            </p:nvSpPr>
            <p:spPr>
              <a:xfrm>
                <a:off x="2031366" y="1583151"/>
                <a:ext cx="1115736" cy="461665"/>
              </a:xfrm>
              <a:prstGeom prst="rect">
                <a:avLst/>
              </a:prstGeom>
              <a:blipFill>
                <a:blip r:embed="rId7"/>
                <a:stretch>
                  <a:fillRect b="-9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8885E794-282A-DD73-EBAA-FFF93526EA9A}"/>
                  </a:ext>
                </a:extLst>
              </p:cNvPr>
              <p:cNvSpPr txBox="1"/>
              <p:nvPr/>
            </p:nvSpPr>
            <p:spPr>
              <a:xfrm>
                <a:off x="3860166" y="2887543"/>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sk</m:t>
                          </m:r>
                        </m:e>
                        <m:sub>
                          <m:r>
                            <a:rPr kumimoji="1" lang="en-US" altLang="ja-JP" sz="2400" b="0" i="1" smtClean="0">
                              <a:latin typeface="Cambria Math" panose="02040503050406030204" pitchFamily="18" charset="0"/>
                            </a:rPr>
                            <m:t>4</m:t>
                          </m:r>
                        </m:sub>
                      </m:sSub>
                    </m:oMath>
                  </m:oMathPara>
                </a14:m>
                <a:endParaRPr kumimoji="1" lang="ja-JP" altLang="en-US" sz="2400"/>
              </a:p>
            </p:txBody>
          </p:sp>
        </mc:Choice>
        <mc:Fallback xmlns="">
          <p:sp>
            <p:nvSpPr>
              <p:cNvPr id="10" name="テキスト ボックス 9">
                <a:extLst>
                  <a:ext uri="{FF2B5EF4-FFF2-40B4-BE49-F238E27FC236}">
                    <a16:creationId xmlns:a16="http://schemas.microsoft.com/office/drawing/2014/main" id="{8885E794-282A-DD73-EBAA-FFF93526EA9A}"/>
                  </a:ext>
                </a:extLst>
              </p:cNvPr>
              <p:cNvSpPr txBox="1">
                <a:spLocks noRot="1" noChangeAspect="1" noMove="1" noResize="1" noEditPoints="1" noAdjustHandles="1" noChangeArrowheads="1" noChangeShapeType="1" noTextEdit="1"/>
              </p:cNvSpPr>
              <p:nvPr/>
            </p:nvSpPr>
            <p:spPr>
              <a:xfrm>
                <a:off x="3860166" y="2887543"/>
                <a:ext cx="1115736" cy="461665"/>
              </a:xfrm>
              <a:prstGeom prst="rect">
                <a:avLst/>
              </a:prstGeom>
              <a:blipFill>
                <a:blip r:embed="rId8"/>
                <a:stretch>
                  <a:fillRect/>
                </a:stretch>
              </a:blipFill>
            </p:spPr>
            <p:txBody>
              <a:bodyPr/>
              <a:lstStyle/>
              <a:p>
                <a:r>
                  <a:rPr lang="ja-JP" altLang="en-US">
                    <a:noFill/>
                  </a:rPr>
                  <a:t> </a:t>
                </a:r>
              </a:p>
            </p:txBody>
          </p:sp>
        </mc:Fallback>
      </mc:AlternateContent>
      <p:cxnSp>
        <p:nvCxnSpPr>
          <p:cNvPr id="12" name="直線矢印コネクタ 11">
            <a:extLst>
              <a:ext uri="{FF2B5EF4-FFF2-40B4-BE49-F238E27FC236}">
                <a16:creationId xmlns:a16="http://schemas.microsoft.com/office/drawing/2014/main" id="{949C96AE-63E2-9DD5-22EB-0DE4430EAA46}"/>
              </a:ext>
            </a:extLst>
          </p:cNvPr>
          <p:cNvCxnSpPr/>
          <p:nvPr/>
        </p:nvCxnSpPr>
        <p:spPr>
          <a:xfrm flipV="1">
            <a:off x="1070826" y="2172748"/>
            <a:ext cx="296580" cy="5956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直線矢印コネクタ 12">
            <a:extLst>
              <a:ext uri="{FF2B5EF4-FFF2-40B4-BE49-F238E27FC236}">
                <a16:creationId xmlns:a16="http://schemas.microsoft.com/office/drawing/2014/main" id="{1DE6F33F-E065-E99B-45BF-723D7FBAC021}"/>
              </a:ext>
            </a:extLst>
          </p:cNvPr>
          <p:cNvCxnSpPr>
            <a:cxnSpLocks/>
          </p:cNvCxnSpPr>
          <p:nvPr/>
        </p:nvCxnSpPr>
        <p:spPr>
          <a:xfrm flipH="1" flipV="1">
            <a:off x="1628694" y="2205972"/>
            <a:ext cx="292385" cy="5623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C97966EB-8932-696C-9949-D534C8695A76}"/>
              </a:ext>
            </a:extLst>
          </p:cNvPr>
          <p:cNvCxnSpPr/>
          <p:nvPr/>
        </p:nvCxnSpPr>
        <p:spPr>
          <a:xfrm flipV="1">
            <a:off x="2182367" y="2172748"/>
            <a:ext cx="296580" cy="5956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直線矢印コネクタ 16">
            <a:extLst>
              <a:ext uri="{FF2B5EF4-FFF2-40B4-BE49-F238E27FC236}">
                <a16:creationId xmlns:a16="http://schemas.microsoft.com/office/drawing/2014/main" id="{7BEE6F49-8FFB-9DF5-1FE5-4472E218C2D3}"/>
              </a:ext>
            </a:extLst>
          </p:cNvPr>
          <p:cNvCxnSpPr>
            <a:cxnSpLocks/>
          </p:cNvCxnSpPr>
          <p:nvPr/>
        </p:nvCxnSpPr>
        <p:spPr>
          <a:xfrm flipH="1" flipV="1">
            <a:off x="2769597" y="2172748"/>
            <a:ext cx="292385" cy="5623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直線矢印コネクタ 17">
            <a:extLst>
              <a:ext uri="{FF2B5EF4-FFF2-40B4-BE49-F238E27FC236}">
                <a16:creationId xmlns:a16="http://schemas.microsoft.com/office/drawing/2014/main" id="{303AF598-5293-F643-FBCD-CA40C16A9942}"/>
              </a:ext>
            </a:extLst>
          </p:cNvPr>
          <p:cNvCxnSpPr/>
          <p:nvPr/>
        </p:nvCxnSpPr>
        <p:spPr>
          <a:xfrm flipV="1">
            <a:off x="3323271" y="2139524"/>
            <a:ext cx="296580" cy="5956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92340316-1A8E-EA05-7A4F-B976B930F6F5}"/>
              </a:ext>
            </a:extLst>
          </p:cNvPr>
          <p:cNvCxnSpPr>
            <a:cxnSpLocks/>
          </p:cNvCxnSpPr>
          <p:nvPr/>
        </p:nvCxnSpPr>
        <p:spPr>
          <a:xfrm flipH="1" flipV="1">
            <a:off x="3938127" y="2189359"/>
            <a:ext cx="292385" cy="5623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テキスト ボックス 36">
            <a:extLst>
              <a:ext uri="{FF2B5EF4-FFF2-40B4-BE49-F238E27FC236}">
                <a16:creationId xmlns:a16="http://schemas.microsoft.com/office/drawing/2014/main" id="{ABCF72E6-89C9-ED56-3876-EB115271A1D0}"/>
              </a:ext>
            </a:extLst>
          </p:cNvPr>
          <p:cNvSpPr txBox="1"/>
          <p:nvPr/>
        </p:nvSpPr>
        <p:spPr>
          <a:xfrm>
            <a:off x="180000" y="180000"/>
            <a:ext cx="5558070" cy="584775"/>
          </a:xfrm>
          <a:prstGeom prst="rect">
            <a:avLst/>
          </a:prstGeom>
          <a:noFill/>
        </p:spPr>
        <p:txBody>
          <a:bodyPr wrap="square" rtlCol="0">
            <a:spAutoFit/>
          </a:bodyPr>
          <a:lstStyle/>
          <a:p>
            <a:r>
              <a:rPr lang="ja-JP" altLang="en-US" sz="3200" b="1">
                <a:solidFill>
                  <a:schemeClr val="accent4">
                    <a:lumMod val="75000"/>
                  </a:schemeClr>
                </a:solidFill>
              </a:rPr>
              <a:t>メモ</a:t>
            </a:r>
            <a:endParaRPr lang="en-US" altLang="ja-JP" sz="3200" b="1" dirty="0">
              <a:solidFill>
                <a:schemeClr val="accent4">
                  <a:lumMod val="75000"/>
                </a:schemeClr>
              </a:solidFill>
            </a:endParaRPr>
          </a:p>
        </p:txBody>
      </p:sp>
      <p:sp>
        <p:nvSpPr>
          <p:cNvPr id="38" name="テキスト ボックス 37">
            <a:extLst>
              <a:ext uri="{FF2B5EF4-FFF2-40B4-BE49-F238E27FC236}">
                <a16:creationId xmlns:a16="http://schemas.microsoft.com/office/drawing/2014/main" id="{6572F6D8-A381-E721-30DA-953D3DF146AA}"/>
              </a:ext>
            </a:extLst>
          </p:cNvPr>
          <p:cNvSpPr txBox="1"/>
          <p:nvPr/>
        </p:nvSpPr>
        <p:spPr>
          <a:xfrm>
            <a:off x="180000" y="1024366"/>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公開鍵の連鎖</a:t>
            </a:r>
            <a:endParaRPr kumimoji="1" lang="ja-JP" altLang="en-US" sz="2000" b="1" dirty="0"/>
          </a:p>
        </p:txBody>
      </p:sp>
      <p:sp>
        <p:nvSpPr>
          <p:cNvPr id="54" name="テキスト ボックス 53">
            <a:extLst>
              <a:ext uri="{FF2B5EF4-FFF2-40B4-BE49-F238E27FC236}">
                <a16:creationId xmlns:a16="http://schemas.microsoft.com/office/drawing/2014/main" id="{44ABEC56-77CD-C708-576B-C2DDB04D26FA}"/>
              </a:ext>
            </a:extLst>
          </p:cNvPr>
          <p:cNvSpPr txBox="1"/>
          <p:nvPr/>
        </p:nvSpPr>
        <p:spPr>
          <a:xfrm>
            <a:off x="5689692" y="2270770"/>
            <a:ext cx="4319941" cy="646331"/>
          </a:xfrm>
          <a:prstGeom prst="rect">
            <a:avLst/>
          </a:prstGeom>
          <a:noFill/>
        </p:spPr>
        <p:txBody>
          <a:bodyPr wrap="square" rtlCol="0">
            <a:spAutoFit/>
          </a:bodyPr>
          <a:lstStyle/>
          <a:p>
            <a:r>
              <a:rPr lang="ja-JP" altLang="en-US"/>
              <a:t>← </a:t>
            </a:r>
            <a:r>
              <a:rPr kumimoji="1" lang="ja-JP" altLang="en-US"/>
              <a:t>これ何かに応用できないかな</a:t>
            </a:r>
            <a:r>
              <a:rPr kumimoji="1" lang="en-US" altLang="ja-JP"/>
              <a:t>?</a:t>
            </a:r>
          </a:p>
          <a:p>
            <a:r>
              <a:rPr lang="ja-JP" altLang="en-US"/>
              <a:t>ブロックチェーンとか</a:t>
            </a:r>
            <a:r>
              <a:rPr lang="en-US" altLang="ja-JP"/>
              <a:t>? (</a:t>
            </a:r>
            <a:r>
              <a:rPr lang="ja-JP" altLang="en-US"/>
              <a:t>よく知らない</a:t>
            </a:r>
            <a:r>
              <a:rPr lang="en-US" altLang="ja-JP"/>
              <a:t>)</a:t>
            </a:r>
            <a:endParaRPr kumimoji="1" lang="en-US" altLang="ja-JP"/>
          </a:p>
        </p:txBody>
      </p:sp>
      <p:sp>
        <p:nvSpPr>
          <p:cNvPr id="3" name="テキスト ボックス 2">
            <a:extLst>
              <a:ext uri="{FF2B5EF4-FFF2-40B4-BE49-F238E27FC236}">
                <a16:creationId xmlns:a16="http://schemas.microsoft.com/office/drawing/2014/main" id="{EC9B05C4-3902-C827-A228-E7E64EDBAE80}"/>
              </a:ext>
            </a:extLst>
          </p:cNvPr>
          <p:cNvSpPr txBox="1"/>
          <p:nvPr/>
        </p:nvSpPr>
        <p:spPr>
          <a:xfrm>
            <a:off x="180000" y="3831324"/>
            <a:ext cx="5558070" cy="400110"/>
          </a:xfrm>
          <a:prstGeom prst="rect">
            <a:avLst/>
          </a:prstGeom>
          <a:noFill/>
        </p:spPr>
        <p:txBody>
          <a:bodyPr wrap="square" rtlCol="0">
            <a:spAutoFit/>
          </a:bodyPr>
          <a:lstStyle/>
          <a:p>
            <a:r>
              <a:rPr kumimoji="1" lang="ja-JP" altLang="en-US" sz="2000">
                <a:solidFill>
                  <a:schemeClr val="accent4">
                    <a:lumMod val="75000"/>
                  </a:schemeClr>
                </a:solidFill>
              </a:rPr>
              <a:t>▍</a:t>
            </a:r>
            <a:r>
              <a:rPr lang="ja-JP" altLang="en-US" sz="2000" b="1"/>
              <a:t>権限の異なる秘密鍵</a:t>
            </a:r>
            <a:endParaRPr kumimoji="1" lang="ja-JP" altLang="en-US" sz="2000" b="1" dirty="0"/>
          </a:p>
        </p:txBody>
      </p:sp>
      <mc:AlternateContent xmlns:mc="http://schemas.openxmlformats.org/markup-compatibility/2006">
        <mc:Choice xmlns:a14="http://schemas.microsoft.com/office/drawing/2010/main" Requires="a14">
          <p:sp>
            <p:nvSpPr>
              <p:cNvPr id="14" name="テキスト ボックス 13">
                <a:extLst>
                  <a:ext uri="{FF2B5EF4-FFF2-40B4-BE49-F238E27FC236}">
                    <a16:creationId xmlns:a16="http://schemas.microsoft.com/office/drawing/2014/main" id="{0106A4EF-819D-1D62-BFBF-72CAEC43E3CE}"/>
                  </a:ext>
                </a:extLst>
              </p:cNvPr>
              <p:cNvSpPr txBox="1"/>
              <p:nvPr/>
            </p:nvSpPr>
            <p:spPr>
              <a:xfrm>
                <a:off x="2264523" y="4691873"/>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sk</m:t>
                          </m:r>
                        </m:e>
                        <m:sub>
                          <m:r>
                            <a:rPr kumimoji="1" lang="en-US" altLang="ja-JP" sz="2400" b="0" i="1" smtClean="0">
                              <a:latin typeface="Cambria Math" panose="02040503050406030204" pitchFamily="18" charset="0"/>
                            </a:rPr>
                            <m:t>1</m:t>
                          </m:r>
                        </m:sub>
                      </m:sSub>
                    </m:oMath>
                  </m:oMathPara>
                </a14:m>
                <a:endParaRPr kumimoji="1" lang="ja-JP" altLang="en-US" sz="2400"/>
              </a:p>
            </p:txBody>
          </p:sp>
        </mc:Choice>
        <mc:Fallback>
          <p:sp>
            <p:nvSpPr>
              <p:cNvPr id="14" name="テキスト ボックス 13">
                <a:extLst>
                  <a:ext uri="{FF2B5EF4-FFF2-40B4-BE49-F238E27FC236}">
                    <a16:creationId xmlns:a16="http://schemas.microsoft.com/office/drawing/2014/main" id="{0106A4EF-819D-1D62-BFBF-72CAEC43E3CE}"/>
                  </a:ext>
                </a:extLst>
              </p:cNvPr>
              <p:cNvSpPr txBox="1">
                <a:spLocks noRot="1" noChangeAspect="1" noMove="1" noResize="1" noEditPoints="1" noAdjustHandles="1" noChangeArrowheads="1" noChangeShapeType="1" noTextEdit="1"/>
              </p:cNvSpPr>
              <p:nvPr/>
            </p:nvSpPr>
            <p:spPr>
              <a:xfrm>
                <a:off x="2264523" y="4691873"/>
                <a:ext cx="1115736" cy="461665"/>
              </a:xfrm>
              <a:prstGeom prst="rect">
                <a:avLst/>
              </a:prstGeom>
              <a:blipFill>
                <a:blip r:embed="rId9"/>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5" name="テキスト ボックス 14">
                <a:extLst>
                  <a:ext uri="{FF2B5EF4-FFF2-40B4-BE49-F238E27FC236}">
                    <a16:creationId xmlns:a16="http://schemas.microsoft.com/office/drawing/2014/main" id="{143C828C-6FF3-5DE9-5884-A95820930AF6}"/>
                  </a:ext>
                </a:extLst>
              </p:cNvPr>
              <p:cNvSpPr txBox="1"/>
              <p:nvPr/>
            </p:nvSpPr>
            <p:spPr>
              <a:xfrm>
                <a:off x="2264523" y="5716961"/>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sk</m:t>
                          </m:r>
                        </m:e>
                        <m:sub>
                          <m:r>
                            <a:rPr kumimoji="1" lang="en-US" altLang="ja-JP" sz="2400" b="0" i="1" smtClean="0">
                              <a:latin typeface="Cambria Math" panose="02040503050406030204" pitchFamily="18" charset="0"/>
                            </a:rPr>
                            <m:t>2</m:t>
                          </m:r>
                        </m:sub>
                      </m:sSub>
                    </m:oMath>
                  </m:oMathPara>
                </a14:m>
                <a:endParaRPr kumimoji="1" lang="ja-JP" altLang="en-US" sz="2400"/>
              </a:p>
            </p:txBody>
          </p:sp>
        </mc:Choice>
        <mc:Fallback>
          <p:sp>
            <p:nvSpPr>
              <p:cNvPr id="15" name="テキスト ボックス 14">
                <a:extLst>
                  <a:ext uri="{FF2B5EF4-FFF2-40B4-BE49-F238E27FC236}">
                    <a16:creationId xmlns:a16="http://schemas.microsoft.com/office/drawing/2014/main" id="{143C828C-6FF3-5DE9-5884-A95820930AF6}"/>
                  </a:ext>
                </a:extLst>
              </p:cNvPr>
              <p:cNvSpPr txBox="1">
                <a:spLocks noRot="1" noChangeAspect="1" noMove="1" noResize="1" noEditPoints="1" noAdjustHandles="1" noChangeArrowheads="1" noChangeShapeType="1" noTextEdit="1"/>
              </p:cNvSpPr>
              <p:nvPr/>
            </p:nvSpPr>
            <p:spPr>
              <a:xfrm>
                <a:off x="2264523" y="5716961"/>
                <a:ext cx="1115736" cy="461665"/>
              </a:xfrm>
              <a:prstGeom prst="rect">
                <a:avLst/>
              </a:prstGeom>
              <a:blipFill>
                <a:blip r:embed="rId10"/>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6" name="テキスト ボックス 25">
                <a:extLst>
                  <a:ext uri="{FF2B5EF4-FFF2-40B4-BE49-F238E27FC236}">
                    <a16:creationId xmlns:a16="http://schemas.microsoft.com/office/drawing/2014/main" id="{BE60D01D-B8B7-9383-670B-27AB07E1CF2F}"/>
                  </a:ext>
                </a:extLst>
              </p:cNvPr>
              <p:cNvSpPr txBox="1"/>
              <p:nvPr/>
            </p:nvSpPr>
            <p:spPr>
              <a:xfrm>
                <a:off x="512958" y="5160090"/>
                <a:ext cx="11157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pk</m:t>
                          </m:r>
                        </m:e>
                        <m:sub>
                          <m:r>
                            <a:rPr kumimoji="1" lang="en-US" altLang="ja-JP" sz="2400" b="0" i="1" smtClean="0">
                              <a:latin typeface="Cambria Math" panose="02040503050406030204" pitchFamily="18" charset="0"/>
                            </a:rPr>
                            <m:t>1</m:t>
                          </m:r>
                        </m:sub>
                      </m:sSub>
                    </m:oMath>
                  </m:oMathPara>
                </a14:m>
                <a:endParaRPr kumimoji="1" lang="ja-JP" altLang="en-US" sz="2400"/>
              </a:p>
            </p:txBody>
          </p:sp>
        </mc:Choice>
        <mc:Fallback>
          <p:sp>
            <p:nvSpPr>
              <p:cNvPr id="26" name="テキスト ボックス 25">
                <a:extLst>
                  <a:ext uri="{FF2B5EF4-FFF2-40B4-BE49-F238E27FC236}">
                    <a16:creationId xmlns:a16="http://schemas.microsoft.com/office/drawing/2014/main" id="{BE60D01D-B8B7-9383-670B-27AB07E1CF2F}"/>
                  </a:ext>
                </a:extLst>
              </p:cNvPr>
              <p:cNvSpPr txBox="1">
                <a:spLocks noRot="1" noChangeAspect="1" noMove="1" noResize="1" noEditPoints="1" noAdjustHandles="1" noChangeArrowheads="1" noChangeShapeType="1" noTextEdit="1"/>
              </p:cNvSpPr>
              <p:nvPr/>
            </p:nvSpPr>
            <p:spPr>
              <a:xfrm>
                <a:off x="512958" y="5160090"/>
                <a:ext cx="1115736" cy="461665"/>
              </a:xfrm>
              <a:prstGeom prst="rect">
                <a:avLst/>
              </a:prstGeom>
              <a:blipFill>
                <a:blip r:embed="rId11"/>
                <a:stretch>
                  <a:fillRect b="-15789"/>
                </a:stretch>
              </a:blipFill>
            </p:spPr>
            <p:txBody>
              <a:bodyPr/>
              <a:lstStyle/>
              <a:p>
                <a:r>
                  <a:rPr lang="ja-JP" altLang="en-US">
                    <a:noFill/>
                  </a:rPr>
                  <a:t> </a:t>
                </a:r>
              </a:p>
            </p:txBody>
          </p:sp>
        </mc:Fallback>
      </mc:AlternateContent>
      <p:cxnSp>
        <p:nvCxnSpPr>
          <p:cNvPr id="28" name="直線矢印コネクタ 27">
            <a:extLst>
              <a:ext uri="{FF2B5EF4-FFF2-40B4-BE49-F238E27FC236}">
                <a16:creationId xmlns:a16="http://schemas.microsoft.com/office/drawing/2014/main" id="{B2745961-AE00-7E16-E1E4-D276E66A8340}"/>
              </a:ext>
            </a:extLst>
          </p:cNvPr>
          <p:cNvCxnSpPr>
            <a:cxnSpLocks/>
          </p:cNvCxnSpPr>
          <p:nvPr/>
        </p:nvCxnSpPr>
        <p:spPr>
          <a:xfrm flipH="1" flipV="1">
            <a:off x="1471260" y="5565177"/>
            <a:ext cx="850253" cy="3826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直線矢印コネクタ 28">
            <a:extLst>
              <a:ext uri="{FF2B5EF4-FFF2-40B4-BE49-F238E27FC236}">
                <a16:creationId xmlns:a16="http://schemas.microsoft.com/office/drawing/2014/main" id="{EF2FB820-89C5-4946-A936-9E32C0DBF147}"/>
              </a:ext>
            </a:extLst>
          </p:cNvPr>
          <p:cNvCxnSpPr>
            <a:cxnSpLocks/>
          </p:cNvCxnSpPr>
          <p:nvPr/>
        </p:nvCxnSpPr>
        <p:spPr>
          <a:xfrm flipH="1">
            <a:off x="1471260" y="4959731"/>
            <a:ext cx="850253" cy="3500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4" name="テキスト ボックス 33">
                <a:extLst>
                  <a:ext uri="{FF2B5EF4-FFF2-40B4-BE49-F238E27FC236}">
                    <a16:creationId xmlns:a16="http://schemas.microsoft.com/office/drawing/2014/main" id="{CB025A8F-B58B-BFC4-B90C-5D7DC00F5785}"/>
                  </a:ext>
                </a:extLst>
              </p:cNvPr>
              <p:cNvSpPr txBox="1"/>
              <p:nvPr/>
            </p:nvSpPr>
            <p:spPr>
              <a:xfrm>
                <a:off x="3380259" y="4765403"/>
                <a:ext cx="2528050" cy="369332"/>
              </a:xfrm>
              <a:prstGeom prst="rect">
                <a:avLst/>
              </a:prstGeom>
              <a:noFill/>
            </p:spPr>
            <p:txBody>
              <a:bodyPr wrap="square" rtlCol="0">
                <a:spAutoFit/>
              </a:bodyPr>
              <a:lstStyle/>
              <a:p>
                <a14:m>
                  <m:oMath xmlns:m="http://schemas.openxmlformats.org/officeDocument/2006/math">
                    <m:r>
                      <a:rPr kumimoji="1" lang="en-US" altLang="ja-JP" b="0" i="1" smtClean="0">
                        <a:latin typeface="Cambria Math" panose="02040503050406030204" pitchFamily="18" charset="0"/>
                      </a:rPr>
                      <m:t>𝑜</m:t>
                    </m:r>
                  </m:oMath>
                </a14:m>
                <a:r>
                  <a:rPr kumimoji="1" lang="ja-JP" altLang="en-US"/>
                  <a:t> 次の線形空間</a:t>
                </a:r>
              </a:p>
            </p:txBody>
          </p:sp>
        </mc:Choice>
        <mc:Fallback>
          <p:sp>
            <p:nvSpPr>
              <p:cNvPr id="34" name="テキスト ボックス 33">
                <a:extLst>
                  <a:ext uri="{FF2B5EF4-FFF2-40B4-BE49-F238E27FC236}">
                    <a16:creationId xmlns:a16="http://schemas.microsoft.com/office/drawing/2014/main" id="{CB025A8F-B58B-BFC4-B90C-5D7DC00F5785}"/>
                  </a:ext>
                </a:extLst>
              </p:cNvPr>
              <p:cNvSpPr txBox="1">
                <a:spLocks noRot="1" noChangeAspect="1" noMove="1" noResize="1" noEditPoints="1" noAdjustHandles="1" noChangeArrowheads="1" noChangeShapeType="1" noTextEdit="1"/>
              </p:cNvSpPr>
              <p:nvPr/>
            </p:nvSpPr>
            <p:spPr>
              <a:xfrm>
                <a:off x="3380259" y="4765403"/>
                <a:ext cx="2528050" cy="369332"/>
              </a:xfrm>
              <a:prstGeom prst="rect">
                <a:avLst/>
              </a:prstGeom>
              <a:blipFill>
                <a:blip r:embed="rId12"/>
                <a:stretch>
                  <a:fillRect t="-8333" b="-28333"/>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0" name="テキスト ボックス 39">
                <a:extLst>
                  <a:ext uri="{FF2B5EF4-FFF2-40B4-BE49-F238E27FC236}">
                    <a16:creationId xmlns:a16="http://schemas.microsoft.com/office/drawing/2014/main" id="{08A7C801-400A-0202-EE63-A7BA68457C11}"/>
                  </a:ext>
                </a:extLst>
              </p:cNvPr>
              <p:cNvSpPr txBox="1"/>
              <p:nvPr/>
            </p:nvSpPr>
            <p:spPr>
              <a:xfrm>
                <a:off x="3380258" y="5687507"/>
                <a:ext cx="3171543" cy="923330"/>
              </a:xfrm>
              <a:prstGeom prst="rect">
                <a:avLst/>
              </a:prstGeom>
              <a:noFill/>
            </p:spPr>
            <p:txBody>
              <a:bodyPr wrap="square" rtlCol="0">
                <a:spAutoFit/>
              </a:bodyPr>
              <a:lstStyle/>
              <a:p>
                <a14:m>
                  <m:oMath xmlns:m="http://schemas.openxmlformats.org/officeDocument/2006/math">
                    <m:r>
                      <a:rPr kumimoji="1" lang="en-US" altLang="ja-JP" b="0" i="1" smtClean="0">
                        <a:latin typeface="Cambria Math" panose="02040503050406030204" pitchFamily="18" charset="0"/>
                      </a:rPr>
                      <m:t>𝑜</m:t>
                    </m:r>
                    <m:r>
                      <a:rPr kumimoji="1" lang="en-US" altLang="ja-JP" b="0" i="1" smtClean="0">
                        <a:latin typeface="Cambria Math" panose="02040503050406030204" pitchFamily="18" charset="0"/>
                      </a:rPr>
                      <m:t>′</m:t>
                    </m:r>
                  </m:oMath>
                </a14:m>
                <a:r>
                  <a:rPr kumimoji="1" lang="ja-JP" altLang="en-US"/>
                  <a:t> 次の線形空間</a:t>
                </a:r>
                <a:endParaRPr kumimoji="1" lang="en-US" altLang="ja-JP"/>
              </a:p>
              <a:p>
                <a:r>
                  <a:rPr lang="en-US" altLang="ja-JP"/>
                  <a:t>(</a:t>
                </a:r>
                <a:r>
                  <a:rPr lang="ja-JP" altLang="en-US"/>
                  <a:t>公開鍵のうち任意の </a:t>
                </a:r>
                <a14:m>
                  <m:oMath xmlns:m="http://schemas.openxmlformats.org/officeDocument/2006/math">
                    <m:r>
                      <a:rPr lang="en-US" altLang="ja-JP" b="0" i="1" smtClean="0">
                        <a:latin typeface="Cambria Math" panose="02040503050406030204" pitchFamily="18" charset="0"/>
                      </a:rPr>
                      <m:t>𝑜</m:t>
                    </m:r>
                    <m:r>
                      <a:rPr lang="en-US" altLang="ja-JP" b="0" i="1" smtClean="0">
                        <a:latin typeface="Cambria Math" panose="02040503050406030204" pitchFamily="18" charset="0"/>
                      </a:rPr>
                      <m:t>′</m:t>
                    </m:r>
                  </m:oMath>
                </a14:m>
                <a:r>
                  <a:rPr kumimoji="1" lang="ja-JP" altLang="en-US"/>
                  <a:t> 個の多項式に対して署名できる </a:t>
                </a:r>
                <a:r>
                  <a:rPr kumimoji="1" lang="en-US" altLang="ja-JP"/>
                  <a:t>)</a:t>
                </a:r>
                <a:endParaRPr kumimoji="1" lang="ja-JP" altLang="en-US"/>
              </a:p>
            </p:txBody>
          </p:sp>
        </mc:Choice>
        <mc:Fallback>
          <p:sp>
            <p:nvSpPr>
              <p:cNvPr id="40" name="テキスト ボックス 39">
                <a:extLst>
                  <a:ext uri="{FF2B5EF4-FFF2-40B4-BE49-F238E27FC236}">
                    <a16:creationId xmlns:a16="http://schemas.microsoft.com/office/drawing/2014/main" id="{08A7C801-400A-0202-EE63-A7BA68457C11}"/>
                  </a:ext>
                </a:extLst>
              </p:cNvPr>
              <p:cNvSpPr txBox="1">
                <a:spLocks noRot="1" noChangeAspect="1" noMove="1" noResize="1" noEditPoints="1" noAdjustHandles="1" noChangeArrowheads="1" noChangeShapeType="1" noTextEdit="1"/>
              </p:cNvSpPr>
              <p:nvPr/>
            </p:nvSpPr>
            <p:spPr>
              <a:xfrm>
                <a:off x="3380258" y="5687507"/>
                <a:ext cx="3171543" cy="923330"/>
              </a:xfrm>
              <a:prstGeom prst="rect">
                <a:avLst/>
              </a:prstGeom>
              <a:blipFill>
                <a:blip r:embed="rId13"/>
                <a:stretch>
                  <a:fillRect l="-1731" t="-3311" b="-9934"/>
                </a:stretch>
              </a:blipFill>
            </p:spPr>
            <p:txBody>
              <a:bodyPr/>
              <a:lstStyle/>
              <a:p>
                <a:r>
                  <a:rPr lang="ja-JP" altLang="en-US">
                    <a:noFill/>
                  </a:rPr>
                  <a:t> </a:t>
                </a:r>
              </a:p>
            </p:txBody>
          </p:sp>
        </mc:Fallback>
      </mc:AlternateContent>
      <p:sp>
        <p:nvSpPr>
          <p:cNvPr id="41" name="テキスト ボックス 40">
            <a:extLst>
              <a:ext uri="{FF2B5EF4-FFF2-40B4-BE49-F238E27FC236}">
                <a16:creationId xmlns:a16="http://schemas.microsoft.com/office/drawing/2014/main" id="{13E27020-BBC0-3C3E-BA24-C67BFF49C804}"/>
              </a:ext>
            </a:extLst>
          </p:cNvPr>
          <p:cNvSpPr txBox="1"/>
          <p:nvPr/>
        </p:nvSpPr>
        <p:spPr>
          <a:xfrm>
            <a:off x="6967055" y="4587230"/>
            <a:ext cx="4861421" cy="1754326"/>
          </a:xfrm>
          <a:prstGeom prst="rect">
            <a:avLst/>
          </a:prstGeom>
          <a:noFill/>
        </p:spPr>
        <p:txBody>
          <a:bodyPr wrap="square" rtlCol="0">
            <a:spAutoFit/>
          </a:bodyPr>
          <a:lstStyle/>
          <a:p>
            <a:r>
              <a:rPr kumimoji="1" lang="en-US" altLang="ja-JP"/>
              <a:t>MZ-UOV</a:t>
            </a:r>
            <a:r>
              <a:rPr lang="ja-JP" altLang="en-US"/>
              <a:t>の公開鍵に</a:t>
            </a:r>
            <a:r>
              <a:rPr kumimoji="1" lang="ja-JP" altLang="en-US"/>
              <a:t>埋め込む線形空間の次元は一定である必要はない</a:t>
            </a:r>
            <a:r>
              <a:rPr kumimoji="1" lang="en-US" altLang="ja-JP"/>
              <a:t>. </a:t>
            </a:r>
            <a:r>
              <a:rPr kumimoji="1" lang="ja-JP" altLang="en-US"/>
              <a:t>これによって権限の異なる秘密鍵を発行できる</a:t>
            </a:r>
            <a:r>
              <a:rPr kumimoji="1" lang="en-US" altLang="ja-JP"/>
              <a:t>. </a:t>
            </a:r>
            <a:r>
              <a:rPr kumimoji="1" lang="ja-JP" altLang="en-US"/>
              <a:t>権限の違いは検証の際に確認できる</a:t>
            </a:r>
            <a:r>
              <a:rPr kumimoji="1" lang="en-US" altLang="ja-JP"/>
              <a:t>. (</a:t>
            </a:r>
            <a:r>
              <a:rPr kumimoji="1" lang="ja-JP" altLang="en-US"/>
              <a:t>低い確率で弱い権限の署名が強い権限の署名のように</a:t>
            </a:r>
            <a:r>
              <a:rPr lang="ja-JP" altLang="en-US"/>
              <a:t>見えてしまう</a:t>
            </a:r>
            <a:r>
              <a:rPr lang="en-US" altLang="ja-JP"/>
              <a:t>. </a:t>
            </a:r>
            <a:r>
              <a:rPr lang="ja-JP" altLang="en-US"/>
              <a:t>なのであまり意味ないかも</a:t>
            </a:r>
            <a:r>
              <a:rPr kumimoji="1" lang="en-US" altLang="ja-JP"/>
              <a:t>)</a:t>
            </a:r>
            <a:endParaRPr kumimoji="1" lang="ja-JP" altLang="en-US"/>
          </a:p>
        </p:txBody>
      </p:sp>
    </p:spTree>
    <p:extLst>
      <p:ext uri="{BB962C8B-B14F-4D97-AF65-F5344CB8AC3E}">
        <p14:creationId xmlns:p14="http://schemas.microsoft.com/office/powerpoint/2010/main" val="286695407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1685</TotalTime>
  <Words>2026</Words>
  <Application>Microsoft Office PowerPoint</Application>
  <PresentationFormat>ワイド画面</PresentationFormat>
  <Paragraphs>223</Paragraphs>
  <Slides>19</Slides>
  <Notes>3</Notes>
  <HiddenSlides>2</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19</vt:i4>
      </vt:variant>
    </vt:vector>
  </HeadingPairs>
  <TitlesOfParts>
    <vt:vector size="25" baseType="lpstr">
      <vt:lpstr>游ゴシック</vt:lpstr>
      <vt:lpstr>游ゴシック Light</vt:lpstr>
      <vt:lpstr>Arial</vt:lpstr>
      <vt:lpstr>Cambria Math</vt:lpstr>
      <vt:lpstr>Consolas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Rosmarinus Salvia</dc:creator>
  <cp:lastModifiedBy>Rosmarinus Salvia</cp:lastModifiedBy>
  <cp:revision>448</cp:revision>
  <dcterms:created xsi:type="dcterms:W3CDTF">2026-01-29T00:25:28Z</dcterms:created>
  <dcterms:modified xsi:type="dcterms:W3CDTF">2026-02-26T01:53:08Z</dcterms:modified>
</cp:coreProperties>
</file>